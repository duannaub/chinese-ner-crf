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1.svg" ContentType="image/svg+xml"/>
  <Override PartName="/ppt/media/image15.svg" ContentType="image/svg+xml"/>
  <Override PartName="/ppt/media/image16.svg" ContentType="image/svg+xml"/>
  <Override PartName="/ppt/media/image17.svg" ContentType="image/svg+xml"/>
  <Override PartName="/ppt/media/image20.svg" ContentType="image/svg+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32"/>
  </p:handoutMasterIdLst>
  <p:sldIdLst>
    <p:sldId id="409" r:id="rId3"/>
    <p:sldId id="410" r:id="rId4"/>
    <p:sldId id="411" r:id="rId5"/>
    <p:sldId id="421" r:id="rId6"/>
    <p:sldId id="471" r:id="rId7"/>
    <p:sldId id="470" r:id="rId8"/>
    <p:sldId id="412" r:id="rId10"/>
    <p:sldId id="425" r:id="rId11"/>
    <p:sldId id="475" r:id="rId12"/>
    <p:sldId id="445" r:id="rId13"/>
    <p:sldId id="420" r:id="rId14"/>
    <p:sldId id="461" r:id="rId15"/>
    <p:sldId id="413" r:id="rId16"/>
    <p:sldId id="422" r:id="rId17"/>
    <p:sldId id="436" r:id="rId18"/>
    <p:sldId id="443" r:id="rId19"/>
    <p:sldId id="419" r:id="rId20"/>
    <p:sldId id="418" r:id="rId21"/>
    <p:sldId id="451" r:id="rId22"/>
    <p:sldId id="452" r:id="rId23"/>
    <p:sldId id="453" r:id="rId24"/>
    <p:sldId id="454" r:id="rId25"/>
    <p:sldId id="423" r:id="rId26"/>
    <p:sldId id="455" r:id="rId27"/>
    <p:sldId id="456" r:id="rId28"/>
    <p:sldId id="417" r:id="rId29"/>
    <p:sldId id="458" r:id="rId30"/>
    <p:sldId id="427" r:id="rId31"/>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9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1BD59"/>
    <a:srgbClr val="F4CF80"/>
    <a:srgbClr val="E9D95A"/>
    <a:srgbClr val="AC996D"/>
    <a:srgbClr val="85746A"/>
    <a:srgbClr val="A8B3A2"/>
    <a:srgbClr val="00642A"/>
    <a:srgbClr val="007E38"/>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0" d="100"/>
          <a:sy n="80" d="100"/>
        </p:scale>
        <p:origin x="462" y="90"/>
      </p:cViewPr>
      <p:guideLst>
        <p:guide orient="horz" pos="2160"/>
        <p:guide pos="391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gs" Target="tags/tag206.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宋体" panose="02020700000000000000" charset="-122"/>
              <a:ea typeface="思源宋体" panose="02020700000000000000" charset="-122"/>
              <a:cs typeface="思源宋体" panose="020207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思源宋体" panose="02020700000000000000" charset="-122"/>
              </a:rPr>
            </a:fld>
            <a:endParaRPr lang="zh-CN" altLang="en-US">
              <a:cs typeface="思源宋体" panose="020207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宋体" panose="02020700000000000000" charset="-122"/>
              <a:ea typeface="思源宋体" panose="02020700000000000000" charset="-122"/>
              <a:cs typeface="思源宋体" panose="020207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思源宋体" panose="02020700000000000000" charset="-122"/>
              </a:rPr>
            </a:fld>
            <a:endParaRPr lang="zh-CN" altLang="en-US">
              <a:cs typeface="思源宋体" panose="020207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宋体" panose="02020700000000000000" charset="-122"/>
                <a:ea typeface="思源宋体" panose="02020700000000000000" charset="-122"/>
                <a:cs typeface="思源宋体" panose="020207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宋体" panose="02020700000000000000" charset="-122"/>
                <a:ea typeface="思源宋体" panose="02020700000000000000" charset="-122"/>
                <a:cs typeface="思源宋体" panose="020207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宋体" panose="02020700000000000000" charset="-122"/>
                <a:ea typeface="思源宋体" panose="02020700000000000000" charset="-122"/>
                <a:cs typeface="思源宋体" panose="020207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宋体" panose="02020700000000000000" charset="-122"/>
                <a:ea typeface="思源宋体" panose="02020700000000000000" charset="-122"/>
                <a:cs typeface="思源宋体" panose="020207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宋体" panose="02020700000000000000" charset="-122"/>
        <a:ea typeface="思源宋体" panose="02020700000000000000" charset="-122"/>
        <a:cs typeface="思源宋体" panose="02020700000000000000" charset="-122"/>
      </a:defRPr>
    </a:lvl1pPr>
    <a:lvl2pPr marL="457200" algn="l" defTabSz="914400" rtl="0" eaLnBrk="1" latinLnBrk="0" hangingPunct="1">
      <a:defRPr sz="1200" kern="1200">
        <a:solidFill>
          <a:schemeClr val="tx1"/>
        </a:solidFill>
        <a:latin typeface="思源宋体" panose="02020700000000000000" charset="-122"/>
        <a:ea typeface="思源宋体" panose="02020700000000000000" charset="-122"/>
        <a:cs typeface="思源宋体" panose="02020700000000000000" charset="-122"/>
      </a:defRPr>
    </a:lvl2pPr>
    <a:lvl3pPr marL="914400" algn="l" defTabSz="914400" rtl="0" eaLnBrk="1" latinLnBrk="0" hangingPunct="1">
      <a:defRPr sz="1200" kern="1200">
        <a:solidFill>
          <a:schemeClr val="tx1"/>
        </a:solidFill>
        <a:latin typeface="思源宋体" panose="02020700000000000000" charset="-122"/>
        <a:ea typeface="思源宋体" panose="02020700000000000000" charset="-122"/>
        <a:cs typeface="思源宋体" panose="02020700000000000000" charset="-122"/>
      </a:defRPr>
    </a:lvl3pPr>
    <a:lvl4pPr marL="1371600" algn="l" defTabSz="914400" rtl="0" eaLnBrk="1" latinLnBrk="0" hangingPunct="1">
      <a:defRPr sz="1200" kern="1200">
        <a:solidFill>
          <a:schemeClr val="tx1"/>
        </a:solidFill>
        <a:latin typeface="思源宋体" panose="02020700000000000000" charset="-122"/>
        <a:ea typeface="思源宋体" panose="02020700000000000000" charset="-122"/>
        <a:cs typeface="思源宋体" panose="02020700000000000000" charset="-122"/>
      </a:defRPr>
    </a:lvl4pPr>
    <a:lvl5pPr marL="1828800" algn="l" defTabSz="914400" rtl="0" eaLnBrk="1" latinLnBrk="0" hangingPunct="1">
      <a:defRPr sz="1200" kern="1200">
        <a:solidFill>
          <a:schemeClr val="tx1"/>
        </a:solidFill>
        <a:latin typeface="思源宋体" panose="02020700000000000000" charset="-122"/>
        <a:ea typeface="思源宋体" panose="02020700000000000000" charset="-122"/>
        <a:cs typeface="思源宋体" panose="020207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链接：https://pan.baidu.com/s/1dBUOykZfGkjoJj8YrmZuTw?pwd=7788 </a:t>
            </a:r>
            <a:endParaRPr lang="zh-CN" altLang="en-US"/>
          </a:p>
          <a:p>
            <a:r>
              <a:rPr lang="zh-CN" altLang="en-US"/>
              <a:t>提取码：7788</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AE046D-5176-4C1C-AD60-7E8589A0FE6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transition advTm="2000">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5722" y="218001"/>
            <a:ext cx="10515600" cy="1055539"/>
          </a:xfrm>
        </p:spPr>
        <p:txBody>
          <a:bodyPr/>
          <a:lstStyle/>
          <a:p>
            <a:r>
              <a:rPr lang="en-US" dirty="0"/>
              <a:t>Click to edit Master title style</a:t>
            </a:r>
            <a:endParaRPr lang="en-US" dirty="0"/>
          </a:p>
        </p:txBody>
      </p:sp>
      <p:sp>
        <p:nvSpPr>
          <p:cNvPr id="3" name="Content Placeholder 2"/>
          <p:cNvSpPr>
            <a:spLocks noGrp="1"/>
          </p:cNvSpPr>
          <p:nvPr>
            <p:ph idx="1"/>
          </p:nvPr>
        </p:nvSpPr>
        <p:spPr>
          <a:xfrm>
            <a:off x="1073020" y="1334477"/>
            <a:ext cx="10045959"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C3FC5DEA-4760-FB47-AC8A-1B9EA2249F60}"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40939E6E-9484-A14D-B674-829EF30D878F}" type="slidenum">
              <a:rPr lang="en-US" smtClean="0"/>
            </a:fld>
            <a:endParaRPr lang="en-US"/>
          </a:p>
        </p:txBody>
      </p:sp>
    </p:spTree>
  </p:cSld>
  <p:clrMapOvr>
    <a:masterClrMapping/>
  </p:clrMapOvr>
  <p:transition advTm="2000">
    <p:wedge/>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ustDataLst>
      <p:tags r:id="rId3"/>
    </p:custDataLst>
  </p:cSld>
  <p:clrMap bg1="lt1" tx1="dk1" bg2="lt2" tx2="dk2" accent1="accent1" accent2="accent2" accent3="accent3" accent4="accent4" accent5="accent5" accent6="accent6" hlink="hlink" folHlink="folHlink"/>
  <p:sldLayoutIdLst>
    <p:sldLayoutId id="2147483649" r:id="rId1"/>
    <p:sldLayoutId id="2147483650" r:id="rId2"/>
  </p:sldLayoutIdLst>
  <p:transition advTm="2000">
    <p:wedge/>
  </p:transition>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image" Target="../media/image8.png"/><Relationship Id="rId16" Type="http://schemas.openxmlformats.org/officeDocument/2006/relationships/slideLayout" Target="../slideLayouts/slideLayout1.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2" Type="http://schemas.openxmlformats.org/officeDocument/2006/relationships/slideLayout" Target="../slideLayouts/slideLayout1.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9.xml"/><Relationship Id="rId19" Type="http://schemas.openxmlformats.org/officeDocument/2006/relationships/tags" Target="../tags/tag31.xml"/><Relationship Id="rId18" Type="http://schemas.openxmlformats.org/officeDocument/2006/relationships/image" Target="../media/image14.png"/><Relationship Id="rId17" Type="http://schemas.openxmlformats.org/officeDocument/2006/relationships/image" Target="../media/image13.png"/><Relationship Id="rId16" Type="http://schemas.openxmlformats.org/officeDocument/2006/relationships/image" Target="../media/image12.png"/><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image" Target="../media/image11.svg"/><Relationship Id="rId11" Type="http://schemas.openxmlformats.org/officeDocument/2006/relationships/image" Target="../media/image10.png"/><Relationship Id="rId10" Type="http://schemas.openxmlformats.org/officeDocument/2006/relationships/tags" Target="../tags/tag27.xml"/><Relationship Id="rId1" Type="http://schemas.openxmlformats.org/officeDocument/2006/relationships/tags" Target="../tags/tag18.xml"/></Relationships>
</file>

<file path=ppt/slides/_rels/slide5.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9" Type="http://schemas.openxmlformats.org/officeDocument/2006/relationships/slideLayout" Target="../slideLayouts/slideLayout1.xml"/><Relationship Id="rId28" Type="http://schemas.openxmlformats.org/officeDocument/2006/relationships/tags" Target="../tags/tag55.xml"/><Relationship Id="rId27" Type="http://schemas.openxmlformats.org/officeDocument/2006/relationships/image" Target="../media/image17.svg"/><Relationship Id="rId26" Type="http://schemas.openxmlformats.org/officeDocument/2006/relationships/image" Target="../media/image12.png"/><Relationship Id="rId25" Type="http://schemas.openxmlformats.org/officeDocument/2006/relationships/tags" Target="../tags/tag54.xml"/><Relationship Id="rId24" Type="http://schemas.openxmlformats.org/officeDocument/2006/relationships/image" Target="../media/image16.svg"/><Relationship Id="rId23" Type="http://schemas.openxmlformats.org/officeDocument/2006/relationships/image" Target="../media/image14.png"/><Relationship Id="rId22" Type="http://schemas.openxmlformats.org/officeDocument/2006/relationships/tags" Target="../tags/tag53.xml"/><Relationship Id="rId21" Type="http://schemas.openxmlformats.org/officeDocument/2006/relationships/image" Target="../media/image15.svg"/><Relationship Id="rId20" Type="http://schemas.openxmlformats.org/officeDocument/2006/relationships/image" Target="../media/image13.png"/><Relationship Id="rId2" Type="http://schemas.openxmlformats.org/officeDocument/2006/relationships/tags" Target="../tags/tag35.xml"/><Relationship Id="rId19" Type="http://schemas.openxmlformats.org/officeDocument/2006/relationships/tags" Target="../tags/tag52.xml"/><Relationship Id="rId18" Type="http://schemas.openxmlformats.org/officeDocument/2006/relationships/tags" Target="../tags/tag51.xml"/><Relationship Id="rId17" Type="http://schemas.openxmlformats.org/officeDocument/2006/relationships/tags" Target="../tags/tag50.xml"/><Relationship Id="rId16" Type="http://schemas.openxmlformats.org/officeDocument/2006/relationships/tags" Target="../tags/tag49.xml"/><Relationship Id="rId15" Type="http://schemas.openxmlformats.org/officeDocument/2006/relationships/tags" Target="../tags/tag48.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image" Target="../media/image18.png"/><Relationship Id="rId12" Type="http://schemas.openxmlformats.org/officeDocument/2006/relationships/slideLayout" Target="../slideLayouts/slideLayout1.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6.xml"/></Relationships>
</file>

<file path=ppt/slides/_rels/slide8.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5" Type="http://schemas.openxmlformats.org/officeDocument/2006/relationships/vmlDrawing" Target="../drawings/vmlDrawing1.vml"/><Relationship Id="rId34" Type="http://schemas.openxmlformats.org/officeDocument/2006/relationships/slideLayout" Target="../slideLayouts/slideLayout1.xml"/><Relationship Id="rId33" Type="http://schemas.openxmlformats.org/officeDocument/2006/relationships/tags" Target="../tags/tag88.xml"/><Relationship Id="rId32" Type="http://schemas.openxmlformats.org/officeDocument/2006/relationships/image" Target="../media/image24.wmf"/><Relationship Id="rId31" Type="http://schemas.openxmlformats.org/officeDocument/2006/relationships/oleObject" Target="../embeddings/oleObject4.bin"/><Relationship Id="rId30" Type="http://schemas.openxmlformats.org/officeDocument/2006/relationships/image" Target="../media/image23.wmf"/><Relationship Id="rId3" Type="http://schemas.openxmlformats.org/officeDocument/2006/relationships/tags" Target="../tags/tag68.xml"/><Relationship Id="rId29" Type="http://schemas.openxmlformats.org/officeDocument/2006/relationships/oleObject" Target="../embeddings/oleObject3.bin"/><Relationship Id="rId28" Type="http://schemas.openxmlformats.org/officeDocument/2006/relationships/image" Target="../media/image22.wmf"/><Relationship Id="rId27" Type="http://schemas.openxmlformats.org/officeDocument/2006/relationships/oleObject" Target="../embeddings/oleObject2.bin"/><Relationship Id="rId26" Type="http://schemas.openxmlformats.org/officeDocument/2006/relationships/image" Target="../media/image21.wmf"/><Relationship Id="rId25" Type="http://schemas.openxmlformats.org/officeDocument/2006/relationships/oleObject" Target="../embeddings/oleObject1.bin"/><Relationship Id="rId24" Type="http://schemas.openxmlformats.org/officeDocument/2006/relationships/image" Target="../media/image20.svg"/><Relationship Id="rId23" Type="http://schemas.openxmlformats.org/officeDocument/2006/relationships/image" Target="../media/image19.png"/><Relationship Id="rId22" Type="http://schemas.openxmlformats.org/officeDocument/2006/relationships/tags" Target="../tags/tag87.xml"/><Relationship Id="rId21" Type="http://schemas.openxmlformats.org/officeDocument/2006/relationships/tags" Target="../tags/tag86.xml"/><Relationship Id="rId20" Type="http://schemas.openxmlformats.org/officeDocument/2006/relationships/tags" Target="../tags/tag85.xml"/><Relationship Id="rId2" Type="http://schemas.openxmlformats.org/officeDocument/2006/relationships/tags" Target="../tags/tag67.xml"/><Relationship Id="rId19" Type="http://schemas.openxmlformats.org/officeDocument/2006/relationships/tags" Target="../tags/tag84.xml"/><Relationship Id="rId18" Type="http://schemas.openxmlformats.org/officeDocument/2006/relationships/tags" Target="../tags/tag83.xml"/><Relationship Id="rId17" Type="http://schemas.openxmlformats.org/officeDocument/2006/relationships/tags" Target="../tags/tag82.xml"/><Relationship Id="rId16" Type="http://schemas.openxmlformats.org/officeDocument/2006/relationships/tags" Target="../tags/tag81.xml"/><Relationship Id="rId15" Type="http://schemas.openxmlformats.org/officeDocument/2006/relationships/tags" Target="../tags/tag80.xml"/><Relationship Id="rId14" Type="http://schemas.openxmlformats.org/officeDocument/2006/relationships/tags" Target="../tags/tag79.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6.xml"/></Relationships>
</file>

<file path=ppt/slides/_rels/slide9.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2" Type="http://schemas.openxmlformats.org/officeDocument/2006/relationships/slideLayout" Target="../slideLayouts/slideLayout1.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8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0.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101.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8" Type="http://schemas.openxmlformats.org/officeDocument/2006/relationships/slideLayout" Target="../slideLayouts/slideLayout1.xml"/><Relationship Id="rId27" Type="http://schemas.openxmlformats.org/officeDocument/2006/relationships/tags" Target="../tags/tag127.xml"/><Relationship Id="rId26" Type="http://schemas.openxmlformats.org/officeDocument/2006/relationships/tags" Target="../tags/tag126.xml"/><Relationship Id="rId25" Type="http://schemas.openxmlformats.org/officeDocument/2006/relationships/tags" Target="../tags/tag125.xml"/><Relationship Id="rId24" Type="http://schemas.openxmlformats.org/officeDocument/2006/relationships/tags" Target="../tags/tag124.xml"/><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image" Target="../media/image26.png"/><Relationship Id="rId19" Type="http://schemas.openxmlformats.org/officeDocument/2006/relationships/tags" Target="../tags/tag119.xml"/><Relationship Id="rId18" Type="http://schemas.openxmlformats.org/officeDocument/2006/relationships/tags" Target="../tags/tag118.xml"/><Relationship Id="rId17" Type="http://schemas.openxmlformats.org/officeDocument/2006/relationships/tags" Target="../tags/tag117.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tags" Target="../tags/tag10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8.xml"/></Relationships>
</file>

<file path=ppt/slides/_rels/slide14.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4" Type="http://schemas.openxmlformats.org/officeDocument/2006/relationships/slideLayout" Target="../slideLayouts/slideLayout1.xml"/><Relationship Id="rId13" Type="http://schemas.openxmlformats.org/officeDocument/2006/relationships/tags" Target="../tags/tag140.xml"/><Relationship Id="rId12" Type="http://schemas.openxmlformats.org/officeDocument/2006/relationships/image" Target="../media/image27.png"/><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tags" Target="../tags/tag12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1.xml"/><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image" Target="../media/image12.png"/><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0" Type="http://schemas.openxmlformats.org/officeDocument/2006/relationships/slideLayout" Target="../slideLayouts/slideLayout1.xml"/><Relationship Id="rId1" Type="http://schemas.openxmlformats.org/officeDocument/2006/relationships/tags" Target="../tags/tag14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0.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9" Type="http://schemas.openxmlformats.org/officeDocument/2006/relationships/tags" Target="../tags/tag159.xml"/><Relationship Id="rId8" Type="http://schemas.openxmlformats.org/officeDocument/2006/relationships/tags" Target="../tags/tag158.xml"/><Relationship Id="rId7" Type="http://schemas.openxmlformats.org/officeDocument/2006/relationships/tags" Target="../tags/tag157.xml"/><Relationship Id="rId6" Type="http://schemas.openxmlformats.org/officeDocument/2006/relationships/tags" Target="../tags/tag156.xml"/><Relationship Id="rId5" Type="http://schemas.openxmlformats.org/officeDocument/2006/relationships/tags" Target="../tags/tag155.xml"/><Relationship Id="rId4" Type="http://schemas.openxmlformats.org/officeDocument/2006/relationships/tags" Target="../tags/tag154.xml"/><Relationship Id="rId3" Type="http://schemas.openxmlformats.org/officeDocument/2006/relationships/tags" Target="../tags/tag153.xml"/><Relationship Id="rId21" Type="http://schemas.openxmlformats.org/officeDocument/2006/relationships/slideLayout" Target="../slideLayouts/slideLayout1.xml"/><Relationship Id="rId20" Type="http://schemas.openxmlformats.org/officeDocument/2006/relationships/tags" Target="../tags/tag169.xml"/><Relationship Id="rId2" Type="http://schemas.openxmlformats.org/officeDocument/2006/relationships/tags" Target="../tags/tag152.xml"/><Relationship Id="rId19" Type="http://schemas.openxmlformats.org/officeDocument/2006/relationships/image" Target="../media/image29.png"/><Relationship Id="rId18" Type="http://schemas.openxmlformats.org/officeDocument/2006/relationships/tags" Target="../tags/tag168.xml"/><Relationship Id="rId17" Type="http://schemas.openxmlformats.org/officeDocument/2006/relationships/tags" Target="../tags/tag167.xml"/><Relationship Id="rId16" Type="http://schemas.openxmlformats.org/officeDocument/2006/relationships/tags" Target="../tags/tag166.xml"/><Relationship Id="rId15" Type="http://schemas.openxmlformats.org/officeDocument/2006/relationships/tags" Target="../tags/tag165.xml"/><Relationship Id="rId14" Type="http://schemas.openxmlformats.org/officeDocument/2006/relationships/tags" Target="../tags/tag164.xml"/><Relationship Id="rId13" Type="http://schemas.openxmlformats.org/officeDocument/2006/relationships/tags" Target="../tags/tag16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image" Target="../media/image30.png"/><Relationship Id="rId19" Type="http://schemas.openxmlformats.org/officeDocument/2006/relationships/vmlDrawing" Target="../drawings/vmlDrawing2.vml"/><Relationship Id="rId18" Type="http://schemas.openxmlformats.org/officeDocument/2006/relationships/slideLayout" Target="../slideLayouts/slideLayout1.xml"/><Relationship Id="rId17" Type="http://schemas.openxmlformats.org/officeDocument/2006/relationships/tags" Target="../tags/tag181.xml"/><Relationship Id="rId16" Type="http://schemas.openxmlformats.org/officeDocument/2006/relationships/image" Target="../media/image32.wmf"/><Relationship Id="rId15" Type="http://schemas.openxmlformats.org/officeDocument/2006/relationships/oleObject" Target="../embeddings/oleObject6.bin"/><Relationship Id="rId14" Type="http://schemas.openxmlformats.org/officeDocument/2006/relationships/tags" Target="../tags/tag180.xml"/><Relationship Id="rId13" Type="http://schemas.openxmlformats.org/officeDocument/2006/relationships/image" Target="../media/image31.wmf"/><Relationship Id="rId12" Type="http://schemas.openxmlformats.org/officeDocument/2006/relationships/oleObject" Target="../embeddings/oleObject5.bin"/><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tags" Target="../tags/tag170.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3" Type="http://schemas.openxmlformats.org/officeDocument/2006/relationships/slideLayout" Target="../slideLayouts/slideLayout1.xml"/><Relationship Id="rId22" Type="http://schemas.openxmlformats.org/officeDocument/2006/relationships/tags" Target="../tags/tag204.xml"/><Relationship Id="rId21" Type="http://schemas.openxmlformats.org/officeDocument/2006/relationships/tags" Target="../tags/tag203.xml"/><Relationship Id="rId20" Type="http://schemas.openxmlformats.org/officeDocument/2006/relationships/tags" Target="../tags/tag202.xml"/><Relationship Id="rId2" Type="http://schemas.openxmlformats.org/officeDocument/2006/relationships/tags" Target="../tags/tag184.xml"/><Relationship Id="rId19" Type="http://schemas.openxmlformats.org/officeDocument/2006/relationships/tags" Target="../tags/tag201.xml"/><Relationship Id="rId18" Type="http://schemas.openxmlformats.org/officeDocument/2006/relationships/tags" Target="../tags/tag200.xml"/><Relationship Id="rId17" Type="http://schemas.openxmlformats.org/officeDocument/2006/relationships/tags" Target="../tags/tag199.xml"/><Relationship Id="rId16" Type="http://schemas.openxmlformats.org/officeDocument/2006/relationships/tags" Target="../tags/tag198.xml"/><Relationship Id="rId15" Type="http://schemas.openxmlformats.org/officeDocument/2006/relationships/tags" Target="../tags/tag197.xml"/><Relationship Id="rId14" Type="http://schemas.openxmlformats.org/officeDocument/2006/relationships/tags" Target="../tags/tag196.xml"/><Relationship Id="rId13" Type="http://schemas.openxmlformats.org/officeDocument/2006/relationships/tags" Target="../tags/tag195.xml"/><Relationship Id="rId12" Type="http://schemas.openxmlformats.org/officeDocument/2006/relationships/tags" Target="../tags/tag194.xml"/><Relationship Id="rId11" Type="http://schemas.openxmlformats.org/officeDocument/2006/relationships/tags" Target="../tags/tag193.xml"/><Relationship Id="rId10" Type="http://schemas.openxmlformats.org/officeDocument/2006/relationships/tags" Target="../tags/tag192.xml"/><Relationship Id="rId1" Type="http://schemas.openxmlformats.org/officeDocument/2006/relationships/tags" Target="../tags/tag18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05.xml"/><Relationship Id="rId4" Type="http://schemas.openxmlformats.org/officeDocument/2006/relationships/image" Target="../media/image6.png"/><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810260" y="0"/>
            <a:ext cx="12588240" cy="6459855"/>
            <a:chOff x="-1276" y="0"/>
            <a:chExt cx="19824" cy="10173"/>
          </a:xfrm>
        </p:grpSpPr>
        <p:sp>
          <p:nvSpPr>
            <p:cNvPr id="28" name="矩形 27"/>
            <p:cNvSpPr/>
            <p:nvPr/>
          </p:nvSpPr>
          <p:spPr>
            <a:xfrm>
              <a:off x="653" y="628"/>
              <a:ext cx="17895" cy="954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grpSp>
          <p:nvGrpSpPr>
            <p:cNvPr id="29" name="组合 28"/>
            <p:cNvGrpSpPr/>
            <p:nvPr/>
          </p:nvGrpSpPr>
          <p:grpSpPr>
            <a:xfrm flipH="1">
              <a:off x="-1276" y="0"/>
              <a:ext cx="9515" cy="9637"/>
              <a:chOff x="10604" y="325"/>
              <a:chExt cx="9515" cy="9637"/>
            </a:xfrm>
          </p:grpSpPr>
          <p:sp>
            <p:nvSpPr>
              <p:cNvPr id="30" name="îṡľiḑe"/>
              <p:cNvSpPr/>
              <p:nvPr userDrawn="1"/>
            </p:nvSpPr>
            <p:spPr bwMode="auto">
              <a:xfrm>
                <a:off x="10953" y="3168"/>
                <a:ext cx="9167" cy="6795"/>
              </a:xfrm>
              <a:custGeom>
                <a:avLst/>
                <a:gdLst>
                  <a:gd name="connsiteX0" fmla="*/ 3286679 w 6358155"/>
                  <a:gd name="connsiteY0" fmla="*/ 4338823 h 4713182"/>
                  <a:gd name="connsiteX1" fmla="*/ 3382888 w 6358155"/>
                  <a:gd name="connsiteY1" fmla="*/ 4346358 h 4713182"/>
                  <a:gd name="connsiteX2" fmla="*/ 3712029 w 6358155"/>
                  <a:gd name="connsiteY2" fmla="*/ 4470927 h 4713182"/>
                  <a:gd name="connsiteX3" fmla="*/ 3796322 w 6358155"/>
                  <a:gd name="connsiteY3" fmla="*/ 4523165 h 4713182"/>
                  <a:gd name="connsiteX4" fmla="*/ 3832447 w 6358155"/>
                  <a:gd name="connsiteY4" fmla="*/ 4571386 h 4713182"/>
                  <a:gd name="connsiteX5" fmla="*/ 3776252 w 6358155"/>
                  <a:gd name="connsiteY5" fmla="*/ 4579423 h 4713182"/>
                  <a:gd name="connsiteX6" fmla="*/ 3419013 w 6358155"/>
                  <a:gd name="connsiteY6" fmla="*/ 4491019 h 4713182"/>
                  <a:gd name="connsiteX7" fmla="*/ 3073816 w 6358155"/>
                  <a:gd name="connsiteY7" fmla="*/ 4515129 h 4713182"/>
                  <a:gd name="connsiteX8" fmla="*/ 2865092 w 6358155"/>
                  <a:gd name="connsiteY8" fmla="*/ 4487000 h 4713182"/>
                  <a:gd name="connsiteX9" fmla="*/ 2873120 w 6358155"/>
                  <a:gd name="connsiteY9" fmla="*/ 4438780 h 4713182"/>
                  <a:gd name="connsiteX10" fmla="*/ 2881148 w 6358155"/>
                  <a:gd name="connsiteY10" fmla="*/ 4430743 h 4713182"/>
                  <a:gd name="connsiteX11" fmla="*/ 3005579 w 6358155"/>
                  <a:gd name="connsiteY11" fmla="*/ 4370468 h 4713182"/>
                  <a:gd name="connsiteX12" fmla="*/ 3286679 w 6358155"/>
                  <a:gd name="connsiteY12" fmla="*/ 4338823 h 4713182"/>
                  <a:gd name="connsiteX13" fmla="*/ 764958 w 6358155"/>
                  <a:gd name="connsiteY13" fmla="*/ 3572297 h 4713182"/>
                  <a:gd name="connsiteX14" fmla="*/ 1085873 w 6358155"/>
                  <a:gd name="connsiteY14" fmla="*/ 3664593 h 4713182"/>
                  <a:gd name="connsiteX15" fmla="*/ 1190170 w 6358155"/>
                  <a:gd name="connsiteY15" fmla="*/ 3712747 h 4713182"/>
                  <a:gd name="connsiteX16" fmla="*/ 1254352 w 6358155"/>
                  <a:gd name="connsiteY16" fmla="*/ 3760901 h 4713182"/>
                  <a:gd name="connsiteX17" fmla="*/ 1226272 w 6358155"/>
                  <a:gd name="connsiteY17" fmla="*/ 3780965 h 4713182"/>
                  <a:gd name="connsiteX18" fmla="*/ 917393 w 6358155"/>
                  <a:gd name="connsiteY18" fmla="*/ 3728798 h 4713182"/>
                  <a:gd name="connsiteX19" fmla="*/ 716821 w 6358155"/>
                  <a:gd name="connsiteY19" fmla="*/ 3813068 h 4713182"/>
                  <a:gd name="connsiteX20" fmla="*/ 560375 w 6358155"/>
                  <a:gd name="connsiteY20" fmla="*/ 3813068 h 4713182"/>
                  <a:gd name="connsiteX21" fmla="*/ 520261 w 6358155"/>
                  <a:gd name="connsiteY21" fmla="*/ 3756888 h 4713182"/>
                  <a:gd name="connsiteX22" fmla="*/ 520261 w 6358155"/>
                  <a:gd name="connsiteY22" fmla="*/ 3748862 h 4713182"/>
                  <a:gd name="connsiteX23" fmla="*/ 544330 w 6358155"/>
                  <a:gd name="connsiteY23" fmla="*/ 3656567 h 4713182"/>
                  <a:gd name="connsiteX24" fmla="*/ 764958 w 6358155"/>
                  <a:gd name="connsiteY24" fmla="*/ 3572297 h 4713182"/>
                  <a:gd name="connsiteX25" fmla="*/ 6122731 w 6358155"/>
                  <a:gd name="connsiteY25" fmla="*/ 2175574 h 4713182"/>
                  <a:gd name="connsiteX26" fmla="*/ 6148398 w 6358155"/>
                  <a:gd name="connsiteY26" fmla="*/ 2176138 h 4713182"/>
                  <a:gd name="connsiteX27" fmla="*/ 6164424 w 6358155"/>
                  <a:gd name="connsiteY27" fmla="*/ 2232344 h 4713182"/>
                  <a:gd name="connsiteX28" fmla="*/ 5988136 w 6358155"/>
                  <a:gd name="connsiteY28" fmla="*/ 2581620 h 4713182"/>
                  <a:gd name="connsiteX29" fmla="*/ 6040221 w 6358155"/>
                  <a:gd name="connsiteY29" fmla="*/ 2922867 h 4713182"/>
                  <a:gd name="connsiteX30" fmla="*/ 5988136 w 6358155"/>
                  <a:gd name="connsiteY30" fmla="*/ 3127615 h 4713182"/>
                  <a:gd name="connsiteX31" fmla="*/ 5891979 w 6358155"/>
                  <a:gd name="connsiteY31" fmla="*/ 3123601 h 4713182"/>
                  <a:gd name="connsiteX32" fmla="*/ 5879959 w 6358155"/>
                  <a:gd name="connsiteY32" fmla="*/ 3115571 h 4713182"/>
                  <a:gd name="connsiteX33" fmla="*/ 5755756 w 6358155"/>
                  <a:gd name="connsiteY33" fmla="*/ 2995131 h 4713182"/>
                  <a:gd name="connsiteX34" fmla="*/ 5711684 w 6358155"/>
                  <a:gd name="connsiteY34" fmla="*/ 2625781 h 4713182"/>
                  <a:gd name="connsiteX35" fmla="*/ 5948070 w 6358155"/>
                  <a:gd name="connsiteY35" fmla="*/ 2296579 h 4713182"/>
                  <a:gd name="connsiteX36" fmla="*/ 6056247 w 6358155"/>
                  <a:gd name="connsiteY36" fmla="*/ 2212270 h 4713182"/>
                  <a:gd name="connsiteX37" fmla="*/ 6122731 w 6358155"/>
                  <a:gd name="connsiteY37" fmla="*/ 2175574 h 4713182"/>
                  <a:gd name="connsiteX38" fmla="*/ 1266937 w 6358155"/>
                  <a:gd name="connsiteY38" fmla="*/ 171788 h 4713182"/>
                  <a:gd name="connsiteX39" fmla="*/ 1326146 w 6358155"/>
                  <a:gd name="connsiteY39" fmla="*/ 194357 h 4713182"/>
                  <a:gd name="connsiteX40" fmla="*/ 1338176 w 6358155"/>
                  <a:gd name="connsiteY40" fmla="*/ 202381 h 4713182"/>
                  <a:gd name="connsiteX41" fmla="*/ 1418374 w 6358155"/>
                  <a:gd name="connsiteY41" fmla="*/ 330771 h 4713182"/>
                  <a:gd name="connsiteX42" fmla="*/ 1390305 w 6358155"/>
                  <a:gd name="connsiteY42" fmla="*/ 655758 h 4713182"/>
                  <a:gd name="connsiteX43" fmla="*/ 1125651 w 6358155"/>
                  <a:gd name="connsiteY43" fmla="*/ 892477 h 4713182"/>
                  <a:gd name="connsiteX44" fmla="*/ 1021393 w 6358155"/>
                  <a:gd name="connsiteY44" fmla="*/ 944636 h 4713182"/>
                  <a:gd name="connsiteX45" fmla="*/ 933175 w 6358155"/>
                  <a:gd name="connsiteY45" fmla="*/ 960685 h 4713182"/>
                  <a:gd name="connsiteX46" fmla="*/ 929165 w 6358155"/>
                  <a:gd name="connsiteY46" fmla="*/ 908526 h 4713182"/>
                  <a:gd name="connsiteX47" fmla="*/ 1145700 w 6358155"/>
                  <a:gd name="connsiteY47" fmla="*/ 639710 h 4713182"/>
                  <a:gd name="connsiteX48" fmla="*/ 1161740 w 6358155"/>
                  <a:gd name="connsiteY48" fmla="*/ 338795 h 4713182"/>
                  <a:gd name="connsiteX49" fmla="*/ 1245948 w 6358155"/>
                  <a:gd name="connsiteY49" fmla="*/ 174296 h 4713182"/>
                  <a:gd name="connsiteX50" fmla="*/ 1266937 w 6358155"/>
                  <a:gd name="connsiteY50" fmla="*/ 171788 h 4713182"/>
                  <a:gd name="connsiteX51" fmla="*/ 2060201 w 6358155"/>
                  <a:gd name="connsiteY51" fmla="*/ 2300 h 4713182"/>
                  <a:gd name="connsiteX52" fmla="*/ 2655824 w 6358155"/>
                  <a:gd name="connsiteY52" fmla="*/ 271360 h 4713182"/>
                  <a:gd name="connsiteX53" fmla="*/ 3057298 w 6358155"/>
                  <a:gd name="connsiteY53" fmla="*/ 359605 h 4713182"/>
                  <a:gd name="connsiteX54" fmla="*/ 3466801 w 6358155"/>
                  <a:gd name="connsiteY54" fmla="*/ 143003 h 4713182"/>
                  <a:gd name="connsiteX55" fmla="*/ 3972657 w 6358155"/>
                  <a:gd name="connsiteY55" fmla="*/ 215204 h 4713182"/>
                  <a:gd name="connsiteX56" fmla="*/ 4121203 w 6358155"/>
                  <a:gd name="connsiteY56" fmla="*/ 363616 h 4713182"/>
                  <a:gd name="connsiteX57" fmla="*/ 4635089 w 6358155"/>
                  <a:gd name="connsiteY57" fmla="*/ 367627 h 4713182"/>
                  <a:gd name="connsiteX58" fmla="*/ 4803707 w 6358155"/>
                  <a:gd name="connsiteY58" fmla="*/ 175092 h 4713182"/>
                  <a:gd name="connsiteX59" fmla="*/ 5911775 w 6358155"/>
                  <a:gd name="connsiteY59" fmla="*/ 343560 h 4713182"/>
                  <a:gd name="connsiteX60" fmla="*/ 6357411 w 6358155"/>
                  <a:gd name="connsiteY60" fmla="*/ 1274146 h 4713182"/>
                  <a:gd name="connsiteX61" fmla="*/ 6317263 w 6358155"/>
                  <a:gd name="connsiteY61" fmla="*/ 1599049 h 4713182"/>
                  <a:gd name="connsiteX62" fmla="*/ 6305219 w 6358155"/>
                  <a:gd name="connsiteY62" fmla="*/ 1647182 h 4713182"/>
                  <a:gd name="connsiteX63" fmla="*/ 6301204 w 6358155"/>
                  <a:gd name="connsiteY63" fmla="*/ 1655205 h 4713182"/>
                  <a:gd name="connsiteX64" fmla="*/ 6285145 w 6358155"/>
                  <a:gd name="connsiteY64" fmla="*/ 1691305 h 4713182"/>
                  <a:gd name="connsiteX65" fmla="*/ 6281131 w 6358155"/>
                  <a:gd name="connsiteY65" fmla="*/ 1703338 h 4713182"/>
                  <a:gd name="connsiteX66" fmla="*/ 6269086 w 6358155"/>
                  <a:gd name="connsiteY66" fmla="*/ 1735428 h 4713182"/>
                  <a:gd name="connsiteX67" fmla="*/ 6261057 w 6358155"/>
                  <a:gd name="connsiteY67" fmla="*/ 1751472 h 4713182"/>
                  <a:gd name="connsiteX68" fmla="*/ 6244997 w 6358155"/>
                  <a:gd name="connsiteY68" fmla="*/ 1779550 h 4713182"/>
                  <a:gd name="connsiteX69" fmla="*/ 6236968 w 6358155"/>
                  <a:gd name="connsiteY69" fmla="*/ 1795595 h 4713182"/>
                  <a:gd name="connsiteX70" fmla="*/ 6224924 w 6358155"/>
                  <a:gd name="connsiteY70" fmla="*/ 1823673 h 4713182"/>
                  <a:gd name="connsiteX71" fmla="*/ 6212880 w 6358155"/>
                  <a:gd name="connsiteY71" fmla="*/ 1839717 h 4713182"/>
                  <a:gd name="connsiteX72" fmla="*/ 6196821 w 6358155"/>
                  <a:gd name="connsiteY72" fmla="*/ 1863784 h 4713182"/>
                  <a:gd name="connsiteX73" fmla="*/ 6188791 w 6358155"/>
                  <a:gd name="connsiteY73" fmla="*/ 1879829 h 4713182"/>
                  <a:gd name="connsiteX74" fmla="*/ 6168717 w 6358155"/>
                  <a:gd name="connsiteY74" fmla="*/ 1907907 h 4713182"/>
                  <a:gd name="connsiteX75" fmla="*/ 6156673 w 6358155"/>
                  <a:gd name="connsiteY75" fmla="*/ 1919940 h 4713182"/>
                  <a:gd name="connsiteX76" fmla="*/ 6128571 w 6358155"/>
                  <a:gd name="connsiteY76" fmla="*/ 1956041 h 4713182"/>
                  <a:gd name="connsiteX77" fmla="*/ 6048275 w 6358155"/>
                  <a:gd name="connsiteY77" fmla="*/ 2036263 h 4713182"/>
                  <a:gd name="connsiteX78" fmla="*/ 6020173 w 6358155"/>
                  <a:gd name="connsiteY78" fmla="*/ 2060330 h 4713182"/>
                  <a:gd name="connsiteX79" fmla="*/ 5988055 w 6358155"/>
                  <a:gd name="connsiteY79" fmla="*/ 2084397 h 4713182"/>
                  <a:gd name="connsiteX80" fmla="*/ 5831480 w 6358155"/>
                  <a:gd name="connsiteY80" fmla="*/ 2212754 h 4713182"/>
                  <a:gd name="connsiteX81" fmla="*/ 5771259 w 6358155"/>
                  <a:gd name="connsiteY81" fmla="*/ 2264899 h 4713182"/>
                  <a:gd name="connsiteX82" fmla="*/ 5598625 w 6358155"/>
                  <a:gd name="connsiteY82" fmla="*/ 2517601 h 4713182"/>
                  <a:gd name="connsiteX83" fmla="*/ 5586581 w 6358155"/>
                  <a:gd name="connsiteY83" fmla="*/ 2561723 h 4713182"/>
                  <a:gd name="connsiteX84" fmla="*/ 5582567 w 6358155"/>
                  <a:gd name="connsiteY84" fmla="*/ 2581779 h 4713182"/>
                  <a:gd name="connsiteX85" fmla="*/ 5578551 w 6358155"/>
                  <a:gd name="connsiteY85" fmla="*/ 2621890 h 4713182"/>
                  <a:gd name="connsiteX86" fmla="*/ 5574537 w 6358155"/>
                  <a:gd name="connsiteY86" fmla="*/ 2645957 h 4713182"/>
                  <a:gd name="connsiteX87" fmla="*/ 5574537 w 6358155"/>
                  <a:gd name="connsiteY87" fmla="*/ 2666013 h 4713182"/>
                  <a:gd name="connsiteX88" fmla="*/ 5574537 w 6358155"/>
                  <a:gd name="connsiteY88" fmla="*/ 2686069 h 4713182"/>
                  <a:gd name="connsiteX89" fmla="*/ 5578551 w 6358155"/>
                  <a:gd name="connsiteY89" fmla="*/ 2706125 h 4713182"/>
                  <a:gd name="connsiteX90" fmla="*/ 5582567 w 6358155"/>
                  <a:gd name="connsiteY90" fmla="*/ 2750247 h 4713182"/>
                  <a:gd name="connsiteX91" fmla="*/ 5586581 w 6358155"/>
                  <a:gd name="connsiteY91" fmla="*/ 2770303 h 4713182"/>
                  <a:gd name="connsiteX92" fmla="*/ 5594611 w 6358155"/>
                  <a:gd name="connsiteY92" fmla="*/ 2810414 h 4713182"/>
                  <a:gd name="connsiteX93" fmla="*/ 5602640 w 6358155"/>
                  <a:gd name="connsiteY93" fmla="*/ 2830470 h 4713182"/>
                  <a:gd name="connsiteX94" fmla="*/ 5678920 w 6358155"/>
                  <a:gd name="connsiteY94" fmla="*/ 3018994 h 4713182"/>
                  <a:gd name="connsiteX95" fmla="*/ 5723082 w 6358155"/>
                  <a:gd name="connsiteY95" fmla="*/ 3099217 h 4713182"/>
                  <a:gd name="connsiteX96" fmla="*/ 5803377 w 6358155"/>
                  <a:gd name="connsiteY96" fmla="*/ 3247629 h 4713182"/>
                  <a:gd name="connsiteX97" fmla="*/ 5827465 w 6358155"/>
                  <a:gd name="connsiteY97" fmla="*/ 3287740 h 4713182"/>
                  <a:gd name="connsiteX98" fmla="*/ 5851553 w 6358155"/>
                  <a:gd name="connsiteY98" fmla="*/ 3331863 h 4713182"/>
                  <a:gd name="connsiteX99" fmla="*/ 5875642 w 6358155"/>
                  <a:gd name="connsiteY99" fmla="*/ 3371975 h 4713182"/>
                  <a:gd name="connsiteX100" fmla="*/ 5899731 w 6358155"/>
                  <a:gd name="connsiteY100" fmla="*/ 3416097 h 4713182"/>
                  <a:gd name="connsiteX101" fmla="*/ 5980025 w 6358155"/>
                  <a:gd name="connsiteY101" fmla="*/ 3608632 h 4713182"/>
                  <a:gd name="connsiteX102" fmla="*/ 6024187 w 6358155"/>
                  <a:gd name="connsiteY102" fmla="*/ 3981669 h 4713182"/>
                  <a:gd name="connsiteX103" fmla="*/ 6012143 w 6358155"/>
                  <a:gd name="connsiteY103" fmla="*/ 4053869 h 4713182"/>
                  <a:gd name="connsiteX104" fmla="*/ 5980025 w 6358155"/>
                  <a:gd name="connsiteY104" fmla="*/ 4154148 h 4713182"/>
                  <a:gd name="connsiteX105" fmla="*/ 5935863 w 6358155"/>
                  <a:gd name="connsiteY105" fmla="*/ 4246404 h 4713182"/>
                  <a:gd name="connsiteX106" fmla="*/ 5919804 w 6358155"/>
                  <a:gd name="connsiteY106" fmla="*/ 4274482 h 4713182"/>
                  <a:gd name="connsiteX107" fmla="*/ 5879657 w 6358155"/>
                  <a:gd name="connsiteY107" fmla="*/ 4330638 h 4713182"/>
                  <a:gd name="connsiteX108" fmla="*/ 5855569 w 6358155"/>
                  <a:gd name="connsiteY108" fmla="*/ 4354705 h 4713182"/>
                  <a:gd name="connsiteX109" fmla="*/ 4683265 w 6358155"/>
                  <a:gd name="connsiteY109" fmla="*/ 4703675 h 4713182"/>
                  <a:gd name="connsiteX110" fmla="*/ 4570853 w 6358155"/>
                  <a:gd name="connsiteY110" fmla="*/ 4691641 h 4713182"/>
                  <a:gd name="connsiteX111" fmla="*/ 4502603 w 6358155"/>
                  <a:gd name="connsiteY111" fmla="*/ 4675597 h 4713182"/>
                  <a:gd name="connsiteX112" fmla="*/ 4466470 w 6358155"/>
                  <a:gd name="connsiteY112" fmla="*/ 4667574 h 4713182"/>
                  <a:gd name="connsiteX113" fmla="*/ 4398219 w 6358155"/>
                  <a:gd name="connsiteY113" fmla="*/ 4651530 h 4713182"/>
                  <a:gd name="connsiteX114" fmla="*/ 4366101 w 6358155"/>
                  <a:gd name="connsiteY114" fmla="*/ 4639496 h 4713182"/>
                  <a:gd name="connsiteX115" fmla="*/ 4237630 w 6358155"/>
                  <a:gd name="connsiteY115" fmla="*/ 4595374 h 4713182"/>
                  <a:gd name="connsiteX116" fmla="*/ 4153321 w 6358155"/>
                  <a:gd name="connsiteY116" fmla="*/ 4563285 h 4713182"/>
                  <a:gd name="connsiteX117" fmla="*/ 3848201 w 6358155"/>
                  <a:gd name="connsiteY117" fmla="*/ 4434928 h 4713182"/>
                  <a:gd name="connsiteX118" fmla="*/ 2940870 w 6358155"/>
                  <a:gd name="connsiteY118" fmla="*/ 4302560 h 4713182"/>
                  <a:gd name="connsiteX119" fmla="*/ 2824443 w 6358155"/>
                  <a:gd name="connsiteY119" fmla="*/ 4346683 h 4713182"/>
                  <a:gd name="connsiteX120" fmla="*/ 2768237 w 6358155"/>
                  <a:gd name="connsiteY120" fmla="*/ 4370750 h 4713182"/>
                  <a:gd name="connsiteX121" fmla="*/ 2583559 w 6358155"/>
                  <a:gd name="connsiteY121" fmla="*/ 4458995 h 4713182"/>
                  <a:gd name="connsiteX122" fmla="*/ 2479176 w 6358155"/>
                  <a:gd name="connsiteY122" fmla="*/ 4499106 h 4713182"/>
                  <a:gd name="connsiteX123" fmla="*/ 1583890 w 6358155"/>
                  <a:gd name="connsiteY123" fmla="*/ 4218326 h 4713182"/>
                  <a:gd name="connsiteX124" fmla="*/ 1551772 w 6358155"/>
                  <a:gd name="connsiteY124" fmla="*/ 4174204 h 4713182"/>
                  <a:gd name="connsiteX125" fmla="*/ 1527684 w 6358155"/>
                  <a:gd name="connsiteY125" fmla="*/ 4134092 h 4713182"/>
                  <a:gd name="connsiteX126" fmla="*/ 1491551 w 6358155"/>
                  <a:gd name="connsiteY126" fmla="*/ 4069914 h 4713182"/>
                  <a:gd name="connsiteX127" fmla="*/ 1475492 w 6358155"/>
                  <a:gd name="connsiteY127" fmla="*/ 4029802 h 4713182"/>
                  <a:gd name="connsiteX128" fmla="*/ 1467463 w 6358155"/>
                  <a:gd name="connsiteY128" fmla="*/ 4013758 h 4713182"/>
                  <a:gd name="connsiteX129" fmla="*/ 1122195 w 6358155"/>
                  <a:gd name="connsiteY129" fmla="*/ 3536431 h 4713182"/>
                  <a:gd name="connsiteX130" fmla="*/ 1041901 w 6358155"/>
                  <a:gd name="connsiteY130" fmla="*/ 3512365 h 4713182"/>
                  <a:gd name="connsiteX131" fmla="*/ 1001753 w 6358155"/>
                  <a:gd name="connsiteY131" fmla="*/ 3504342 h 4713182"/>
                  <a:gd name="connsiteX132" fmla="*/ 993724 w 6358155"/>
                  <a:gd name="connsiteY132" fmla="*/ 3500331 h 4713182"/>
                  <a:gd name="connsiteX133" fmla="*/ 792987 w 6358155"/>
                  <a:gd name="connsiteY133" fmla="*/ 3484287 h 4713182"/>
                  <a:gd name="connsiteX134" fmla="*/ 764883 w 6358155"/>
                  <a:gd name="connsiteY134" fmla="*/ 3484287 h 4713182"/>
                  <a:gd name="connsiteX135" fmla="*/ 712692 w 6358155"/>
                  <a:gd name="connsiteY135" fmla="*/ 3480275 h 4713182"/>
                  <a:gd name="connsiteX136" fmla="*/ 584220 w 6358155"/>
                  <a:gd name="connsiteY136" fmla="*/ 3472253 h 4713182"/>
                  <a:gd name="connsiteX137" fmla="*/ 387498 w 6358155"/>
                  <a:gd name="connsiteY137" fmla="*/ 3424119 h 4713182"/>
                  <a:gd name="connsiteX138" fmla="*/ 363410 w 6358155"/>
                  <a:gd name="connsiteY138" fmla="*/ 3412086 h 4713182"/>
                  <a:gd name="connsiteX139" fmla="*/ 315233 w 6358155"/>
                  <a:gd name="connsiteY139" fmla="*/ 3384008 h 4713182"/>
                  <a:gd name="connsiteX140" fmla="*/ 238953 w 6358155"/>
                  <a:gd name="connsiteY140" fmla="*/ 3323841 h 4713182"/>
                  <a:gd name="connsiteX141" fmla="*/ 202820 w 6358155"/>
                  <a:gd name="connsiteY141" fmla="*/ 3287740 h 4713182"/>
                  <a:gd name="connsiteX142" fmla="*/ 182747 w 6358155"/>
                  <a:gd name="connsiteY142" fmla="*/ 3271696 h 4713182"/>
                  <a:gd name="connsiteX143" fmla="*/ 150629 w 6358155"/>
                  <a:gd name="connsiteY143" fmla="*/ 3231584 h 4713182"/>
                  <a:gd name="connsiteX144" fmla="*/ 122526 w 6358155"/>
                  <a:gd name="connsiteY144" fmla="*/ 3191473 h 4713182"/>
                  <a:gd name="connsiteX145" fmla="*/ 90408 w 6358155"/>
                  <a:gd name="connsiteY145" fmla="*/ 3143339 h 4713182"/>
                  <a:gd name="connsiteX146" fmla="*/ 78364 w 6358155"/>
                  <a:gd name="connsiteY146" fmla="*/ 3115261 h 4713182"/>
                  <a:gd name="connsiteX147" fmla="*/ 58290 w 6358155"/>
                  <a:gd name="connsiteY147" fmla="*/ 3075150 h 4713182"/>
                  <a:gd name="connsiteX148" fmla="*/ 10113 w 6358155"/>
                  <a:gd name="connsiteY148" fmla="*/ 2698102 h 4713182"/>
                  <a:gd name="connsiteX149" fmla="*/ 22157 w 6358155"/>
                  <a:gd name="connsiteY149" fmla="*/ 2657991 h 4713182"/>
                  <a:gd name="connsiteX150" fmla="*/ 22157 w 6358155"/>
                  <a:gd name="connsiteY150" fmla="*/ 2645957 h 4713182"/>
                  <a:gd name="connsiteX151" fmla="*/ 34202 w 6358155"/>
                  <a:gd name="connsiteY151" fmla="*/ 2617879 h 4713182"/>
                  <a:gd name="connsiteX152" fmla="*/ 38216 w 6358155"/>
                  <a:gd name="connsiteY152" fmla="*/ 2605846 h 4713182"/>
                  <a:gd name="connsiteX153" fmla="*/ 46246 w 6358155"/>
                  <a:gd name="connsiteY153" fmla="*/ 2577768 h 4713182"/>
                  <a:gd name="connsiteX154" fmla="*/ 54275 w 6358155"/>
                  <a:gd name="connsiteY154" fmla="*/ 2565734 h 4713182"/>
                  <a:gd name="connsiteX155" fmla="*/ 66319 w 6358155"/>
                  <a:gd name="connsiteY155" fmla="*/ 2537656 h 4713182"/>
                  <a:gd name="connsiteX156" fmla="*/ 70334 w 6358155"/>
                  <a:gd name="connsiteY156" fmla="*/ 2525623 h 4713182"/>
                  <a:gd name="connsiteX157" fmla="*/ 90408 w 6358155"/>
                  <a:gd name="connsiteY157" fmla="*/ 2489523 h 4713182"/>
                  <a:gd name="connsiteX158" fmla="*/ 94423 w 6358155"/>
                  <a:gd name="connsiteY158" fmla="*/ 2481500 h 4713182"/>
                  <a:gd name="connsiteX159" fmla="*/ 110482 w 6358155"/>
                  <a:gd name="connsiteY159" fmla="*/ 2457434 h 4713182"/>
                  <a:gd name="connsiteX160" fmla="*/ 122526 w 6358155"/>
                  <a:gd name="connsiteY160" fmla="*/ 2441389 h 4713182"/>
                  <a:gd name="connsiteX161" fmla="*/ 134570 w 6358155"/>
                  <a:gd name="connsiteY161" fmla="*/ 2421333 h 4713182"/>
                  <a:gd name="connsiteX162" fmla="*/ 146614 w 6358155"/>
                  <a:gd name="connsiteY162" fmla="*/ 2409300 h 4713182"/>
                  <a:gd name="connsiteX163" fmla="*/ 162673 w 6358155"/>
                  <a:gd name="connsiteY163" fmla="*/ 2389244 h 4713182"/>
                  <a:gd name="connsiteX164" fmla="*/ 174717 w 6358155"/>
                  <a:gd name="connsiteY164" fmla="*/ 2377211 h 4713182"/>
                  <a:gd name="connsiteX165" fmla="*/ 194791 w 6358155"/>
                  <a:gd name="connsiteY165" fmla="*/ 2353144 h 4713182"/>
                  <a:gd name="connsiteX166" fmla="*/ 210850 w 6358155"/>
                  <a:gd name="connsiteY166" fmla="*/ 2337099 h 4713182"/>
                  <a:gd name="connsiteX167" fmla="*/ 230924 w 6358155"/>
                  <a:gd name="connsiteY167" fmla="*/ 2317043 h 4713182"/>
                  <a:gd name="connsiteX168" fmla="*/ 242968 w 6358155"/>
                  <a:gd name="connsiteY168" fmla="*/ 2305010 h 4713182"/>
                  <a:gd name="connsiteX169" fmla="*/ 259027 w 6358155"/>
                  <a:gd name="connsiteY169" fmla="*/ 2292977 h 4713182"/>
                  <a:gd name="connsiteX170" fmla="*/ 275086 w 6358155"/>
                  <a:gd name="connsiteY170" fmla="*/ 2280943 h 4713182"/>
                  <a:gd name="connsiteX171" fmla="*/ 295159 w 6358155"/>
                  <a:gd name="connsiteY171" fmla="*/ 2264899 h 4713182"/>
                  <a:gd name="connsiteX172" fmla="*/ 311218 w 6358155"/>
                  <a:gd name="connsiteY172" fmla="*/ 2252865 h 4713182"/>
                  <a:gd name="connsiteX173" fmla="*/ 327277 w 6358155"/>
                  <a:gd name="connsiteY173" fmla="*/ 2240832 h 4713182"/>
                  <a:gd name="connsiteX174" fmla="*/ 463778 w 6358155"/>
                  <a:gd name="connsiteY174" fmla="*/ 2172642 h 4713182"/>
                  <a:gd name="connsiteX175" fmla="*/ 644441 w 6358155"/>
                  <a:gd name="connsiteY175" fmla="*/ 2108464 h 4713182"/>
                  <a:gd name="connsiteX176" fmla="*/ 648456 w 6358155"/>
                  <a:gd name="connsiteY176" fmla="*/ 1574982 h 4713182"/>
                  <a:gd name="connsiteX177" fmla="*/ 712692 w 6358155"/>
                  <a:gd name="connsiteY177" fmla="*/ 1266124 h 4713182"/>
                  <a:gd name="connsiteX178" fmla="*/ 1539728 w 6358155"/>
                  <a:gd name="connsiteY178" fmla="*/ 692530 h 4713182"/>
                  <a:gd name="connsiteX179" fmla="*/ 1848862 w 6358155"/>
                  <a:gd name="connsiteY179" fmla="*/ 34702 h 4713182"/>
                  <a:gd name="connsiteX180" fmla="*/ 2060201 w 6358155"/>
                  <a:gd name="connsiteY180" fmla="*/ 2300 h 471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6358155" h="4713182">
                    <a:moveTo>
                      <a:pt x="3286679" y="4338823"/>
                    </a:moveTo>
                    <a:cubicBezTo>
                      <a:pt x="3319418" y="4339828"/>
                      <a:pt x="3351780" y="4342339"/>
                      <a:pt x="3382888" y="4346358"/>
                    </a:cubicBezTo>
                    <a:cubicBezTo>
                      <a:pt x="3515347" y="4370468"/>
                      <a:pt x="3619709" y="4418688"/>
                      <a:pt x="3712029" y="4470927"/>
                    </a:cubicBezTo>
                    <a:cubicBezTo>
                      <a:pt x="3740127" y="4487000"/>
                      <a:pt x="3772238" y="4507092"/>
                      <a:pt x="3796322" y="4523165"/>
                    </a:cubicBezTo>
                    <a:cubicBezTo>
                      <a:pt x="3816391" y="4539239"/>
                      <a:pt x="3840475" y="4555312"/>
                      <a:pt x="3832447" y="4571386"/>
                    </a:cubicBezTo>
                    <a:cubicBezTo>
                      <a:pt x="3824419" y="4587459"/>
                      <a:pt x="3800336" y="4587459"/>
                      <a:pt x="3776252" y="4579423"/>
                    </a:cubicBezTo>
                    <a:cubicBezTo>
                      <a:pt x="3655835" y="4547276"/>
                      <a:pt x="3559500" y="4499055"/>
                      <a:pt x="3419013" y="4491019"/>
                    </a:cubicBezTo>
                    <a:cubicBezTo>
                      <a:pt x="3302609" y="4482982"/>
                      <a:pt x="3186206" y="4495037"/>
                      <a:pt x="3073816" y="4515129"/>
                    </a:cubicBezTo>
                    <a:cubicBezTo>
                      <a:pt x="3005579" y="4527184"/>
                      <a:pt x="2901217" y="4527184"/>
                      <a:pt x="2865092" y="4487000"/>
                    </a:cubicBezTo>
                    <a:cubicBezTo>
                      <a:pt x="2853050" y="4470927"/>
                      <a:pt x="2857064" y="4454853"/>
                      <a:pt x="2873120" y="4438780"/>
                    </a:cubicBezTo>
                    <a:cubicBezTo>
                      <a:pt x="2873120" y="4434762"/>
                      <a:pt x="2877134" y="4434762"/>
                      <a:pt x="2881148" y="4430743"/>
                    </a:cubicBezTo>
                    <a:cubicBezTo>
                      <a:pt x="2909245" y="4406633"/>
                      <a:pt x="2953398" y="4386541"/>
                      <a:pt x="3005579" y="4370468"/>
                    </a:cubicBezTo>
                    <a:cubicBezTo>
                      <a:pt x="3086861" y="4346357"/>
                      <a:pt x="3188464" y="4335809"/>
                      <a:pt x="3286679" y="4338823"/>
                    </a:cubicBezTo>
                    <a:close/>
                    <a:moveTo>
                      <a:pt x="764958" y="3572297"/>
                    </a:moveTo>
                    <a:cubicBezTo>
                      <a:pt x="873267" y="3576310"/>
                      <a:pt x="985587" y="3616438"/>
                      <a:pt x="1085873" y="3664593"/>
                    </a:cubicBezTo>
                    <a:cubicBezTo>
                      <a:pt x="1121975" y="3680644"/>
                      <a:pt x="1158078" y="3696695"/>
                      <a:pt x="1190170" y="3712747"/>
                    </a:cubicBezTo>
                    <a:cubicBezTo>
                      <a:pt x="1214238" y="3724785"/>
                      <a:pt x="1246330" y="3740837"/>
                      <a:pt x="1254352" y="3760901"/>
                    </a:cubicBezTo>
                    <a:cubicBezTo>
                      <a:pt x="1262375" y="3780965"/>
                      <a:pt x="1250341" y="3784978"/>
                      <a:pt x="1226272" y="3780965"/>
                    </a:cubicBezTo>
                    <a:cubicBezTo>
                      <a:pt x="1121975" y="3760901"/>
                      <a:pt x="1017678" y="3720772"/>
                      <a:pt x="917393" y="3728798"/>
                    </a:cubicBezTo>
                    <a:cubicBezTo>
                      <a:pt x="837164" y="3740837"/>
                      <a:pt x="772981" y="3776952"/>
                      <a:pt x="716821" y="3813068"/>
                    </a:cubicBezTo>
                    <a:cubicBezTo>
                      <a:pt x="684730" y="3837145"/>
                      <a:pt x="616535" y="3857209"/>
                      <a:pt x="560375" y="3813068"/>
                    </a:cubicBezTo>
                    <a:cubicBezTo>
                      <a:pt x="540318" y="3797017"/>
                      <a:pt x="524273" y="3776952"/>
                      <a:pt x="520261" y="3756888"/>
                    </a:cubicBezTo>
                    <a:cubicBezTo>
                      <a:pt x="520261" y="3752875"/>
                      <a:pt x="520261" y="3748862"/>
                      <a:pt x="520261" y="3748862"/>
                    </a:cubicBezTo>
                    <a:cubicBezTo>
                      <a:pt x="516250" y="3712747"/>
                      <a:pt x="524273" y="3680644"/>
                      <a:pt x="544330" y="3656567"/>
                    </a:cubicBezTo>
                    <a:cubicBezTo>
                      <a:pt x="588455" y="3600387"/>
                      <a:pt x="672695" y="3568284"/>
                      <a:pt x="764958" y="3572297"/>
                    </a:cubicBezTo>
                    <a:close/>
                    <a:moveTo>
                      <a:pt x="6122731" y="2175574"/>
                    </a:moveTo>
                    <a:cubicBezTo>
                      <a:pt x="6130869" y="2174131"/>
                      <a:pt x="6139383" y="2174131"/>
                      <a:pt x="6148398" y="2176138"/>
                    </a:cubicBezTo>
                    <a:cubicBezTo>
                      <a:pt x="6176443" y="2184168"/>
                      <a:pt x="6180450" y="2208256"/>
                      <a:pt x="6164424" y="2232344"/>
                    </a:cubicBezTo>
                    <a:cubicBezTo>
                      <a:pt x="6100319" y="2348769"/>
                      <a:pt x="6008168" y="2445121"/>
                      <a:pt x="5988136" y="2581620"/>
                    </a:cubicBezTo>
                    <a:cubicBezTo>
                      <a:pt x="5976116" y="2698046"/>
                      <a:pt x="6004162" y="2814471"/>
                      <a:pt x="6040221" y="2922867"/>
                    </a:cubicBezTo>
                    <a:cubicBezTo>
                      <a:pt x="6064260" y="2991116"/>
                      <a:pt x="6068267" y="3095498"/>
                      <a:pt x="5988136" y="3127615"/>
                    </a:cubicBezTo>
                    <a:cubicBezTo>
                      <a:pt x="5960090" y="3139659"/>
                      <a:pt x="5924031" y="3135645"/>
                      <a:pt x="5891979" y="3123601"/>
                    </a:cubicBezTo>
                    <a:cubicBezTo>
                      <a:pt x="5887972" y="3119586"/>
                      <a:pt x="5883965" y="3119586"/>
                      <a:pt x="5879959" y="3115571"/>
                    </a:cubicBezTo>
                    <a:cubicBezTo>
                      <a:pt x="5827874" y="3087468"/>
                      <a:pt x="5787808" y="3043307"/>
                      <a:pt x="5755756" y="2995131"/>
                    </a:cubicBezTo>
                    <a:cubicBezTo>
                      <a:pt x="5691651" y="2886735"/>
                      <a:pt x="5675625" y="2742207"/>
                      <a:pt x="5711684" y="2625781"/>
                    </a:cubicBezTo>
                    <a:cubicBezTo>
                      <a:pt x="5751749" y="2493297"/>
                      <a:pt x="5847907" y="2388916"/>
                      <a:pt x="5948070" y="2296579"/>
                    </a:cubicBezTo>
                    <a:cubicBezTo>
                      <a:pt x="5984129" y="2268476"/>
                      <a:pt x="6020188" y="2240373"/>
                      <a:pt x="6056247" y="2212270"/>
                    </a:cubicBezTo>
                    <a:cubicBezTo>
                      <a:pt x="6077282" y="2197215"/>
                      <a:pt x="6098316" y="2179902"/>
                      <a:pt x="6122731" y="2175574"/>
                    </a:cubicBezTo>
                    <a:close/>
                    <a:moveTo>
                      <a:pt x="1266937" y="171788"/>
                    </a:moveTo>
                    <a:cubicBezTo>
                      <a:pt x="1287801" y="172540"/>
                      <a:pt x="1308102" y="182320"/>
                      <a:pt x="1326146" y="194357"/>
                    </a:cubicBezTo>
                    <a:cubicBezTo>
                      <a:pt x="1330156" y="198369"/>
                      <a:pt x="1334166" y="198369"/>
                      <a:pt x="1338176" y="202381"/>
                    </a:cubicBezTo>
                    <a:cubicBezTo>
                      <a:pt x="1374265" y="238491"/>
                      <a:pt x="1402334" y="282625"/>
                      <a:pt x="1418374" y="330771"/>
                    </a:cubicBezTo>
                    <a:cubicBezTo>
                      <a:pt x="1454463" y="435088"/>
                      <a:pt x="1442433" y="559466"/>
                      <a:pt x="1390305" y="655758"/>
                    </a:cubicBezTo>
                    <a:cubicBezTo>
                      <a:pt x="1334166" y="760075"/>
                      <a:pt x="1229908" y="832295"/>
                      <a:pt x="1125651" y="892477"/>
                    </a:cubicBezTo>
                    <a:cubicBezTo>
                      <a:pt x="1093571" y="912538"/>
                      <a:pt x="1057482" y="928587"/>
                      <a:pt x="1021393" y="944636"/>
                    </a:cubicBezTo>
                    <a:cubicBezTo>
                      <a:pt x="993323" y="956672"/>
                      <a:pt x="965254" y="972721"/>
                      <a:pt x="933175" y="960685"/>
                    </a:cubicBezTo>
                    <a:cubicBezTo>
                      <a:pt x="913125" y="948648"/>
                      <a:pt x="913125" y="928587"/>
                      <a:pt x="929165" y="908526"/>
                    </a:cubicBezTo>
                    <a:cubicBezTo>
                      <a:pt x="1005353" y="820258"/>
                      <a:pt x="1105601" y="756063"/>
                      <a:pt x="1145700" y="639710"/>
                    </a:cubicBezTo>
                    <a:cubicBezTo>
                      <a:pt x="1177779" y="543417"/>
                      <a:pt x="1173769" y="439100"/>
                      <a:pt x="1161740" y="338795"/>
                    </a:cubicBezTo>
                    <a:cubicBezTo>
                      <a:pt x="1157730" y="274600"/>
                      <a:pt x="1169760" y="186332"/>
                      <a:pt x="1245948" y="174296"/>
                    </a:cubicBezTo>
                    <a:cubicBezTo>
                      <a:pt x="1252965" y="172290"/>
                      <a:pt x="1259983" y="171537"/>
                      <a:pt x="1266937" y="171788"/>
                    </a:cubicBezTo>
                    <a:close/>
                    <a:moveTo>
                      <a:pt x="2060201" y="2300"/>
                    </a:moveTo>
                    <a:cubicBezTo>
                      <a:pt x="2271163" y="23170"/>
                      <a:pt x="2478173" y="181109"/>
                      <a:pt x="2655824" y="271360"/>
                    </a:cubicBezTo>
                    <a:cubicBezTo>
                      <a:pt x="2780281" y="335538"/>
                      <a:pt x="2916782" y="379661"/>
                      <a:pt x="3057298" y="359605"/>
                    </a:cubicBezTo>
                    <a:cubicBezTo>
                      <a:pt x="3221902" y="331527"/>
                      <a:pt x="3318255" y="207181"/>
                      <a:pt x="3466801" y="143003"/>
                    </a:cubicBezTo>
                    <a:cubicBezTo>
                      <a:pt x="3631405" y="74814"/>
                      <a:pt x="3836156" y="94869"/>
                      <a:pt x="3972657" y="215204"/>
                    </a:cubicBezTo>
                    <a:cubicBezTo>
                      <a:pt x="4024849" y="263337"/>
                      <a:pt x="4064996" y="319494"/>
                      <a:pt x="4121203" y="363616"/>
                    </a:cubicBezTo>
                    <a:cubicBezTo>
                      <a:pt x="4261719" y="483950"/>
                      <a:pt x="4494573" y="487962"/>
                      <a:pt x="4635089" y="367627"/>
                    </a:cubicBezTo>
                    <a:cubicBezTo>
                      <a:pt x="4699325" y="315482"/>
                      <a:pt x="4743487" y="239271"/>
                      <a:pt x="4803707" y="175092"/>
                    </a:cubicBezTo>
                    <a:cubicBezTo>
                      <a:pt x="5108827" y="-133766"/>
                      <a:pt x="5642787" y="94869"/>
                      <a:pt x="5911775" y="343560"/>
                    </a:cubicBezTo>
                    <a:cubicBezTo>
                      <a:pt x="6168717" y="580218"/>
                      <a:pt x="6341351" y="925176"/>
                      <a:pt x="6357411" y="1274146"/>
                    </a:cubicBezTo>
                    <a:cubicBezTo>
                      <a:pt x="6361425" y="1382447"/>
                      <a:pt x="6349381" y="1494759"/>
                      <a:pt x="6317263" y="1599049"/>
                    </a:cubicBezTo>
                    <a:cubicBezTo>
                      <a:pt x="6313248" y="1615093"/>
                      <a:pt x="6309233" y="1631138"/>
                      <a:pt x="6305219" y="1647182"/>
                    </a:cubicBezTo>
                    <a:cubicBezTo>
                      <a:pt x="6301204" y="1647182"/>
                      <a:pt x="6301204" y="1651194"/>
                      <a:pt x="6301204" y="1655205"/>
                    </a:cubicBezTo>
                    <a:cubicBezTo>
                      <a:pt x="6297189" y="1667238"/>
                      <a:pt x="6293175" y="1679272"/>
                      <a:pt x="6285145" y="1691305"/>
                    </a:cubicBezTo>
                    <a:cubicBezTo>
                      <a:pt x="6285145" y="1695316"/>
                      <a:pt x="6285145" y="1699327"/>
                      <a:pt x="6281131" y="1703338"/>
                    </a:cubicBezTo>
                    <a:cubicBezTo>
                      <a:pt x="6277115" y="1715372"/>
                      <a:pt x="6273101" y="1727405"/>
                      <a:pt x="6269086" y="1735428"/>
                    </a:cubicBezTo>
                    <a:cubicBezTo>
                      <a:pt x="6265071" y="1739439"/>
                      <a:pt x="6265071" y="1747461"/>
                      <a:pt x="6261057" y="1751472"/>
                    </a:cubicBezTo>
                    <a:cubicBezTo>
                      <a:pt x="6257042" y="1759494"/>
                      <a:pt x="6253027" y="1771528"/>
                      <a:pt x="6244997" y="1779550"/>
                    </a:cubicBezTo>
                    <a:cubicBezTo>
                      <a:pt x="6244997" y="1783561"/>
                      <a:pt x="6240983" y="1791584"/>
                      <a:pt x="6236968" y="1795595"/>
                    </a:cubicBezTo>
                    <a:cubicBezTo>
                      <a:pt x="6232953" y="1803617"/>
                      <a:pt x="6228939" y="1815650"/>
                      <a:pt x="6224924" y="1823673"/>
                    </a:cubicBezTo>
                    <a:cubicBezTo>
                      <a:pt x="6220909" y="1827684"/>
                      <a:pt x="6216895" y="1831695"/>
                      <a:pt x="6212880" y="1839717"/>
                    </a:cubicBezTo>
                    <a:cubicBezTo>
                      <a:pt x="6208865" y="1847740"/>
                      <a:pt x="6200835" y="1855762"/>
                      <a:pt x="6196821" y="1863784"/>
                    </a:cubicBezTo>
                    <a:cubicBezTo>
                      <a:pt x="6192806" y="1867795"/>
                      <a:pt x="6188791" y="1875818"/>
                      <a:pt x="6188791" y="1879829"/>
                    </a:cubicBezTo>
                    <a:cubicBezTo>
                      <a:pt x="6180762" y="1887851"/>
                      <a:pt x="6172733" y="1895873"/>
                      <a:pt x="6168717" y="1907907"/>
                    </a:cubicBezTo>
                    <a:cubicBezTo>
                      <a:pt x="6164703" y="1911918"/>
                      <a:pt x="6160688" y="1915929"/>
                      <a:pt x="6156673" y="1919940"/>
                    </a:cubicBezTo>
                    <a:cubicBezTo>
                      <a:pt x="6148644" y="1931974"/>
                      <a:pt x="6136600" y="1944007"/>
                      <a:pt x="6128571" y="1956041"/>
                    </a:cubicBezTo>
                    <a:cubicBezTo>
                      <a:pt x="6100467" y="1984118"/>
                      <a:pt x="6076379" y="2008185"/>
                      <a:pt x="6048275" y="2036263"/>
                    </a:cubicBezTo>
                    <a:cubicBezTo>
                      <a:pt x="6040246" y="2044286"/>
                      <a:pt x="6028202" y="2052308"/>
                      <a:pt x="6020173" y="2060330"/>
                    </a:cubicBezTo>
                    <a:cubicBezTo>
                      <a:pt x="6008129" y="2068353"/>
                      <a:pt x="6000099" y="2076375"/>
                      <a:pt x="5988055" y="2084397"/>
                    </a:cubicBezTo>
                    <a:cubicBezTo>
                      <a:pt x="5935863" y="2128520"/>
                      <a:pt x="5883671" y="2168631"/>
                      <a:pt x="5831480" y="2212754"/>
                    </a:cubicBezTo>
                    <a:cubicBezTo>
                      <a:pt x="5811406" y="2228798"/>
                      <a:pt x="5791333" y="2248854"/>
                      <a:pt x="5771259" y="2264899"/>
                    </a:cubicBezTo>
                    <a:cubicBezTo>
                      <a:pt x="5682935" y="2349133"/>
                      <a:pt x="5626729" y="2437378"/>
                      <a:pt x="5598625" y="2517601"/>
                    </a:cubicBezTo>
                    <a:cubicBezTo>
                      <a:pt x="5594611" y="2533645"/>
                      <a:pt x="5590596" y="2545679"/>
                      <a:pt x="5586581" y="2561723"/>
                    </a:cubicBezTo>
                    <a:cubicBezTo>
                      <a:pt x="5586581" y="2569746"/>
                      <a:pt x="5582567" y="2573757"/>
                      <a:pt x="5582567" y="2581779"/>
                    </a:cubicBezTo>
                    <a:cubicBezTo>
                      <a:pt x="5578551" y="2597824"/>
                      <a:pt x="5578551" y="2609857"/>
                      <a:pt x="5578551" y="2621890"/>
                    </a:cubicBezTo>
                    <a:cubicBezTo>
                      <a:pt x="5578551" y="2629913"/>
                      <a:pt x="5574537" y="2637935"/>
                      <a:pt x="5574537" y="2645957"/>
                    </a:cubicBezTo>
                    <a:cubicBezTo>
                      <a:pt x="5574537" y="2649968"/>
                      <a:pt x="5574537" y="2657991"/>
                      <a:pt x="5574537" y="2666013"/>
                    </a:cubicBezTo>
                    <a:cubicBezTo>
                      <a:pt x="5574537" y="2674035"/>
                      <a:pt x="5574537" y="2678047"/>
                      <a:pt x="5574537" y="2686069"/>
                    </a:cubicBezTo>
                    <a:cubicBezTo>
                      <a:pt x="5574537" y="2694091"/>
                      <a:pt x="5578551" y="2698102"/>
                      <a:pt x="5578551" y="2706125"/>
                    </a:cubicBezTo>
                    <a:cubicBezTo>
                      <a:pt x="5578551" y="2722169"/>
                      <a:pt x="5578551" y="2734203"/>
                      <a:pt x="5582567" y="2750247"/>
                    </a:cubicBezTo>
                    <a:cubicBezTo>
                      <a:pt x="5582567" y="2754258"/>
                      <a:pt x="5586581" y="2762281"/>
                      <a:pt x="5586581" y="2770303"/>
                    </a:cubicBezTo>
                    <a:cubicBezTo>
                      <a:pt x="5590596" y="2782336"/>
                      <a:pt x="5590596" y="2798381"/>
                      <a:pt x="5594611" y="2810414"/>
                    </a:cubicBezTo>
                    <a:cubicBezTo>
                      <a:pt x="5598625" y="2818437"/>
                      <a:pt x="5598625" y="2826459"/>
                      <a:pt x="5602640" y="2830470"/>
                    </a:cubicBezTo>
                    <a:cubicBezTo>
                      <a:pt x="5618699" y="2894648"/>
                      <a:pt x="5646802" y="2954815"/>
                      <a:pt x="5678920" y="3018994"/>
                    </a:cubicBezTo>
                    <a:cubicBezTo>
                      <a:pt x="5690964" y="3047072"/>
                      <a:pt x="5707023" y="3075150"/>
                      <a:pt x="5723082" y="3099217"/>
                    </a:cubicBezTo>
                    <a:cubicBezTo>
                      <a:pt x="5747171" y="3151362"/>
                      <a:pt x="5775273" y="3199495"/>
                      <a:pt x="5803377" y="3247629"/>
                    </a:cubicBezTo>
                    <a:cubicBezTo>
                      <a:pt x="5811406" y="3259662"/>
                      <a:pt x="5819435" y="3275707"/>
                      <a:pt x="5827465" y="3287740"/>
                    </a:cubicBezTo>
                    <a:cubicBezTo>
                      <a:pt x="5835495" y="3303785"/>
                      <a:pt x="5843524" y="3315818"/>
                      <a:pt x="5851553" y="3331863"/>
                    </a:cubicBezTo>
                    <a:cubicBezTo>
                      <a:pt x="5859583" y="3343897"/>
                      <a:pt x="5867613" y="3359941"/>
                      <a:pt x="5875642" y="3371975"/>
                    </a:cubicBezTo>
                    <a:cubicBezTo>
                      <a:pt x="5883671" y="3388019"/>
                      <a:pt x="5891701" y="3400053"/>
                      <a:pt x="5899731" y="3416097"/>
                    </a:cubicBezTo>
                    <a:cubicBezTo>
                      <a:pt x="5931849" y="3480275"/>
                      <a:pt x="5959951" y="3544454"/>
                      <a:pt x="5980025" y="3608632"/>
                    </a:cubicBezTo>
                    <a:cubicBezTo>
                      <a:pt x="6020173" y="3745011"/>
                      <a:pt x="6036231" y="3873368"/>
                      <a:pt x="6024187" y="3981669"/>
                    </a:cubicBezTo>
                    <a:cubicBezTo>
                      <a:pt x="6020173" y="4005735"/>
                      <a:pt x="6016157" y="4029802"/>
                      <a:pt x="6012143" y="4053869"/>
                    </a:cubicBezTo>
                    <a:cubicBezTo>
                      <a:pt x="6004113" y="4089970"/>
                      <a:pt x="5992069" y="4122059"/>
                      <a:pt x="5980025" y="4154148"/>
                    </a:cubicBezTo>
                    <a:cubicBezTo>
                      <a:pt x="5967981" y="4186237"/>
                      <a:pt x="5951922" y="4218326"/>
                      <a:pt x="5935863" y="4246404"/>
                    </a:cubicBezTo>
                    <a:cubicBezTo>
                      <a:pt x="5931849" y="4254426"/>
                      <a:pt x="5923819" y="4266460"/>
                      <a:pt x="5919804" y="4274482"/>
                    </a:cubicBezTo>
                    <a:cubicBezTo>
                      <a:pt x="5907760" y="4294538"/>
                      <a:pt x="5891701" y="4310582"/>
                      <a:pt x="5879657" y="4330638"/>
                    </a:cubicBezTo>
                    <a:cubicBezTo>
                      <a:pt x="5871627" y="4338660"/>
                      <a:pt x="5863598" y="4346683"/>
                      <a:pt x="5855569" y="4354705"/>
                    </a:cubicBezTo>
                    <a:cubicBezTo>
                      <a:pt x="5602640" y="4639496"/>
                      <a:pt x="5108827" y="4747797"/>
                      <a:pt x="4683265" y="4703675"/>
                    </a:cubicBezTo>
                    <a:cubicBezTo>
                      <a:pt x="4647133" y="4699664"/>
                      <a:pt x="4606985" y="4695652"/>
                      <a:pt x="4570853" y="4691641"/>
                    </a:cubicBezTo>
                    <a:cubicBezTo>
                      <a:pt x="4546765" y="4687630"/>
                      <a:pt x="4522676" y="4679608"/>
                      <a:pt x="4502603" y="4675597"/>
                    </a:cubicBezTo>
                    <a:cubicBezTo>
                      <a:pt x="4490558" y="4675597"/>
                      <a:pt x="4478514" y="4671586"/>
                      <a:pt x="4466470" y="4667574"/>
                    </a:cubicBezTo>
                    <a:cubicBezTo>
                      <a:pt x="4442381" y="4663563"/>
                      <a:pt x="4422307" y="4659552"/>
                      <a:pt x="4398219" y="4651530"/>
                    </a:cubicBezTo>
                    <a:cubicBezTo>
                      <a:pt x="4386175" y="4647519"/>
                      <a:pt x="4378145" y="4643507"/>
                      <a:pt x="4366101" y="4639496"/>
                    </a:cubicBezTo>
                    <a:cubicBezTo>
                      <a:pt x="4321939" y="4627463"/>
                      <a:pt x="4281792" y="4611418"/>
                      <a:pt x="4237630" y="4595374"/>
                    </a:cubicBezTo>
                    <a:cubicBezTo>
                      <a:pt x="4209527" y="4587351"/>
                      <a:pt x="4181423" y="4575318"/>
                      <a:pt x="4153321" y="4563285"/>
                    </a:cubicBezTo>
                    <a:cubicBezTo>
                      <a:pt x="4052952" y="4523173"/>
                      <a:pt x="3948569" y="4479051"/>
                      <a:pt x="3848201" y="4434928"/>
                    </a:cubicBezTo>
                    <a:cubicBezTo>
                      <a:pt x="3555125" y="4318605"/>
                      <a:pt x="3250005" y="4222337"/>
                      <a:pt x="2940870" y="4302560"/>
                    </a:cubicBezTo>
                    <a:cubicBezTo>
                      <a:pt x="2900723" y="4314594"/>
                      <a:pt x="2860576" y="4330638"/>
                      <a:pt x="2824443" y="4346683"/>
                    </a:cubicBezTo>
                    <a:cubicBezTo>
                      <a:pt x="2804369" y="4354705"/>
                      <a:pt x="2784296" y="4362727"/>
                      <a:pt x="2768237" y="4370750"/>
                    </a:cubicBezTo>
                    <a:cubicBezTo>
                      <a:pt x="2704001" y="4402839"/>
                      <a:pt x="2647795" y="4434928"/>
                      <a:pt x="2583559" y="4458995"/>
                    </a:cubicBezTo>
                    <a:cubicBezTo>
                      <a:pt x="2551441" y="4475039"/>
                      <a:pt x="2515309" y="4491084"/>
                      <a:pt x="2479176" y="4499106"/>
                    </a:cubicBezTo>
                    <a:cubicBezTo>
                      <a:pt x="2137923" y="4607407"/>
                      <a:pt x="1788641" y="4479051"/>
                      <a:pt x="1583890" y="4218326"/>
                    </a:cubicBezTo>
                    <a:cubicBezTo>
                      <a:pt x="1571846" y="4202282"/>
                      <a:pt x="1563816" y="4190248"/>
                      <a:pt x="1551772" y="4174204"/>
                    </a:cubicBezTo>
                    <a:cubicBezTo>
                      <a:pt x="1543743" y="4162170"/>
                      <a:pt x="1535713" y="4146126"/>
                      <a:pt x="1527684" y="4134092"/>
                    </a:cubicBezTo>
                    <a:cubicBezTo>
                      <a:pt x="1515639" y="4114036"/>
                      <a:pt x="1503595" y="4089970"/>
                      <a:pt x="1491551" y="4069914"/>
                    </a:cubicBezTo>
                    <a:cubicBezTo>
                      <a:pt x="1487536" y="4057880"/>
                      <a:pt x="1479507" y="4041836"/>
                      <a:pt x="1475492" y="4029802"/>
                    </a:cubicBezTo>
                    <a:cubicBezTo>
                      <a:pt x="1471477" y="4025791"/>
                      <a:pt x="1471477" y="4021780"/>
                      <a:pt x="1467463" y="4013758"/>
                    </a:cubicBezTo>
                    <a:cubicBezTo>
                      <a:pt x="1391183" y="3825234"/>
                      <a:pt x="1326947" y="3620665"/>
                      <a:pt x="1122195" y="3536431"/>
                    </a:cubicBezTo>
                    <a:cubicBezTo>
                      <a:pt x="1094092" y="3528409"/>
                      <a:pt x="1070004" y="3516376"/>
                      <a:pt x="1041901" y="3512365"/>
                    </a:cubicBezTo>
                    <a:cubicBezTo>
                      <a:pt x="1029856" y="3508353"/>
                      <a:pt x="1013798" y="3504342"/>
                      <a:pt x="1001753" y="3504342"/>
                    </a:cubicBezTo>
                    <a:cubicBezTo>
                      <a:pt x="997739" y="3500331"/>
                      <a:pt x="993724" y="3500331"/>
                      <a:pt x="993724" y="3500331"/>
                    </a:cubicBezTo>
                    <a:cubicBezTo>
                      <a:pt x="925473" y="3488298"/>
                      <a:pt x="857222" y="3488298"/>
                      <a:pt x="792987" y="3484287"/>
                    </a:cubicBezTo>
                    <a:cubicBezTo>
                      <a:pt x="780942" y="3484287"/>
                      <a:pt x="772913" y="3484287"/>
                      <a:pt x="764883" y="3484287"/>
                    </a:cubicBezTo>
                    <a:cubicBezTo>
                      <a:pt x="748825" y="3484287"/>
                      <a:pt x="732766" y="3484287"/>
                      <a:pt x="712692" y="3480275"/>
                    </a:cubicBezTo>
                    <a:cubicBezTo>
                      <a:pt x="672545" y="3480275"/>
                      <a:pt x="628382" y="3480275"/>
                      <a:pt x="584220" y="3472253"/>
                    </a:cubicBezTo>
                    <a:cubicBezTo>
                      <a:pt x="519985" y="3464231"/>
                      <a:pt x="451734" y="3452197"/>
                      <a:pt x="387498" y="3424119"/>
                    </a:cubicBezTo>
                    <a:cubicBezTo>
                      <a:pt x="379469" y="3420108"/>
                      <a:pt x="371439" y="3416097"/>
                      <a:pt x="363410" y="3412086"/>
                    </a:cubicBezTo>
                    <a:cubicBezTo>
                      <a:pt x="347351" y="3404064"/>
                      <a:pt x="331292" y="3392030"/>
                      <a:pt x="315233" y="3384008"/>
                    </a:cubicBezTo>
                    <a:cubicBezTo>
                      <a:pt x="287130" y="3363952"/>
                      <a:pt x="263042" y="3343897"/>
                      <a:pt x="238953" y="3323841"/>
                    </a:cubicBezTo>
                    <a:cubicBezTo>
                      <a:pt x="222894" y="3311807"/>
                      <a:pt x="210850" y="3299774"/>
                      <a:pt x="202820" y="3287740"/>
                    </a:cubicBezTo>
                    <a:cubicBezTo>
                      <a:pt x="194791" y="3283729"/>
                      <a:pt x="190776" y="3275707"/>
                      <a:pt x="182747" y="3271696"/>
                    </a:cubicBezTo>
                    <a:cubicBezTo>
                      <a:pt x="174717" y="3259662"/>
                      <a:pt x="162673" y="3243618"/>
                      <a:pt x="150629" y="3231584"/>
                    </a:cubicBezTo>
                    <a:cubicBezTo>
                      <a:pt x="142599" y="3219551"/>
                      <a:pt x="130555" y="3207518"/>
                      <a:pt x="122526" y="3191473"/>
                    </a:cubicBezTo>
                    <a:cubicBezTo>
                      <a:pt x="110482" y="3175428"/>
                      <a:pt x="102452" y="3159384"/>
                      <a:pt x="90408" y="3143339"/>
                    </a:cubicBezTo>
                    <a:cubicBezTo>
                      <a:pt x="86393" y="3135317"/>
                      <a:pt x="82378" y="3123284"/>
                      <a:pt x="78364" y="3115261"/>
                    </a:cubicBezTo>
                    <a:cubicBezTo>
                      <a:pt x="70334" y="3103228"/>
                      <a:pt x="62305" y="3087183"/>
                      <a:pt x="58290" y="3075150"/>
                    </a:cubicBezTo>
                    <a:cubicBezTo>
                      <a:pt x="6098" y="2958827"/>
                      <a:pt x="-13975" y="2826459"/>
                      <a:pt x="10113" y="2698102"/>
                    </a:cubicBezTo>
                    <a:cubicBezTo>
                      <a:pt x="14128" y="2686069"/>
                      <a:pt x="18143" y="2670024"/>
                      <a:pt x="22157" y="2657991"/>
                    </a:cubicBezTo>
                    <a:cubicBezTo>
                      <a:pt x="22157" y="2653980"/>
                      <a:pt x="22157" y="2649968"/>
                      <a:pt x="22157" y="2645957"/>
                    </a:cubicBezTo>
                    <a:cubicBezTo>
                      <a:pt x="26172" y="2637935"/>
                      <a:pt x="30187" y="2625902"/>
                      <a:pt x="34202" y="2617879"/>
                    </a:cubicBezTo>
                    <a:cubicBezTo>
                      <a:pt x="34202" y="2613868"/>
                      <a:pt x="34202" y="2609857"/>
                      <a:pt x="38216" y="2605846"/>
                    </a:cubicBezTo>
                    <a:cubicBezTo>
                      <a:pt x="42231" y="2593812"/>
                      <a:pt x="42231" y="2585790"/>
                      <a:pt x="46246" y="2577768"/>
                    </a:cubicBezTo>
                    <a:cubicBezTo>
                      <a:pt x="50261" y="2573757"/>
                      <a:pt x="50261" y="2569746"/>
                      <a:pt x="54275" y="2565734"/>
                    </a:cubicBezTo>
                    <a:cubicBezTo>
                      <a:pt x="58290" y="2553701"/>
                      <a:pt x="62305" y="2545679"/>
                      <a:pt x="66319" y="2537656"/>
                    </a:cubicBezTo>
                    <a:cubicBezTo>
                      <a:pt x="66319" y="2533645"/>
                      <a:pt x="70334" y="2529634"/>
                      <a:pt x="70334" y="2525623"/>
                    </a:cubicBezTo>
                    <a:cubicBezTo>
                      <a:pt x="74349" y="2513590"/>
                      <a:pt x="82378" y="2501556"/>
                      <a:pt x="90408" y="2489523"/>
                    </a:cubicBezTo>
                    <a:cubicBezTo>
                      <a:pt x="90408" y="2485512"/>
                      <a:pt x="94423" y="2485512"/>
                      <a:pt x="94423" y="2481500"/>
                    </a:cubicBezTo>
                    <a:cubicBezTo>
                      <a:pt x="102452" y="2473478"/>
                      <a:pt x="106467" y="2465456"/>
                      <a:pt x="110482" y="2457434"/>
                    </a:cubicBezTo>
                    <a:cubicBezTo>
                      <a:pt x="114496" y="2449411"/>
                      <a:pt x="118511" y="2445400"/>
                      <a:pt x="122526" y="2441389"/>
                    </a:cubicBezTo>
                    <a:cubicBezTo>
                      <a:pt x="126541" y="2433367"/>
                      <a:pt x="130555" y="2429356"/>
                      <a:pt x="134570" y="2421333"/>
                    </a:cubicBezTo>
                    <a:cubicBezTo>
                      <a:pt x="138585" y="2417322"/>
                      <a:pt x="142599" y="2413311"/>
                      <a:pt x="146614" y="2409300"/>
                    </a:cubicBezTo>
                    <a:cubicBezTo>
                      <a:pt x="150629" y="2401278"/>
                      <a:pt x="154644" y="2397266"/>
                      <a:pt x="162673" y="2389244"/>
                    </a:cubicBezTo>
                    <a:cubicBezTo>
                      <a:pt x="166688" y="2385233"/>
                      <a:pt x="170703" y="2381222"/>
                      <a:pt x="174717" y="2377211"/>
                    </a:cubicBezTo>
                    <a:cubicBezTo>
                      <a:pt x="178732" y="2369188"/>
                      <a:pt x="186762" y="2361166"/>
                      <a:pt x="194791" y="2353144"/>
                    </a:cubicBezTo>
                    <a:cubicBezTo>
                      <a:pt x="198806" y="2349133"/>
                      <a:pt x="202820" y="2341110"/>
                      <a:pt x="210850" y="2337099"/>
                    </a:cubicBezTo>
                    <a:cubicBezTo>
                      <a:pt x="214865" y="2329077"/>
                      <a:pt x="222894" y="2325066"/>
                      <a:pt x="230924" y="2317043"/>
                    </a:cubicBezTo>
                    <a:cubicBezTo>
                      <a:pt x="234938" y="2313032"/>
                      <a:pt x="238953" y="2309021"/>
                      <a:pt x="242968" y="2305010"/>
                    </a:cubicBezTo>
                    <a:cubicBezTo>
                      <a:pt x="250997" y="2300999"/>
                      <a:pt x="255012" y="2296988"/>
                      <a:pt x="259027" y="2292977"/>
                    </a:cubicBezTo>
                    <a:cubicBezTo>
                      <a:pt x="267056" y="2288965"/>
                      <a:pt x="271071" y="2284954"/>
                      <a:pt x="275086" y="2280943"/>
                    </a:cubicBezTo>
                    <a:cubicBezTo>
                      <a:pt x="283115" y="2272921"/>
                      <a:pt x="287130" y="2268910"/>
                      <a:pt x="295159" y="2264899"/>
                    </a:cubicBezTo>
                    <a:cubicBezTo>
                      <a:pt x="299174" y="2260887"/>
                      <a:pt x="303189" y="2256876"/>
                      <a:pt x="311218" y="2252865"/>
                    </a:cubicBezTo>
                    <a:cubicBezTo>
                      <a:pt x="315233" y="2248854"/>
                      <a:pt x="323263" y="2244843"/>
                      <a:pt x="327277" y="2240832"/>
                    </a:cubicBezTo>
                    <a:cubicBezTo>
                      <a:pt x="371439" y="2216765"/>
                      <a:pt x="415601" y="2192698"/>
                      <a:pt x="463778" y="2172642"/>
                    </a:cubicBezTo>
                    <a:cubicBezTo>
                      <a:pt x="523999" y="2152587"/>
                      <a:pt x="588235" y="2136542"/>
                      <a:pt x="644441" y="2108464"/>
                    </a:cubicBezTo>
                    <a:cubicBezTo>
                      <a:pt x="873281" y="1980107"/>
                      <a:pt x="672545" y="1755483"/>
                      <a:pt x="648456" y="1574982"/>
                    </a:cubicBezTo>
                    <a:cubicBezTo>
                      <a:pt x="636412" y="1466681"/>
                      <a:pt x="652471" y="1354369"/>
                      <a:pt x="712692" y="1266124"/>
                    </a:cubicBezTo>
                    <a:cubicBezTo>
                      <a:pt x="909414" y="961277"/>
                      <a:pt x="1395197" y="1053533"/>
                      <a:pt x="1539728" y="692530"/>
                    </a:cubicBezTo>
                    <a:cubicBezTo>
                      <a:pt x="1632067" y="455872"/>
                      <a:pt x="1567831" y="155036"/>
                      <a:pt x="1848862" y="34702"/>
                    </a:cubicBezTo>
                    <a:cubicBezTo>
                      <a:pt x="1919120" y="3616"/>
                      <a:pt x="1989880" y="-4657"/>
                      <a:pt x="2060201" y="2300"/>
                    </a:cubicBezTo>
                    <a:close/>
                  </a:path>
                </a:pathLst>
              </a:custGeom>
              <a:gradFill rotWithShape="1">
                <a:gsLst>
                  <a:gs pos="0">
                    <a:srgbClr val="F4CF80"/>
                  </a:gs>
                  <a:gs pos="100000">
                    <a:schemeClr val="accent4">
                      <a:lumMod val="75000"/>
                    </a:schemeClr>
                  </a:gs>
                </a:gsLst>
                <a:lin ang="5400000" scaled="0"/>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pic>
            <p:nvPicPr>
              <p:cNvPr id="31" name="图片 30" descr="D:\AAAAA千库网\2.5D\千库网_2.5D书屋欢乐读书学习日常场景_元素编号11941553.png千库网_2.5D书屋欢乐读书学习日常场景_元素编号11941553"/>
              <p:cNvPicPr>
                <a:picLocks noChangeAspect="1"/>
              </p:cNvPicPr>
              <p:nvPr/>
            </p:nvPicPr>
            <p:blipFill>
              <a:blip r:embed="rId1"/>
              <a:srcRect r="12892" b="14695"/>
              <a:stretch>
                <a:fillRect/>
              </a:stretch>
            </p:blipFill>
            <p:spPr>
              <a:xfrm>
                <a:off x="10604" y="325"/>
                <a:ext cx="8721" cy="8542"/>
              </a:xfrm>
              <a:prstGeom prst="rect">
                <a:avLst/>
              </a:prstGeom>
            </p:spPr>
          </p:pic>
        </p:grpSp>
        <p:sp>
          <p:nvSpPr>
            <p:cNvPr id="32" name="椭圆 31"/>
            <p:cNvSpPr/>
            <p:nvPr/>
          </p:nvSpPr>
          <p:spPr>
            <a:xfrm>
              <a:off x="2362" y="9078"/>
              <a:ext cx="1460" cy="5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34" name="椭圆 33"/>
            <p:cNvSpPr/>
            <p:nvPr/>
          </p:nvSpPr>
          <p:spPr>
            <a:xfrm>
              <a:off x="5982" y="7982"/>
              <a:ext cx="1300" cy="5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40" name="文本框 39"/>
            <p:cNvSpPr txBox="1"/>
            <p:nvPr/>
          </p:nvSpPr>
          <p:spPr>
            <a:xfrm>
              <a:off x="8079" y="4279"/>
              <a:ext cx="10300" cy="3180"/>
            </a:xfrm>
            <a:prstGeom prst="rect">
              <a:avLst/>
            </a:prstGeom>
            <a:noFill/>
          </p:spPr>
          <p:txBody>
            <a:bodyPr wrap="none" rtlCol="0">
              <a:noAutofit/>
            </a:bodyPr>
            <a:lstStyle/>
            <a:p>
              <a:pPr algn="l"/>
              <a:r>
                <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sym typeface="+mn-ea"/>
                </a:rPr>
                <a:t>命名识别体模型</a:t>
              </a:r>
              <a:endPar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endParaRPr>
            </a:p>
            <a:p>
              <a:pPr algn="l"/>
              <a:r>
                <a:rPr lang="en-US" altLang="zh-CN"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rPr>
                <a:t>——</a:t>
              </a:r>
              <a:r>
                <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rPr>
                <a:t>基于条件随机场</a:t>
              </a:r>
              <a:endPar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endParaRPr>
            </a:p>
            <a:p>
              <a:endPar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endParaRPr>
            </a:p>
          </p:txBody>
        </p:sp>
        <p:sp>
          <p:nvSpPr>
            <p:cNvPr id="43" name="文本框 42"/>
            <p:cNvSpPr txBox="1"/>
            <p:nvPr/>
          </p:nvSpPr>
          <p:spPr>
            <a:xfrm>
              <a:off x="8252" y="7565"/>
              <a:ext cx="2680" cy="562"/>
            </a:xfrm>
            <a:prstGeom prst="roundRect">
              <a:avLst/>
            </a:prstGeom>
            <a:gradFill>
              <a:gsLst>
                <a:gs pos="0">
                  <a:srgbClr val="F1BD59"/>
                </a:gs>
                <a:gs pos="100000">
                  <a:srgbClr val="FFC000"/>
                </a:gs>
              </a:gsLst>
              <a:lin ang="5400000" scaled="0"/>
            </a:gradFill>
            <a:effectLst>
              <a:outerShdw blurRad="50800" dist="38100" dir="2700000" algn="tl" rotWithShape="0">
                <a:prstClr val="black">
                  <a:alpha val="40000"/>
                </a:prstClr>
              </a:outerShdw>
            </a:effectLst>
          </p:spPr>
          <p:txBody>
            <a:bodyPr wrap="square" rtlCol="0">
              <a:spAutoFit/>
            </a:bodyPr>
            <a:lstStyle/>
            <a:p>
              <a:pPr algn="dist"/>
              <a:r>
                <a:rPr lang="zh-CN" altLang="en-US" sz="1500">
                  <a:solidFill>
                    <a:schemeClr val="bg1"/>
                  </a:solidFill>
                  <a:latin typeface="思源宋体 Heavy" panose="02020900000000000000" charset="-122"/>
                  <a:ea typeface="思源宋体 Heavy" panose="02020900000000000000" charset="-122"/>
                  <a:cs typeface="思源宋体" panose="02020700000000000000" charset="-122"/>
                </a:rPr>
                <a:t>汇报人：</a:t>
              </a:r>
              <a:r>
                <a:rPr lang="zh-CN" altLang="en-US" sz="1500">
                  <a:solidFill>
                    <a:schemeClr val="bg1"/>
                  </a:solidFill>
                  <a:latin typeface="思源宋体 Heavy" panose="02020900000000000000" charset="-122"/>
                  <a:ea typeface="思源宋体 Heavy" panose="02020900000000000000" charset="-122"/>
                  <a:cs typeface="思源宋体" panose="02020700000000000000" charset="-122"/>
                </a:rPr>
                <a:t>叶飘飘</a:t>
              </a:r>
              <a:endParaRPr lang="zh-CN" altLang="en-US" sz="1500">
                <a:solidFill>
                  <a:schemeClr val="bg1"/>
                </a:solidFill>
                <a:latin typeface="思源宋体 Heavy" panose="02020900000000000000" charset="-122"/>
                <a:ea typeface="思源宋体 Heavy" panose="02020900000000000000" charset="-122"/>
                <a:cs typeface="思源宋体" panose="02020700000000000000" charset="-122"/>
              </a:endParaRPr>
            </a:p>
          </p:txBody>
        </p:sp>
        <p:sp>
          <p:nvSpPr>
            <p:cNvPr id="44" name="文本框 43"/>
            <p:cNvSpPr txBox="1"/>
            <p:nvPr/>
          </p:nvSpPr>
          <p:spPr>
            <a:xfrm>
              <a:off x="11287" y="7565"/>
              <a:ext cx="2680" cy="597"/>
            </a:xfrm>
            <a:prstGeom prst="roundRect">
              <a:avLst/>
            </a:prstGeom>
            <a:solidFill>
              <a:schemeClr val="bg1"/>
            </a:solidFill>
            <a:ln>
              <a:gradFill>
                <a:gsLst>
                  <a:gs pos="0">
                    <a:srgbClr val="F4CF80"/>
                  </a:gs>
                  <a:gs pos="100000">
                    <a:schemeClr val="accent4">
                      <a:lumMod val="75000"/>
                    </a:schemeClr>
                  </a:gs>
                </a:gsLst>
                <a:lin ang="5400000" scaled="1"/>
              </a:gradFill>
            </a:ln>
            <a:effectLst>
              <a:outerShdw blurRad="50800" dist="38100" dir="2700000" algn="tl" rotWithShape="0">
                <a:prstClr val="black">
                  <a:alpha val="40000"/>
                </a:prstClr>
              </a:outerShdw>
            </a:effectLst>
          </p:spPr>
          <p:txBody>
            <a:bodyPr wrap="square" rtlCol="0">
              <a:spAutoFit/>
            </a:bodyPr>
            <a:lstStyle/>
            <a:p>
              <a:pPr algn="dist"/>
              <a:r>
                <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时间：</a:t>
              </a:r>
              <a:r>
                <a:rPr lang="en-US" altLang="zh-CN"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2025</a:t>
              </a:r>
              <a:r>
                <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年</a:t>
              </a:r>
              <a:r>
                <a:rPr lang="en-US" altLang="zh-CN"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5</a:t>
              </a:r>
              <a:r>
                <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月</a:t>
              </a:r>
              <a:endPar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endParaRPr>
            </a:p>
          </p:txBody>
        </p:sp>
        <p:pic>
          <p:nvPicPr>
            <p:cNvPr id="45" name="图片 44" descr="303b343435303939363bc6f3d2b5c0edc4e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52" y="3104"/>
              <a:ext cx="1069" cy="1069"/>
            </a:xfrm>
            <a:prstGeom prst="rect">
              <a:avLst/>
            </a:prstGeom>
          </p:spPr>
        </p:pic>
        <p:pic>
          <p:nvPicPr>
            <p:cNvPr id="46" name="图片 45" descr="303b343435303939343bc6f3d2b5d7dad6bc"/>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49" y="3123"/>
              <a:ext cx="1050" cy="1050"/>
            </a:xfrm>
            <a:prstGeom prst="rect">
              <a:avLst/>
            </a:prstGeom>
          </p:spPr>
        </p:pic>
        <p:pic>
          <p:nvPicPr>
            <p:cNvPr id="47" name="图片 46" descr="303b343435313031303bb9dcc0edc4a3cabd"/>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99" y="3123"/>
              <a:ext cx="1050" cy="1050"/>
            </a:xfrm>
            <a:prstGeom prst="rect">
              <a:avLst/>
            </a:prstGeom>
          </p:spPr>
        </p:pic>
      </p:grpSp>
    </p:spTree>
    <p:custDataLst>
      <p:tags r:id="rId8"/>
    </p:custData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nodeType="afterEffect">
                                  <p:stCondLst>
                                    <p:cond delay="0"/>
                                  </p:stCondLst>
                                  <p:childTnLst>
                                    <p:set>
                                      <p:cBhvr>
                                        <p:cTn id="6" dur="500" fill="hold">
                                          <p:stCondLst>
                                            <p:cond delay="0"/>
                                          </p:stCondLst>
                                        </p:cTn>
                                        <p:tgtEl>
                                          <p:spTgt spid="56"/>
                                        </p:tgtEl>
                                        <p:attrNameLst>
                                          <p:attrName>style.visibility</p:attrName>
                                        </p:attrNameLst>
                                      </p:cBhvr>
                                      <p:to>
                                        <p:strVal val="visible"/>
                                      </p:to>
                                    </p:set>
                                    <p:animEffect transition="in" filter="plus(out)">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组合 56"/>
          <p:cNvGrpSpPr/>
          <p:nvPr>
            <p:custDataLst>
              <p:tags r:id="rId1"/>
            </p:custDataLst>
          </p:nvPr>
        </p:nvGrpSpPr>
        <p:grpSpPr>
          <a:xfrm>
            <a:off x="1367790" y="990600"/>
            <a:ext cx="9794875" cy="5077460"/>
            <a:chOff x="2472" y="1560"/>
            <a:chExt cx="15425" cy="7996"/>
          </a:xfrm>
        </p:grpSpPr>
        <p:pic>
          <p:nvPicPr>
            <p:cNvPr id="58" name="图片 57" descr="D:\AAAAA千库网\2.5D\千库网_2.5D卡通手绘世界读书日_元素编号10794766.png千库网_2.5D卡通手绘世界读书日_元素编号10794766"/>
            <p:cNvPicPr>
              <a:picLocks noChangeAspect="1"/>
            </p:cNvPicPr>
            <p:nvPr/>
          </p:nvPicPr>
          <p:blipFill>
            <a:blip r:embed="rId2"/>
            <a:srcRect/>
            <a:stretch>
              <a:fillRect/>
            </a:stretch>
          </p:blipFill>
          <p:spPr>
            <a:xfrm>
              <a:off x="2472" y="4000"/>
              <a:ext cx="5556" cy="5556"/>
            </a:xfrm>
            <a:prstGeom prst="rect">
              <a:avLst/>
            </a:prstGeom>
          </p:spPr>
        </p:pic>
        <p:grpSp>
          <p:nvGrpSpPr>
            <p:cNvPr id="60" name="组合 59"/>
            <p:cNvGrpSpPr/>
            <p:nvPr/>
          </p:nvGrpSpPr>
          <p:grpSpPr>
            <a:xfrm>
              <a:off x="10875" y="2293"/>
              <a:ext cx="5828" cy="822"/>
              <a:chOff x="10647" y="4418"/>
              <a:chExt cx="5828" cy="822"/>
            </a:xfrm>
          </p:grpSpPr>
          <p:grpSp>
            <p:nvGrpSpPr>
              <p:cNvPr id="61" name="组合 60"/>
              <p:cNvGrpSpPr/>
              <p:nvPr/>
            </p:nvGrpSpPr>
            <p:grpSpPr>
              <a:xfrm>
                <a:off x="10647" y="4490"/>
                <a:ext cx="785" cy="750"/>
                <a:chOff x="6121391" y="1876425"/>
                <a:chExt cx="767652" cy="733425"/>
              </a:xfrm>
            </p:grpSpPr>
            <p:sp>
              <p:nvSpPr>
                <p:cNvPr id="62" name="椭圆 61"/>
                <p:cNvSpPr/>
                <p:nvPr>
                  <p:custDataLst>
                    <p:tags r:id="rId3"/>
                  </p:custDataLst>
                </p:nvPr>
              </p:nvSpPr>
              <p:spPr>
                <a:xfrm>
                  <a:off x="6121391" y="1876425"/>
                  <a:ext cx="733425" cy="733425"/>
                </a:xfrm>
                <a:prstGeom prst="ellipse">
                  <a:avLst/>
                </a:prstGeom>
                <a:gradFill flip="none">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F6B400"/>
                    </a:solidFill>
                    <a:latin typeface="思源宋体" panose="02020700000000000000" charset="-122"/>
                    <a:ea typeface="思源宋体" panose="02020700000000000000" charset="-122"/>
                    <a:cs typeface="思源宋体" panose="02020700000000000000" charset="-122"/>
                  </a:endParaRPr>
                </a:p>
              </p:txBody>
            </p:sp>
            <p:sp>
              <p:nvSpPr>
                <p:cNvPr id="63" name="文本框 62"/>
                <p:cNvSpPr txBox="1"/>
                <p:nvPr>
                  <p:custDataLst>
                    <p:tags r:id="rId4"/>
                  </p:custDataLst>
                </p:nvPr>
              </p:nvSpPr>
              <p:spPr>
                <a:xfrm>
                  <a:off x="6121391" y="1946833"/>
                  <a:ext cx="767652" cy="614121"/>
                </a:xfrm>
                <a:prstGeom prst="rect">
                  <a:avLst/>
                </a:prstGeom>
                <a:noFill/>
              </p:spPr>
              <p:txBody>
                <a:bodyPr wrap="square" rtlCol="0">
                  <a:spAutoFit/>
                </a:bodyPr>
                <a:lstStyle/>
                <a:p>
                  <a:pPr algn="ctr"/>
                  <a:r>
                    <a:rPr lang="en-US" altLang="zh-CN" sz="2000" b="1" dirty="0">
                      <a:solidFill>
                        <a:schemeClr val="bg1"/>
                      </a:solidFill>
                      <a:latin typeface="思源宋体" panose="02020700000000000000" charset="-122"/>
                      <a:ea typeface="思源宋体" panose="02020700000000000000" charset="-122"/>
                      <a:cs typeface="思源宋体" panose="02020700000000000000" charset="-122"/>
                    </a:rPr>
                    <a:t>01</a:t>
                  </a:r>
                  <a:endParaRPr lang="en-US" altLang="zh-CN" sz="2000" b="1" dirty="0">
                    <a:solidFill>
                      <a:schemeClr val="bg1"/>
                    </a:solidFill>
                    <a:latin typeface="思源宋体" panose="02020700000000000000" charset="-122"/>
                    <a:ea typeface="思源宋体" panose="02020700000000000000" charset="-122"/>
                    <a:cs typeface="思源宋体" panose="02020700000000000000" charset="-122"/>
                  </a:endParaRPr>
                </a:p>
              </p:txBody>
            </p:sp>
          </p:grpSp>
          <p:sp>
            <p:nvSpPr>
              <p:cNvPr id="64" name="矩形 63"/>
              <p:cNvSpPr/>
              <p:nvPr>
                <p:custDataLst>
                  <p:tags r:id="rId5"/>
                </p:custDataLst>
              </p:nvPr>
            </p:nvSpPr>
            <p:spPr>
              <a:xfrm>
                <a:off x="11591" y="4418"/>
                <a:ext cx="4884" cy="450"/>
              </a:xfrm>
              <a:prstGeom prst="rect">
                <a:avLst/>
              </a:prstGeom>
            </p:spPr>
            <p:txBody>
              <a:bodyPr wrap="square">
                <a:spAutoFit/>
              </a:bodyPr>
              <a:lstStyle/>
              <a:p>
                <a:pPr algn="l"/>
                <a:r>
                  <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条件随机场</a:t>
                </a:r>
                <a:r>
                  <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基础</a:t>
                </a:r>
                <a:endPar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grpSp>
          <p:nvGrpSpPr>
            <p:cNvPr id="65" name="组合 64"/>
            <p:cNvGrpSpPr/>
            <p:nvPr/>
          </p:nvGrpSpPr>
          <p:grpSpPr>
            <a:xfrm>
              <a:off x="10875" y="4109"/>
              <a:ext cx="7022" cy="830"/>
              <a:chOff x="10647" y="6411"/>
              <a:chExt cx="7022" cy="830"/>
            </a:xfrm>
          </p:grpSpPr>
          <p:grpSp>
            <p:nvGrpSpPr>
              <p:cNvPr id="66" name="组合 65"/>
              <p:cNvGrpSpPr/>
              <p:nvPr/>
            </p:nvGrpSpPr>
            <p:grpSpPr>
              <a:xfrm>
                <a:off x="10647" y="6411"/>
                <a:ext cx="785" cy="750"/>
                <a:chOff x="6121391" y="1876425"/>
                <a:chExt cx="767652" cy="733425"/>
              </a:xfrm>
            </p:grpSpPr>
            <p:sp>
              <p:nvSpPr>
                <p:cNvPr id="67" name="椭圆 66"/>
                <p:cNvSpPr/>
                <p:nvPr>
                  <p:custDataLst>
                    <p:tags r:id="rId6"/>
                  </p:custDataLst>
                </p:nvPr>
              </p:nvSpPr>
              <p:spPr>
                <a:xfrm>
                  <a:off x="6121391" y="1876425"/>
                  <a:ext cx="733425" cy="733425"/>
                </a:xfrm>
                <a:prstGeom prst="ellipse">
                  <a:avLst/>
                </a:prstGeom>
                <a:gradFill flip="none">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F6B400"/>
                    </a:solidFill>
                    <a:latin typeface="思源宋体" panose="02020700000000000000" charset="-122"/>
                    <a:ea typeface="思源宋体" panose="02020700000000000000" charset="-122"/>
                    <a:cs typeface="思源宋体" panose="02020700000000000000" charset="-122"/>
                  </a:endParaRPr>
                </a:p>
              </p:txBody>
            </p:sp>
            <p:sp>
              <p:nvSpPr>
                <p:cNvPr id="68" name="文本框 67"/>
                <p:cNvSpPr txBox="1"/>
                <p:nvPr>
                  <p:custDataLst>
                    <p:tags r:id="rId7"/>
                  </p:custDataLst>
                </p:nvPr>
              </p:nvSpPr>
              <p:spPr>
                <a:xfrm>
                  <a:off x="6121391" y="1946833"/>
                  <a:ext cx="767652" cy="614121"/>
                </a:xfrm>
                <a:prstGeom prst="rect">
                  <a:avLst/>
                </a:prstGeom>
                <a:noFill/>
              </p:spPr>
              <p:txBody>
                <a:bodyPr wrap="square" rtlCol="0">
                  <a:spAutoFit/>
                </a:bodyPr>
                <a:lstStyle/>
                <a:p>
                  <a:pPr algn="ctr"/>
                  <a:r>
                    <a:rPr lang="en-US" altLang="zh-CN" sz="2000" b="1" dirty="0">
                      <a:solidFill>
                        <a:schemeClr val="bg1"/>
                      </a:solidFill>
                      <a:latin typeface="思源宋体" panose="02020700000000000000" charset="-122"/>
                      <a:ea typeface="思源宋体" panose="02020700000000000000" charset="-122"/>
                      <a:cs typeface="思源宋体" panose="02020700000000000000" charset="-122"/>
                    </a:rPr>
                    <a:t>02</a:t>
                  </a:r>
                  <a:endParaRPr lang="en-US" altLang="zh-CN" sz="2000" b="1" dirty="0">
                    <a:solidFill>
                      <a:schemeClr val="bg1"/>
                    </a:solidFill>
                    <a:latin typeface="思源宋体" panose="02020700000000000000" charset="-122"/>
                    <a:ea typeface="思源宋体" panose="02020700000000000000" charset="-122"/>
                    <a:cs typeface="思源宋体" panose="02020700000000000000" charset="-122"/>
                  </a:endParaRPr>
                </a:p>
              </p:txBody>
            </p:sp>
          </p:grpSp>
          <p:sp>
            <p:nvSpPr>
              <p:cNvPr id="69" name="矩形 68"/>
              <p:cNvSpPr/>
              <p:nvPr>
                <p:custDataLst>
                  <p:tags r:id="rId8"/>
                </p:custDataLst>
              </p:nvPr>
            </p:nvSpPr>
            <p:spPr>
              <a:xfrm>
                <a:off x="11591" y="6411"/>
                <a:ext cx="6078" cy="830"/>
              </a:xfrm>
              <a:prstGeom prst="rect">
                <a:avLst/>
              </a:prstGeom>
            </p:spPr>
            <p:txBody>
              <a:bodyPr wrap="square">
                <a:noAutofit/>
              </a:bodyPr>
              <a:lstStyle/>
              <a:p>
                <a:pPr algn="l"/>
                <a:r>
                  <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中文命名实体识别规范</a:t>
                </a:r>
                <a:endPar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grpSp>
          <p:nvGrpSpPr>
            <p:cNvPr id="71" name="组合 70"/>
            <p:cNvGrpSpPr/>
            <p:nvPr/>
          </p:nvGrpSpPr>
          <p:grpSpPr>
            <a:xfrm>
              <a:off x="10875" y="6015"/>
              <a:ext cx="5828" cy="822"/>
              <a:chOff x="10647" y="4490"/>
              <a:chExt cx="5828" cy="822"/>
            </a:xfrm>
          </p:grpSpPr>
          <p:grpSp>
            <p:nvGrpSpPr>
              <p:cNvPr id="72" name="组合 71"/>
              <p:cNvGrpSpPr/>
              <p:nvPr/>
            </p:nvGrpSpPr>
            <p:grpSpPr>
              <a:xfrm>
                <a:off x="10647" y="4490"/>
                <a:ext cx="785" cy="750"/>
                <a:chOff x="6121391" y="1876425"/>
                <a:chExt cx="767652" cy="733425"/>
              </a:xfrm>
            </p:grpSpPr>
            <p:sp>
              <p:nvSpPr>
                <p:cNvPr id="73" name="椭圆 72"/>
                <p:cNvSpPr/>
                <p:nvPr>
                  <p:custDataLst>
                    <p:tags r:id="rId9"/>
                  </p:custDataLst>
                </p:nvPr>
              </p:nvSpPr>
              <p:spPr>
                <a:xfrm>
                  <a:off x="6121391" y="1876425"/>
                  <a:ext cx="733425" cy="733425"/>
                </a:xfrm>
                <a:prstGeom prst="ellipse">
                  <a:avLst/>
                </a:prstGeom>
                <a:gradFill flip="none">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F6B400"/>
                    </a:solidFill>
                    <a:latin typeface="思源宋体" panose="02020700000000000000" charset="-122"/>
                    <a:ea typeface="思源宋体" panose="02020700000000000000" charset="-122"/>
                    <a:cs typeface="思源宋体" panose="02020700000000000000" charset="-122"/>
                  </a:endParaRPr>
                </a:p>
              </p:txBody>
            </p:sp>
            <p:sp>
              <p:nvSpPr>
                <p:cNvPr id="74" name="文本框 73"/>
                <p:cNvSpPr txBox="1"/>
                <p:nvPr>
                  <p:custDataLst>
                    <p:tags r:id="rId10"/>
                  </p:custDataLst>
                </p:nvPr>
              </p:nvSpPr>
              <p:spPr>
                <a:xfrm>
                  <a:off x="6121391" y="1946833"/>
                  <a:ext cx="767652" cy="614121"/>
                </a:xfrm>
                <a:prstGeom prst="rect">
                  <a:avLst/>
                </a:prstGeom>
                <a:noFill/>
              </p:spPr>
              <p:txBody>
                <a:bodyPr wrap="square" rtlCol="0">
                  <a:spAutoFit/>
                </a:bodyPr>
                <a:lstStyle/>
                <a:p>
                  <a:pPr algn="ctr"/>
                  <a:r>
                    <a:rPr lang="en-US" altLang="zh-CN" sz="2000" b="1" dirty="0">
                      <a:solidFill>
                        <a:schemeClr val="bg1"/>
                      </a:solidFill>
                      <a:latin typeface="思源宋体" panose="02020700000000000000" charset="-122"/>
                      <a:ea typeface="思源宋体" panose="02020700000000000000" charset="-122"/>
                      <a:cs typeface="思源宋体" panose="02020700000000000000" charset="-122"/>
                    </a:rPr>
                    <a:t>03</a:t>
                  </a:r>
                  <a:endParaRPr lang="en-US" altLang="zh-CN" sz="2000" b="1" dirty="0">
                    <a:solidFill>
                      <a:schemeClr val="bg1"/>
                    </a:solidFill>
                    <a:latin typeface="思源宋体" panose="02020700000000000000" charset="-122"/>
                    <a:ea typeface="思源宋体" panose="02020700000000000000" charset="-122"/>
                    <a:cs typeface="思源宋体" panose="02020700000000000000" charset="-122"/>
                  </a:endParaRPr>
                </a:p>
              </p:txBody>
            </p:sp>
          </p:grpSp>
          <p:sp>
            <p:nvSpPr>
              <p:cNvPr id="75" name="矩形 74"/>
              <p:cNvSpPr/>
              <p:nvPr>
                <p:custDataLst>
                  <p:tags r:id="rId11"/>
                </p:custDataLst>
              </p:nvPr>
            </p:nvSpPr>
            <p:spPr>
              <a:xfrm>
                <a:off x="11591" y="4490"/>
                <a:ext cx="4884" cy="822"/>
              </a:xfrm>
              <a:prstGeom prst="rect">
                <a:avLst/>
              </a:prstGeom>
            </p:spPr>
            <p:txBody>
              <a:bodyPr wrap="square">
                <a:spAutoFit/>
              </a:bodyPr>
              <a:lstStyle/>
              <a:p>
                <a:pPr algn="l"/>
                <a:r>
                  <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特征工程实现</a:t>
                </a:r>
                <a:endPar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grpSp>
          <p:nvGrpSpPr>
            <p:cNvPr id="77" name="组合 76"/>
            <p:cNvGrpSpPr/>
            <p:nvPr/>
          </p:nvGrpSpPr>
          <p:grpSpPr>
            <a:xfrm>
              <a:off x="10875" y="7759"/>
              <a:ext cx="5828" cy="822"/>
              <a:chOff x="10647" y="6411"/>
              <a:chExt cx="5828" cy="822"/>
            </a:xfrm>
          </p:grpSpPr>
          <p:grpSp>
            <p:nvGrpSpPr>
              <p:cNvPr id="78" name="组合 77"/>
              <p:cNvGrpSpPr/>
              <p:nvPr/>
            </p:nvGrpSpPr>
            <p:grpSpPr>
              <a:xfrm>
                <a:off x="10647" y="6411"/>
                <a:ext cx="785" cy="750"/>
                <a:chOff x="6121391" y="1876425"/>
                <a:chExt cx="767652" cy="733425"/>
              </a:xfrm>
            </p:grpSpPr>
            <p:sp>
              <p:nvSpPr>
                <p:cNvPr id="79" name="椭圆 78"/>
                <p:cNvSpPr/>
                <p:nvPr>
                  <p:custDataLst>
                    <p:tags r:id="rId12"/>
                  </p:custDataLst>
                </p:nvPr>
              </p:nvSpPr>
              <p:spPr>
                <a:xfrm>
                  <a:off x="6121391" y="1876425"/>
                  <a:ext cx="733425" cy="733425"/>
                </a:xfrm>
                <a:prstGeom prst="ellipse">
                  <a:avLst/>
                </a:prstGeom>
                <a:gradFill flip="none">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rgbClr val="F6B400"/>
                    </a:solidFill>
                    <a:latin typeface="思源宋体" panose="02020700000000000000" charset="-122"/>
                    <a:ea typeface="思源宋体" panose="02020700000000000000" charset="-122"/>
                    <a:cs typeface="思源宋体" panose="02020700000000000000" charset="-122"/>
                  </a:endParaRPr>
                </a:p>
              </p:txBody>
            </p:sp>
            <p:sp>
              <p:nvSpPr>
                <p:cNvPr id="80" name="文本框 79"/>
                <p:cNvSpPr txBox="1"/>
                <p:nvPr>
                  <p:custDataLst>
                    <p:tags r:id="rId13"/>
                  </p:custDataLst>
                </p:nvPr>
              </p:nvSpPr>
              <p:spPr>
                <a:xfrm>
                  <a:off x="6121391" y="1946833"/>
                  <a:ext cx="767652" cy="614121"/>
                </a:xfrm>
                <a:prstGeom prst="rect">
                  <a:avLst/>
                </a:prstGeom>
                <a:noFill/>
              </p:spPr>
              <p:txBody>
                <a:bodyPr wrap="square" rtlCol="0">
                  <a:spAutoFit/>
                </a:bodyPr>
                <a:lstStyle/>
                <a:p>
                  <a:pPr algn="ctr"/>
                  <a:r>
                    <a:rPr lang="en-US" altLang="zh-CN" sz="2000" b="1" dirty="0">
                      <a:solidFill>
                        <a:schemeClr val="bg1"/>
                      </a:solidFill>
                      <a:latin typeface="思源宋体" panose="02020700000000000000" charset="-122"/>
                      <a:ea typeface="思源宋体" panose="02020700000000000000" charset="-122"/>
                      <a:cs typeface="思源宋体" panose="02020700000000000000" charset="-122"/>
                    </a:rPr>
                    <a:t>04</a:t>
                  </a:r>
                  <a:endParaRPr lang="en-US" altLang="zh-CN" sz="2000" b="1" dirty="0">
                    <a:solidFill>
                      <a:schemeClr val="bg1"/>
                    </a:solidFill>
                    <a:latin typeface="思源宋体" panose="02020700000000000000" charset="-122"/>
                    <a:ea typeface="思源宋体" panose="02020700000000000000" charset="-122"/>
                    <a:cs typeface="思源宋体" panose="02020700000000000000" charset="-122"/>
                  </a:endParaRPr>
                </a:p>
              </p:txBody>
            </p:sp>
          </p:grpSp>
          <p:sp>
            <p:nvSpPr>
              <p:cNvPr id="81" name="矩形 80"/>
              <p:cNvSpPr/>
              <p:nvPr>
                <p:custDataLst>
                  <p:tags r:id="rId14"/>
                </p:custDataLst>
              </p:nvPr>
            </p:nvSpPr>
            <p:spPr>
              <a:xfrm>
                <a:off x="11591" y="6411"/>
                <a:ext cx="4884" cy="822"/>
              </a:xfrm>
              <a:prstGeom prst="rect">
                <a:avLst/>
              </a:prstGeom>
            </p:spPr>
            <p:txBody>
              <a:bodyPr wrap="square">
                <a:spAutoFit/>
              </a:bodyPr>
              <a:lstStyle/>
              <a:p>
                <a:pPr algn="l"/>
                <a:r>
                  <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模型训练与评估</a:t>
                </a:r>
                <a:endParaRPr lang="zh-CN" altLang="en-US" sz="2800" b="1"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sp>
          <p:nvSpPr>
            <p:cNvPr id="83" name="文本框 82"/>
            <p:cNvSpPr txBox="1"/>
            <p:nvPr/>
          </p:nvSpPr>
          <p:spPr>
            <a:xfrm>
              <a:off x="2615" y="1560"/>
              <a:ext cx="1317" cy="2470"/>
            </a:xfrm>
            <a:prstGeom prst="rect">
              <a:avLst/>
            </a:prstGeom>
            <a:noFill/>
          </p:spPr>
          <p:txBody>
            <a:bodyPr wrap="square" rtlCol="0">
              <a:spAutoFit/>
            </a:bodyPr>
            <a:lstStyle/>
            <a:p>
              <a:pPr algn="l"/>
              <a:r>
                <a:rPr lang="en-US" altLang="zh-CN" sz="9600">
                  <a:gradFill>
                    <a:gsLst>
                      <a:gs pos="0">
                        <a:srgbClr val="FFC000"/>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C</a:t>
              </a:r>
              <a:endParaRPr lang="en-US" altLang="zh-CN" sz="9600">
                <a:gradFill>
                  <a:gsLst>
                    <a:gs pos="0">
                      <a:srgbClr val="FFC000"/>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84" name="文本框 83"/>
            <p:cNvSpPr txBox="1"/>
            <p:nvPr/>
          </p:nvSpPr>
          <p:spPr>
            <a:xfrm>
              <a:off x="3972" y="2243"/>
              <a:ext cx="3601" cy="822"/>
            </a:xfrm>
            <a:prstGeom prst="rect">
              <a:avLst/>
            </a:prstGeom>
            <a:noFill/>
          </p:spPr>
          <p:txBody>
            <a:bodyPr wrap="square" rtlCol="0" anchor="t">
              <a:spAutoFit/>
            </a:bodyPr>
            <a:lstStyle/>
            <a:p>
              <a:pPr algn="l"/>
              <a:r>
                <a:rPr lang="en-US" altLang="zh-CN" sz="2800">
                  <a:solidFill>
                    <a:schemeClr val="tx1">
                      <a:lumMod val="65000"/>
                      <a:lumOff val="35000"/>
                    </a:schemeClr>
                  </a:solidFill>
                  <a:latin typeface="思源宋体 Heavy" panose="02020900000000000000" charset="-122"/>
                  <a:ea typeface="思源宋体 Heavy" panose="02020900000000000000" charset="-122"/>
                  <a:cs typeface="思源宋体" panose="02020700000000000000" charset="-122"/>
                  <a:sym typeface="+mn-ea"/>
                </a:rPr>
                <a:t>ONTENTS</a:t>
              </a:r>
              <a:endParaRPr lang="en-US" altLang="zh-CN" sz="2800">
                <a:solidFill>
                  <a:schemeClr val="tx1">
                    <a:lumMod val="65000"/>
                    <a:lumOff val="3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85" name="文本框 84"/>
            <p:cNvSpPr txBox="1"/>
            <p:nvPr/>
          </p:nvSpPr>
          <p:spPr>
            <a:xfrm>
              <a:off x="3932" y="2886"/>
              <a:ext cx="3452" cy="822"/>
            </a:xfrm>
            <a:prstGeom prst="rect">
              <a:avLst/>
            </a:prstGeom>
            <a:noFill/>
          </p:spPr>
          <p:txBody>
            <a:bodyPr wrap="square" rtlCol="0">
              <a:spAutoFit/>
            </a:bodyPr>
            <a:lstStyle/>
            <a:p>
              <a:pPr algn="dist"/>
              <a:r>
                <a:rPr lang="zh-CN" altLang="en-US" sz="2800" b="1">
                  <a:gradFill>
                    <a:gsLst>
                      <a:gs pos="0">
                        <a:srgbClr val="FFC000"/>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目录标题</a:t>
              </a:r>
              <a:endParaRPr lang="zh-CN" altLang="en-US" sz="2800" b="1">
                <a:gradFill>
                  <a:gsLst>
                    <a:gs pos="0">
                      <a:srgbClr val="FFC000"/>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endParaRPr>
            </a:p>
          </p:txBody>
        </p:sp>
      </p:grpSp>
      <p:sp>
        <p:nvSpPr>
          <p:cNvPr id="86" name="矩形 85"/>
          <p:cNvSpPr/>
          <p:nvPr/>
        </p:nvSpPr>
        <p:spPr>
          <a:xfrm>
            <a:off x="414655" y="398780"/>
            <a:ext cx="11363325" cy="606107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Tree>
    <p:custDataLst>
      <p:tags r:id="rId15"/>
    </p:custDataLst>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arn(inVertical)">
                                      <p:cBhvr>
                                        <p:cTn id="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14655" y="398780"/>
            <a:ext cx="11363325" cy="6061075"/>
            <a:chOff x="653" y="628"/>
            <a:chExt cx="17895" cy="9545"/>
          </a:xfrm>
        </p:grpSpPr>
        <p:pic>
          <p:nvPicPr>
            <p:cNvPr id="6" name="图片 5" descr="D:\AAAAA千库网\2.5D\千库网_世界读书日之拿放大镜看书的女孩免抠元素_元素编号11938896.png千库网_世界读书日之拿放大镜看书的女孩免抠元素_元素编号11938896"/>
            <p:cNvPicPr>
              <a:picLocks noChangeAspect="1"/>
            </p:cNvPicPr>
            <p:nvPr/>
          </p:nvPicPr>
          <p:blipFill>
            <a:blip r:embed="rId1"/>
            <a:srcRect/>
            <a:stretch>
              <a:fillRect/>
            </a:stretch>
          </p:blipFill>
          <p:spPr>
            <a:xfrm>
              <a:off x="11595" y="2245"/>
              <a:ext cx="6309" cy="6309"/>
            </a:xfrm>
            <a:prstGeom prst="rect">
              <a:avLst/>
            </a:prstGeom>
          </p:spPr>
        </p:pic>
        <p:grpSp>
          <p:nvGrpSpPr>
            <p:cNvPr id="5" name="组合 4"/>
            <p:cNvGrpSpPr/>
            <p:nvPr/>
          </p:nvGrpSpPr>
          <p:grpSpPr>
            <a:xfrm>
              <a:off x="1990" y="2330"/>
              <a:ext cx="8910" cy="4322"/>
              <a:chOff x="2104" y="2598"/>
              <a:chExt cx="8910" cy="4322"/>
            </a:xfrm>
          </p:grpSpPr>
          <p:sp>
            <p:nvSpPr>
              <p:cNvPr id="16" name="文本框 15"/>
              <p:cNvSpPr txBox="1"/>
              <p:nvPr/>
            </p:nvSpPr>
            <p:spPr>
              <a:xfrm>
                <a:off x="2104" y="5335"/>
                <a:ext cx="8910" cy="1585"/>
              </a:xfrm>
              <a:prstGeom prst="rect">
                <a:avLst/>
              </a:prstGeom>
              <a:noFill/>
            </p:spPr>
            <p:txBody>
              <a:bodyPr wrap="square" rtlCol="0">
                <a:spAutoFit/>
              </a:bodyPr>
              <a:lstStyle/>
              <a:p>
                <a:pPr algn="l"/>
                <a:r>
                  <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条件随机场基础</a:t>
                </a:r>
                <a:endPar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36" name="文本框 35"/>
              <p:cNvSpPr txBox="1"/>
              <p:nvPr/>
            </p:nvSpPr>
            <p:spPr>
              <a:xfrm>
                <a:off x="2214" y="2598"/>
                <a:ext cx="7560" cy="2737"/>
              </a:xfrm>
              <a:prstGeom prst="rect">
                <a:avLst/>
              </a:prstGeom>
              <a:noFill/>
            </p:spPr>
            <p:txBody>
              <a:bodyPr wrap="square" rtlCol="0">
                <a:spAutoFit/>
              </a:bodyPr>
              <a:lstStyle/>
              <a:p>
                <a:pPr algn="l"/>
                <a:r>
                  <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rPr>
                  <a:t>01</a:t>
                </a:r>
                <a:endPar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3" name="文本框 2"/>
              <p:cNvSpPr txBox="1"/>
              <p:nvPr/>
            </p:nvSpPr>
            <p:spPr>
              <a:xfrm>
                <a:off x="5157" y="3677"/>
                <a:ext cx="2122" cy="580"/>
              </a:xfrm>
              <a:prstGeom prst="rect">
                <a:avLst/>
              </a:prstGeom>
              <a:noFill/>
            </p:spPr>
            <p:txBody>
              <a:bodyPr wrap="none" rtlCol="0">
                <a:spAutoFit/>
              </a:bodyPr>
              <a:lstStyle/>
              <a:p>
                <a:r>
                  <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STEP ONE</a:t>
                </a:r>
                <a:endPar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sp>
          <p:nvSpPr>
            <p:cNvPr id="4" name="矩形 3"/>
            <p:cNvSpPr/>
            <p:nvPr/>
          </p:nvSpPr>
          <p:spPr>
            <a:xfrm>
              <a:off x="653" y="628"/>
              <a:ext cx="17895" cy="954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grpSp>
    </p:spTree>
    <p:custDataLst>
      <p:tags r:id="rId2"/>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custDataLst>
              <p:tags r:id="rId1"/>
            </p:custDataLst>
          </p:nvPr>
        </p:nvGrpSpPr>
        <p:grpSpPr>
          <a:xfrm>
            <a:off x="1268730" y="677458"/>
            <a:ext cx="10458450" cy="5442037"/>
            <a:chOff x="1998" y="1067"/>
            <a:chExt cx="16470" cy="8570"/>
          </a:xfrm>
        </p:grpSpPr>
        <p:sp>
          <p:nvSpPr>
            <p:cNvPr id="3" name="MH_Other_1"/>
            <p:cNvSpPr/>
            <p:nvPr>
              <p:custDataLst>
                <p:tags r:id="rId2"/>
              </p:custDataLst>
            </p:nvPr>
          </p:nvSpPr>
          <p:spPr bwMode="auto">
            <a:xfrm>
              <a:off x="3783" y="6067"/>
              <a:ext cx="2073" cy="3570"/>
            </a:xfrm>
            <a:custGeom>
              <a:avLst/>
              <a:gdLst>
                <a:gd name="T0" fmla="*/ 258 w 725"/>
                <a:gd name="T1" fmla="*/ 1251 h 1251"/>
                <a:gd name="T2" fmla="*/ 285 w 725"/>
                <a:gd name="T3" fmla="*/ 700 h 1251"/>
                <a:gd name="T4" fmla="*/ 0 w 725"/>
                <a:gd name="T5" fmla="*/ 315 h 1251"/>
                <a:gd name="T6" fmla="*/ 46 w 725"/>
                <a:gd name="T7" fmla="*/ 273 h 1251"/>
                <a:gd name="T8" fmla="*/ 314 w 725"/>
                <a:gd name="T9" fmla="*/ 578 h 1251"/>
                <a:gd name="T10" fmla="*/ 344 w 725"/>
                <a:gd name="T11" fmla="*/ 0 h 1251"/>
                <a:gd name="T12" fmla="*/ 412 w 725"/>
                <a:gd name="T13" fmla="*/ 0 h 1251"/>
                <a:gd name="T14" fmla="*/ 440 w 725"/>
                <a:gd name="T15" fmla="*/ 377 h 1251"/>
                <a:gd name="T16" fmla="*/ 675 w 725"/>
                <a:gd name="T17" fmla="*/ 126 h 1251"/>
                <a:gd name="T18" fmla="*/ 725 w 725"/>
                <a:gd name="T19" fmla="*/ 193 h 1251"/>
                <a:gd name="T20" fmla="*/ 478 w 725"/>
                <a:gd name="T21" fmla="*/ 490 h 1251"/>
                <a:gd name="T22" fmla="*/ 461 w 725"/>
                <a:gd name="T23" fmla="*/ 788 h 1251"/>
                <a:gd name="T24" fmla="*/ 507 w 725"/>
                <a:gd name="T25" fmla="*/ 1245 h 1251"/>
                <a:gd name="T26" fmla="*/ 258 w 725"/>
                <a:gd name="T27" fmla="*/ 1251 h 1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5" h="1251">
                  <a:moveTo>
                    <a:pt x="258" y="1251"/>
                  </a:moveTo>
                  <a:cubicBezTo>
                    <a:pt x="258" y="1251"/>
                    <a:pt x="323" y="826"/>
                    <a:pt x="285" y="700"/>
                  </a:cubicBezTo>
                  <a:cubicBezTo>
                    <a:pt x="0" y="315"/>
                    <a:pt x="0" y="315"/>
                    <a:pt x="0" y="315"/>
                  </a:cubicBezTo>
                  <a:cubicBezTo>
                    <a:pt x="46" y="273"/>
                    <a:pt x="46" y="273"/>
                    <a:pt x="46" y="273"/>
                  </a:cubicBezTo>
                  <a:cubicBezTo>
                    <a:pt x="314" y="578"/>
                    <a:pt x="314" y="578"/>
                    <a:pt x="314" y="578"/>
                  </a:cubicBezTo>
                  <a:cubicBezTo>
                    <a:pt x="344" y="0"/>
                    <a:pt x="344" y="0"/>
                    <a:pt x="344" y="0"/>
                  </a:cubicBezTo>
                  <a:cubicBezTo>
                    <a:pt x="412" y="0"/>
                    <a:pt x="412" y="0"/>
                    <a:pt x="412" y="0"/>
                  </a:cubicBezTo>
                  <a:cubicBezTo>
                    <a:pt x="440" y="377"/>
                    <a:pt x="440" y="377"/>
                    <a:pt x="440" y="377"/>
                  </a:cubicBezTo>
                  <a:cubicBezTo>
                    <a:pt x="675" y="126"/>
                    <a:pt x="675" y="126"/>
                    <a:pt x="675" y="126"/>
                  </a:cubicBezTo>
                  <a:cubicBezTo>
                    <a:pt x="725" y="193"/>
                    <a:pt x="725" y="193"/>
                    <a:pt x="725" y="193"/>
                  </a:cubicBezTo>
                  <a:cubicBezTo>
                    <a:pt x="478" y="490"/>
                    <a:pt x="478" y="490"/>
                    <a:pt x="478" y="490"/>
                  </a:cubicBezTo>
                  <a:cubicBezTo>
                    <a:pt x="478" y="490"/>
                    <a:pt x="436" y="490"/>
                    <a:pt x="461" y="788"/>
                  </a:cubicBezTo>
                  <a:cubicBezTo>
                    <a:pt x="486" y="1085"/>
                    <a:pt x="507" y="1245"/>
                    <a:pt x="507" y="1245"/>
                  </a:cubicBezTo>
                  <a:cubicBezTo>
                    <a:pt x="258" y="1251"/>
                    <a:pt x="258" y="1251"/>
                    <a:pt x="258" y="1251"/>
                  </a:cubicBezTo>
                </a:path>
              </a:pathLst>
            </a:custGeom>
            <a:solidFill>
              <a:schemeClr val="bg2">
                <a:lumMod val="85000"/>
              </a:schemeClr>
            </a:solidFill>
            <a:ln>
              <a:noFill/>
            </a:ln>
          </p:spPr>
          <p:txBody>
            <a:bodyPr/>
            <a:lstStyle/>
            <a:p>
              <a:pPr>
                <a:defRPr/>
              </a:pPr>
              <a:endParaRPr lang="zh-CN" altLang="en-US">
                <a:cs typeface="思源宋体" panose="02020700000000000000" charset="-122"/>
              </a:endParaRPr>
            </a:p>
          </p:txBody>
        </p:sp>
        <p:sp>
          <p:nvSpPr>
            <p:cNvPr id="5" name="MH_Other_3"/>
            <p:cNvSpPr>
              <a:spLocks noChangeArrowheads="1"/>
            </p:cNvSpPr>
            <p:nvPr>
              <p:custDataLst>
                <p:tags r:id="rId3"/>
              </p:custDataLst>
            </p:nvPr>
          </p:nvSpPr>
          <p:spPr bwMode="auto">
            <a:xfrm>
              <a:off x="3048" y="2772"/>
              <a:ext cx="3510" cy="3510"/>
            </a:xfrm>
            <a:prstGeom prst="ellipse">
              <a:avLst/>
            </a:prstGeom>
            <a:noFill/>
            <a:ln w="6350">
              <a:gradFill>
                <a:gsLst>
                  <a:gs pos="0">
                    <a:srgbClr val="F1BD59"/>
                  </a:gs>
                  <a:gs pos="100000">
                    <a:schemeClr val="accent4">
                      <a:lumMod val="75000"/>
                    </a:schemeClr>
                  </a:gs>
                </a:gsLst>
                <a:lin ang="5400000" scaled="1"/>
              </a:gradFill>
            </a:ln>
          </p:spPr>
          <p:txBody>
            <a:bodyPr/>
            <a:lstStyle/>
            <a:p>
              <a:pPr>
                <a:defRPr/>
              </a:pPr>
              <a:endParaRPr lang="zh-CN" altLang="en-US">
                <a:cs typeface="思源宋体" panose="02020700000000000000" charset="-122"/>
              </a:endParaRPr>
            </a:p>
          </p:txBody>
        </p:sp>
        <p:sp>
          <p:nvSpPr>
            <p:cNvPr id="4" name="MH_SubTitle_1"/>
            <p:cNvSpPr>
              <a:spLocks noChangeArrowheads="1"/>
            </p:cNvSpPr>
            <p:nvPr>
              <p:custDataLst>
                <p:tags r:id="rId4"/>
              </p:custDataLst>
            </p:nvPr>
          </p:nvSpPr>
          <p:spPr bwMode="auto">
            <a:xfrm>
              <a:off x="3318" y="3047"/>
              <a:ext cx="2965" cy="2962"/>
            </a:xfrm>
            <a:prstGeom prst="ellipse">
              <a:avLst/>
            </a:prstGeom>
            <a:gradFill>
              <a:gsLst>
                <a:gs pos="0">
                  <a:schemeClr val="accent4">
                    <a:lumMod val="75000"/>
                  </a:schemeClr>
                </a:gs>
                <a:gs pos="100000">
                  <a:srgbClr val="F1BD59"/>
                </a:gs>
              </a:gsLst>
              <a:lin ang="5400000" scaled="0"/>
            </a:gradFill>
            <a:ln>
              <a:noFill/>
            </a:ln>
          </p:spPr>
          <p:txBody>
            <a:bodyPr lIns="0" tIns="0" rIns="0" bIns="0" anchor="ctr">
              <a:normAutofit/>
            </a:bodyPr>
            <a:lstStyle/>
            <a:p>
              <a:pPr algn="ctr">
                <a:spcAft>
                  <a:spcPts val="600"/>
                </a:spcAft>
                <a:defRPr/>
              </a:pPr>
              <a:endParaRPr lang="en-US" altLang="zh-CN" dirty="0">
                <a:solidFill>
                  <a:srgbClr val="FFFFFF"/>
                </a:solidFill>
                <a:latin typeface="思源宋体" panose="02020700000000000000" charset="-122"/>
                <a:ea typeface="思源宋体" panose="02020700000000000000" charset="-122"/>
                <a:cs typeface="思源宋体" panose="02020700000000000000" charset="-122"/>
              </a:endParaRPr>
            </a:p>
          </p:txBody>
        </p:sp>
        <p:sp>
          <p:nvSpPr>
            <p:cNvPr id="8" name="MH_Other_4"/>
            <p:cNvSpPr>
              <a:spLocks noChangeArrowheads="1"/>
            </p:cNvSpPr>
            <p:nvPr>
              <p:custDataLst>
                <p:tags r:id="rId5"/>
              </p:custDataLst>
            </p:nvPr>
          </p:nvSpPr>
          <p:spPr bwMode="auto">
            <a:xfrm>
              <a:off x="5667" y="5456"/>
              <a:ext cx="1587" cy="1590"/>
            </a:xfrm>
            <a:prstGeom prst="ellipse">
              <a:avLst/>
            </a:prstGeom>
            <a:gradFill>
              <a:gsLst>
                <a:gs pos="0">
                  <a:schemeClr val="accent4">
                    <a:lumMod val="75000"/>
                  </a:schemeClr>
                </a:gs>
                <a:gs pos="100000">
                  <a:srgbClr val="F1BD59"/>
                </a:gs>
              </a:gsLst>
              <a:lin ang="5400000" scaled="0"/>
            </a:gradFill>
            <a:ln>
              <a:noFill/>
            </a:ln>
          </p:spPr>
          <p:txBody>
            <a:bodyPr lIns="0" tIns="0" rIns="0" bIns="0" anchor="ctr">
              <a:normAutofit/>
            </a:bodyPr>
            <a:lstStyle/>
            <a:p>
              <a:pPr algn="ctr">
                <a:spcAft>
                  <a:spcPts val="600"/>
                </a:spcAft>
                <a:defRPr/>
              </a:pPr>
              <a:endParaRPr lang="en-US" altLang="zh-CN" dirty="0">
                <a:solidFill>
                  <a:srgbClr val="FFFFFF"/>
                </a:solidFill>
                <a:latin typeface="思源宋体" panose="02020700000000000000" charset="-122"/>
                <a:ea typeface="思源宋体" panose="02020700000000000000" charset="-122"/>
                <a:cs typeface="思源宋体" panose="02020700000000000000" charset="-122"/>
              </a:endParaRPr>
            </a:p>
          </p:txBody>
        </p:sp>
        <p:sp>
          <p:nvSpPr>
            <p:cNvPr id="9" name="MH_Other_5"/>
            <p:cNvSpPr>
              <a:spLocks noChangeArrowheads="1"/>
            </p:cNvSpPr>
            <p:nvPr>
              <p:custDataLst>
                <p:tags r:id="rId6"/>
              </p:custDataLst>
            </p:nvPr>
          </p:nvSpPr>
          <p:spPr bwMode="auto">
            <a:xfrm>
              <a:off x="1998" y="5242"/>
              <a:ext cx="2600" cy="2595"/>
            </a:xfrm>
            <a:prstGeom prst="ellipse">
              <a:avLst/>
            </a:prstGeom>
            <a:noFill/>
            <a:ln w="6350">
              <a:gradFill>
                <a:gsLst>
                  <a:gs pos="0">
                    <a:srgbClr val="F1BD59"/>
                  </a:gs>
                  <a:gs pos="100000">
                    <a:schemeClr val="accent4">
                      <a:lumMod val="75000"/>
                    </a:schemeClr>
                  </a:gs>
                </a:gsLst>
                <a:lin ang="5400000" scaled="1"/>
              </a:gradFill>
            </a:ln>
          </p:spPr>
          <p:txBody>
            <a:bodyPr/>
            <a:lstStyle/>
            <a:p>
              <a:pPr>
                <a:defRPr/>
              </a:pPr>
              <a:endParaRPr lang="zh-CN" altLang="en-US">
                <a:cs typeface="思源宋体" panose="02020700000000000000" charset="-122"/>
              </a:endParaRPr>
            </a:p>
          </p:txBody>
        </p:sp>
        <p:sp>
          <p:nvSpPr>
            <p:cNvPr id="10" name="MH_SubTitle_2"/>
            <p:cNvSpPr>
              <a:spLocks noChangeArrowheads="1"/>
            </p:cNvSpPr>
            <p:nvPr>
              <p:custDataLst>
                <p:tags r:id="rId7"/>
              </p:custDataLst>
            </p:nvPr>
          </p:nvSpPr>
          <p:spPr bwMode="auto">
            <a:xfrm>
              <a:off x="2236" y="5479"/>
              <a:ext cx="2125" cy="2123"/>
            </a:xfrm>
            <a:prstGeom prst="ellipse">
              <a:avLst/>
            </a:prstGeom>
            <a:gradFill>
              <a:gsLst>
                <a:gs pos="0">
                  <a:schemeClr val="accent4">
                    <a:lumMod val="75000"/>
                  </a:schemeClr>
                </a:gs>
                <a:gs pos="100000">
                  <a:srgbClr val="F1BD59"/>
                </a:gs>
              </a:gsLst>
              <a:lin ang="5400000" scaled="0"/>
            </a:gradFill>
            <a:ln>
              <a:noFill/>
            </a:ln>
          </p:spPr>
          <p:txBody>
            <a:bodyPr lIns="0" tIns="0" rIns="0" bIns="0" anchor="ctr">
              <a:normAutofit/>
            </a:bodyPr>
            <a:lstStyle/>
            <a:p>
              <a:pPr algn="ctr">
                <a:spcAft>
                  <a:spcPts val="600"/>
                </a:spcAft>
                <a:defRPr/>
              </a:pPr>
              <a:endParaRPr lang="en-US" altLang="zh-CN" dirty="0">
                <a:solidFill>
                  <a:srgbClr val="FFFFFF"/>
                </a:solidFill>
                <a:latin typeface="思源宋体" panose="02020700000000000000" charset="-122"/>
                <a:ea typeface="思源宋体" panose="02020700000000000000" charset="-122"/>
                <a:cs typeface="思源宋体" panose="02020700000000000000" charset="-122"/>
              </a:endParaRPr>
            </a:p>
          </p:txBody>
        </p:sp>
        <p:sp>
          <p:nvSpPr>
            <p:cNvPr id="7" name="MH_Other_5"/>
            <p:cNvSpPr>
              <a:spLocks noChangeArrowheads="1"/>
            </p:cNvSpPr>
            <p:nvPr>
              <p:custDataLst>
                <p:tags r:id="rId8"/>
              </p:custDataLst>
            </p:nvPr>
          </p:nvSpPr>
          <p:spPr bwMode="auto">
            <a:xfrm>
              <a:off x="5474" y="5266"/>
              <a:ext cx="1974" cy="1971"/>
            </a:xfrm>
            <a:prstGeom prst="ellipse">
              <a:avLst/>
            </a:prstGeom>
            <a:noFill/>
            <a:ln w="6350">
              <a:gradFill>
                <a:gsLst>
                  <a:gs pos="0">
                    <a:srgbClr val="F1BD59"/>
                  </a:gs>
                  <a:gs pos="100000">
                    <a:schemeClr val="accent4">
                      <a:lumMod val="75000"/>
                    </a:schemeClr>
                  </a:gs>
                </a:gsLst>
                <a:lin ang="5400000" scaled="1"/>
              </a:gradFill>
            </a:ln>
          </p:spPr>
          <p:txBody>
            <a:bodyPr/>
            <a:lstStyle/>
            <a:p>
              <a:pPr>
                <a:defRPr/>
              </a:pPr>
              <a:endParaRPr lang="zh-CN" altLang="en-US">
                <a:cs typeface="思源宋体" panose="02020700000000000000" charset="-122"/>
              </a:endParaRPr>
            </a:p>
          </p:txBody>
        </p:sp>
        <p:grpSp>
          <p:nvGrpSpPr>
            <p:cNvPr id="47" name="组合 46"/>
            <p:cNvGrpSpPr/>
            <p:nvPr/>
          </p:nvGrpSpPr>
          <p:grpSpPr>
            <a:xfrm>
              <a:off x="8427" y="1067"/>
              <a:ext cx="882" cy="3760"/>
              <a:chOff x="4384" y="295"/>
              <a:chExt cx="1184" cy="5046"/>
            </a:xfrm>
          </p:grpSpPr>
          <p:sp>
            <p:nvSpPr>
              <p:cNvPr id="11" name="圆角矩形 10"/>
              <p:cNvSpPr/>
              <p:nvPr>
                <p:custDataLst>
                  <p:tags r:id="rId9"/>
                </p:custDataLst>
              </p:nvPr>
            </p:nvSpPr>
            <p:spPr>
              <a:xfrm>
                <a:off x="4384" y="2758"/>
                <a:ext cx="769" cy="2583"/>
              </a:xfrm>
              <a:prstGeom prst="roundRect">
                <a:avLst/>
              </a:prstGeom>
              <a:gradFill>
                <a:gsLst>
                  <a:gs pos="0">
                    <a:srgbClr val="F1BD59"/>
                  </a:gs>
                  <a:gs pos="100000">
                    <a:schemeClr val="accent4">
                      <a:lumMod val="75000"/>
                    </a:schemeClr>
                  </a:gs>
                </a:gsLst>
                <a:lin ang="5400000" scaled="0"/>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思源宋体" panose="02020700000000000000" charset="-122"/>
                  </a:rPr>
                  <a:t>案例</a:t>
                </a:r>
                <a:r>
                  <a:rPr lang="zh-CN" altLang="en-US">
                    <a:cs typeface="思源宋体" panose="02020700000000000000" charset="-122"/>
                  </a:rPr>
                  <a:t>描述</a:t>
                </a:r>
                <a:endParaRPr lang="zh-CN" altLang="en-US">
                  <a:cs typeface="思源宋体" panose="02020700000000000000" charset="-122"/>
                </a:endParaRPr>
              </a:p>
            </p:txBody>
          </p:sp>
          <p:pic>
            <p:nvPicPr>
              <p:cNvPr id="35" name="图片 34" descr="3506555"/>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4798" y="295"/>
                <a:ext cx="770" cy="770"/>
              </a:xfrm>
              <a:prstGeom prst="rect">
                <a:avLst/>
              </a:prstGeom>
            </p:spPr>
          </p:pic>
        </p:grpSp>
        <p:sp>
          <p:nvSpPr>
            <p:cNvPr id="19" name="文本框 18"/>
            <p:cNvSpPr txBox="1"/>
            <p:nvPr>
              <p:custDataLst>
                <p:tags r:id="rId13"/>
              </p:custDataLst>
            </p:nvPr>
          </p:nvSpPr>
          <p:spPr>
            <a:xfrm>
              <a:off x="9309" y="3067"/>
              <a:ext cx="9159" cy="1598"/>
            </a:xfrm>
            <a:prstGeom prst="rect">
              <a:avLst/>
            </a:prstGeom>
            <a:noFill/>
          </p:spPr>
          <p:txBody>
            <a:bodyPr wrap="square" rtlCol="0">
              <a:spAutoFit/>
            </a:bodyPr>
            <a:lstStyle/>
            <a:p>
              <a:pPr marL="285750" indent="-28575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小明一天的照片流：工作→吃饭→唱歌→跑步→开会</a:t>
              </a:r>
              <a:r>
                <a:rPr lang="en-US" altLang="zh-CN" sz="1600" dirty="0">
                  <a:latin typeface="Times New Roman" panose="02020603050405020304" pitchFamily="18" charset="0"/>
                  <a:cs typeface="Times New Roman" panose="02020603050405020304" pitchFamily="18" charset="0"/>
                  <a:sym typeface="+mn-ea"/>
                </a:rPr>
                <a:t>...</a:t>
              </a:r>
              <a:endParaRPr lang="en-US" altLang="zh-CN" sz="1600" dirty="0">
                <a:latin typeface="Times New Roman" panose="02020603050405020304" pitchFamily="18" charset="0"/>
                <a:cs typeface="Times New Roman" panose="02020603050405020304" pitchFamily="18" charset="0"/>
                <a:sym typeface="+mn-ea"/>
              </a:endParaRPr>
            </a:p>
            <a:p>
              <a:pPr marL="285750" indent="-28575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每张照片需标记活动标签（如</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吃饭、</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跑步）</a:t>
              </a:r>
              <a:endParaRPr lang="zh-CN" altLang="en-US" sz="1600" dirty="0">
                <a:latin typeface="Times New Roman" panose="02020603050405020304" pitchFamily="18" charset="0"/>
                <a:cs typeface="Times New Roman" panose="02020603050405020304" pitchFamily="18" charset="0"/>
                <a:sym typeface="+mn-ea"/>
              </a:endParaRPr>
            </a:p>
            <a:p>
              <a:pPr marL="285750" indent="-28575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传统方法的缺陷：仅依赖单张照片特征（画面内容、动作）</a:t>
              </a:r>
              <a:endParaRPr lang="zh-CN" altLang="en-US" sz="1600" dirty="0">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20" name="文本框 19"/>
            <p:cNvSpPr txBox="1"/>
            <p:nvPr>
              <p:custDataLst>
                <p:tags r:id="rId14"/>
              </p:custDataLst>
            </p:nvPr>
          </p:nvSpPr>
          <p:spPr>
            <a:xfrm>
              <a:off x="9309" y="5581"/>
              <a:ext cx="8397" cy="1598"/>
            </a:xfrm>
            <a:prstGeom prst="rect">
              <a:avLst/>
            </a:prstGeom>
            <a:noFill/>
          </p:spPr>
          <p:txBody>
            <a:bodyPr wrap="square" rtlCol="0">
              <a:spAutoFit/>
            </a:bodyPr>
            <a:lstStyle/>
            <a:p>
              <a:pPr marL="342900" indent="-34290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闭着嘴的照片如何分类？</a:t>
              </a:r>
              <a:endParaRPr lang="en-US" altLang="zh-CN" sz="1600" dirty="0">
                <a:latin typeface="Times New Roman" panose="02020603050405020304" pitchFamily="18" charset="0"/>
                <a:cs typeface="Times New Roman" panose="02020603050405020304" pitchFamily="18" charset="0"/>
              </a:endParaRPr>
            </a:p>
            <a:p>
              <a:pPr marL="342900" lvl="0" indent="-34290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若前序是吃饭 → 可能在咀嚼</a:t>
              </a:r>
              <a:endParaRPr lang="en-US" altLang="zh-CN" sz="1600" dirty="0">
                <a:latin typeface="Times New Roman" panose="02020603050405020304" pitchFamily="18" charset="0"/>
                <a:cs typeface="Times New Roman" panose="02020603050405020304" pitchFamily="18" charset="0"/>
              </a:endParaRPr>
            </a:p>
            <a:p>
              <a:pPr marL="342900" lvl="0" indent="-34290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若前序是唱歌 → 可能在发声</a:t>
              </a:r>
              <a:endParaRPr lang="zh-CN" altLang="en-US" sz="1600" dirty="0">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21" name="文本框 20"/>
            <p:cNvSpPr txBox="1"/>
            <p:nvPr>
              <p:custDataLst>
                <p:tags r:id="rId15"/>
              </p:custDataLst>
            </p:nvPr>
          </p:nvSpPr>
          <p:spPr>
            <a:xfrm>
              <a:off x="9309" y="8485"/>
              <a:ext cx="7738" cy="628"/>
            </a:xfrm>
            <a:prstGeom prst="rect">
              <a:avLst/>
            </a:prstGeom>
            <a:noFill/>
          </p:spPr>
          <p:txBody>
            <a:bodyPr wrap="square" rtlCol="0">
              <a:spAutoFit/>
            </a:bodyPr>
            <a:lstStyle/>
            <a:p>
              <a:pPr marL="342900" indent="-342900">
                <a:lnSpc>
                  <a:spcPct val="125000"/>
                </a:lnSpc>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sym typeface="+mn-ea"/>
                </a:rPr>
                <a:t>如何利用</a:t>
              </a:r>
              <a:r>
                <a:rPr lang="zh-CN" altLang="en-US" sz="1600" b="1" dirty="0">
                  <a:latin typeface="Times New Roman" panose="02020603050405020304" pitchFamily="18" charset="0"/>
                  <a:cs typeface="Times New Roman" panose="02020603050405020304" pitchFamily="18" charset="0"/>
                  <a:sym typeface="+mn-ea"/>
                </a:rPr>
                <a:t>照片间的顺序关系</a:t>
              </a:r>
              <a:r>
                <a:rPr lang="zh-CN" altLang="en-US" sz="1600" dirty="0">
                  <a:latin typeface="Times New Roman" panose="02020603050405020304" pitchFamily="18" charset="0"/>
                  <a:cs typeface="Times New Roman" panose="02020603050405020304" pitchFamily="18" charset="0"/>
                  <a:sym typeface="+mn-ea"/>
                </a:rPr>
                <a:t>提升分类准确性？</a:t>
              </a:r>
              <a:endParaRPr lang="zh-CN" altLang="en-US" sz="1600" dirty="0">
                <a:latin typeface="Times New Roman" panose="02020603050405020304" pitchFamily="18" charset="0"/>
                <a:ea typeface="思源宋体" panose="02020700000000000000" charset="-122"/>
                <a:cs typeface="Times New Roman" panose="02020603050405020304" pitchFamily="18" charset="0"/>
                <a:sym typeface="+mn-ea"/>
              </a:endParaRPr>
            </a:p>
          </p:txBody>
        </p:sp>
      </p:grpSp>
      <p:pic>
        <p:nvPicPr>
          <p:cNvPr id="12" name="图片 11" descr="303b343435303639373bb9a4d7f7bbe3b1a8"/>
          <p:cNvPicPr>
            <a:picLocks noChangeAspect="1"/>
          </p:cNvPicPr>
          <p:nvPr/>
        </p:nvPicPr>
        <p:blipFill>
          <a:blip r:embed="rId16"/>
          <a:stretch>
            <a:fillRect/>
          </a:stretch>
        </p:blipFill>
        <p:spPr>
          <a:xfrm>
            <a:off x="1637665" y="3681095"/>
            <a:ext cx="914400" cy="914400"/>
          </a:xfrm>
          <a:prstGeom prst="rect">
            <a:avLst/>
          </a:prstGeom>
        </p:spPr>
      </p:pic>
      <p:pic>
        <p:nvPicPr>
          <p:cNvPr id="13" name="图片 12" descr="303b343435303838323bb9a4d7f7bdf8b6c8"/>
          <p:cNvPicPr>
            <a:picLocks noChangeAspect="1"/>
          </p:cNvPicPr>
          <p:nvPr/>
        </p:nvPicPr>
        <p:blipFill>
          <a:blip r:embed="rId17"/>
          <a:stretch>
            <a:fillRect/>
          </a:stretch>
        </p:blipFill>
        <p:spPr>
          <a:xfrm>
            <a:off x="3714115" y="3580765"/>
            <a:ext cx="776605" cy="776605"/>
          </a:xfrm>
          <a:prstGeom prst="rect">
            <a:avLst/>
          </a:prstGeom>
        </p:spPr>
      </p:pic>
      <p:pic>
        <p:nvPicPr>
          <p:cNvPr id="15" name="图片 14" descr="303b343435303738313bd0fbb4abb9a4d7f7"/>
          <p:cNvPicPr>
            <a:picLocks noChangeAspect="1"/>
          </p:cNvPicPr>
          <p:nvPr/>
        </p:nvPicPr>
        <p:blipFill>
          <a:blip r:embed="rId18"/>
          <a:stretch>
            <a:fillRect/>
          </a:stretch>
        </p:blipFill>
        <p:spPr>
          <a:xfrm>
            <a:off x="2494915" y="2286635"/>
            <a:ext cx="1110615" cy="1110615"/>
          </a:xfrm>
          <a:prstGeom prst="rect">
            <a:avLst/>
          </a:prstGeom>
        </p:spPr>
      </p:pic>
      <p:grpSp>
        <p:nvGrpSpPr>
          <p:cNvPr id="16" name="组合 15"/>
          <p:cNvGrpSpPr/>
          <p:nvPr/>
        </p:nvGrpSpPr>
        <p:grpSpPr>
          <a:xfrm>
            <a:off x="-558165" y="386715"/>
            <a:ext cx="6620510" cy="1273810"/>
            <a:chOff x="-879" y="609"/>
            <a:chExt cx="10426" cy="2006"/>
          </a:xfrm>
        </p:grpSpPr>
        <p:sp>
          <p:nvSpPr>
            <p:cNvPr id="18" name="文本框 17"/>
            <p:cNvSpPr txBox="1"/>
            <p:nvPr/>
          </p:nvSpPr>
          <p:spPr>
            <a:xfrm>
              <a:off x="1518" y="1105"/>
              <a:ext cx="8029" cy="1124"/>
            </a:xfrm>
            <a:prstGeom prst="rect">
              <a:avLst/>
            </a:prstGeom>
            <a:noFill/>
          </p:spPr>
          <p:txBody>
            <a:bodyPr wrap="square" rtlCol="0">
              <a:noAutofit/>
            </a:bodyPr>
            <a:lstStyle/>
            <a:p>
              <a:pPr algn="l"/>
              <a:r>
                <a:rPr lang="zh-CN" altLang="en-US" sz="3600" b="1" dirty="0">
                  <a:solidFill>
                    <a:srgbClr val="06071F"/>
                  </a:solidFill>
                  <a:effectLst/>
                  <a:latin typeface="PingFang-SC-Regular"/>
                  <a:sym typeface="+mn-ea"/>
                </a:rPr>
                <a:t>单张照片分类的局限性</a:t>
              </a:r>
              <a:endParaRPr lang="zh-CN" altLang="en-US" sz="3600" b="1" dirty="0"/>
            </a:p>
            <a:p>
              <a:pPr algn="l"/>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27" name="椭圆 26"/>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8" name="椭圆 27"/>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2" name="圆角矩形 1"/>
          <p:cNvSpPr/>
          <p:nvPr>
            <p:custDataLst>
              <p:tags r:id="rId19"/>
            </p:custDataLst>
          </p:nvPr>
        </p:nvSpPr>
        <p:spPr>
          <a:xfrm>
            <a:off x="5351145" y="3439795"/>
            <a:ext cx="363855" cy="1222375"/>
          </a:xfrm>
          <a:prstGeom prst="roundRect">
            <a:avLst/>
          </a:prstGeom>
          <a:gradFill>
            <a:gsLst>
              <a:gs pos="0">
                <a:srgbClr val="F1BD59"/>
              </a:gs>
              <a:gs pos="100000">
                <a:schemeClr val="accent4">
                  <a:lumMod val="75000"/>
                </a:schemeClr>
              </a:gs>
            </a:gsLst>
            <a:lin ang="5400000" scaled="0"/>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思源宋体" panose="02020700000000000000" charset="-122"/>
              </a:rPr>
              <a:t>示例</a:t>
            </a:r>
            <a:r>
              <a:rPr lang="zh-CN" altLang="en-US">
                <a:cs typeface="思源宋体" panose="02020700000000000000" charset="-122"/>
              </a:rPr>
              <a:t>冲突</a:t>
            </a:r>
            <a:endParaRPr lang="zh-CN" altLang="en-US">
              <a:cs typeface="思源宋体" panose="02020700000000000000" charset="-122"/>
            </a:endParaRPr>
          </a:p>
        </p:txBody>
      </p:sp>
      <p:sp>
        <p:nvSpPr>
          <p:cNvPr id="6" name="圆角矩形 5"/>
          <p:cNvSpPr/>
          <p:nvPr>
            <p:custDataLst>
              <p:tags r:id="rId20"/>
            </p:custDataLst>
          </p:nvPr>
        </p:nvSpPr>
        <p:spPr>
          <a:xfrm>
            <a:off x="5351145" y="4976495"/>
            <a:ext cx="363855" cy="1222375"/>
          </a:xfrm>
          <a:prstGeom prst="roundRect">
            <a:avLst/>
          </a:prstGeom>
          <a:gradFill>
            <a:gsLst>
              <a:gs pos="0">
                <a:srgbClr val="F1BD59"/>
              </a:gs>
              <a:gs pos="100000">
                <a:schemeClr val="accent4">
                  <a:lumMod val="75000"/>
                </a:schemeClr>
              </a:gs>
            </a:gsLst>
            <a:lin ang="5400000" scaled="0"/>
          </a:gradFill>
          <a:ln w="254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思源宋体" panose="02020700000000000000" charset="-122"/>
              </a:rPr>
              <a:t>关键</a:t>
            </a:r>
            <a:r>
              <a:rPr lang="zh-CN" altLang="en-US">
                <a:cs typeface="思源宋体" panose="02020700000000000000" charset="-122"/>
              </a:rPr>
              <a:t>问题</a:t>
            </a:r>
            <a:endParaRPr lang="zh-CN" altLang="en-US">
              <a:cs typeface="思源宋体" panose="02020700000000000000" charset="-122"/>
            </a:endParaRPr>
          </a:p>
        </p:txBody>
      </p:sp>
    </p:spTree>
    <p:custDataLst>
      <p:tags r:id="rId21"/>
    </p:custDataLst>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down)">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custDataLst>
              <p:tags r:id="rId1"/>
            </p:custDataLst>
          </p:nvPr>
        </p:nvGrpSpPr>
        <p:grpSpPr>
          <a:xfrm>
            <a:off x="1076960" y="1725295"/>
            <a:ext cx="10296525" cy="4450715"/>
            <a:chOff x="1696" y="3153"/>
            <a:chExt cx="16215" cy="7009"/>
          </a:xfrm>
        </p:grpSpPr>
        <p:sp>
          <p:nvSpPr>
            <p:cNvPr id="48" name="椭圆 47"/>
            <p:cNvSpPr/>
            <p:nvPr>
              <p:custDataLst>
                <p:tags r:id="rId2"/>
              </p:custDataLst>
            </p:nvPr>
          </p:nvSpPr>
          <p:spPr>
            <a:xfrm>
              <a:off x="3131" y="3648"/>
              <a:ext cx="2261" cy="2261"/>
            </a:xfrm>
            <a:prstGeom prst="ellipse">
              <a:avLst/>
            </a:prstGeom>
            <a:gradFill>
              <a:gsLst>
                <a:gs pos="0">
                  <a:schemeClr val="accent4">
                    <a:lumMod val="75000"/>
                  </a:schemeClr>
                </a:gs>
                <a:gs pos="100000">
                  <a:srgbClr val="F1BD59"/>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2800" dirty="0">
                <a:cs typeface="思源宋体" panose="02020700000000000000" charset="-122"/>
              </a:endParaRPr>
            </a:p>
          </p:txBody>
        </p:sp>
        <p:sp>
          <p:nvSpPr>
            <p:cNvPr id="49" name="椭圆 48"/>
            <p:cNvSpPr/>
            <p:nvPr>
              <p:custDataLst>
                <p:tags r:id="rId3"/>
              </p:custDataLst>
            </p:nvPr>
          </p:nvSpPr>
          <p:spPr>
            <a:xfrm>
              <a:off x="2917" y="3430"/>
              <a:ext cx="2688" cy="2688"/>
            </a:xfrm>
            <a:prstGeom prst="ellipse">
              <a:avLst/>
            </a:prstGeom>
            <a:no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50" name="椭圆 49"/>
            <p:cNvSpPr/>
            <p:nvPr>
              <p:custDataLst>
                <p:tags r:id="rId4"/>
              </p:custDataLst>
            </p:nvPr>
          </p:nvSpPr>
          <p:spPr>
            <a:xfrm>
              <a:off x="2640" y="3153"/>
              <a:ext cx="3243" cy="3243"/>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52" name="椭圆 51"/>
            <p:cNvSpPr/>
            <p:nvPr>
              <p:custDataLst>
                <p:tags r:id="rId5"/>
              </p:custDataLst>
            </p:nvPr>
          </p:nvSpPr>
          <p:spPr>
            <a:xfrm>
              <a:off x="8574" y="3648"/>
              <a:ext cx="2261" cy="2261"/>
            </a:xfrm>
            <a:prstGeom prst="ellipse">
              <a:avLst/>
            </a:prstGeom>
            <a:gradFill>
              <a:gsLst>
                <a:gs pos="0">
                  <a:schemeClr val="accent4">
                    <a:lumMod val="75000"/>
                  </a:schemeClr>
                </a:gs>
                <a:gs pos="100000">
                  <a:srgbClr val="F1BD59"/>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endParaRPr lang="zh-CN" altLang="en-US" sz="2800" dirty="0">
                <a:cs typeface="思源宋体" panose="02020700000000000000" charset="-122"/>
              </a:endParaRPr>
            </a:p>
          </p:txBody>
        </p:sp>
        <p:sp>
          <p:nvSpPr>
            <p:cNvPr id="53" name="椭圆 52"/>
            <p:cNvSpPr/>
            <p:nvPr>
              <p:custDataLst>
                <p:tags r:id="rId6"/>
              </p:custDataLst>
            </p:nvPr>
          </p:nvSpPr>
          <p:spPr>
            <a:xfrm>
              <a:off x="8360" y="3430"/>
              <a:ext cx="2688" cy="2688"/>
            </a:xfrm>
            <a:prstGeom prst="ellipse">
              <a:avLst/>
            </a:prstGeom>
            <a:no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54" name="椭圆 53"/>
            <p:cNvSpPr/>
            <p:nvPr>
              <p:custDataLst>
                <p:tags r:id="rId7"/>
              </p:custDataLst>
            </p:nvPr>
          </p:nvSpPr>
          <p:spPr>
            <a:xfrm>
              <a:off x="8083" y="3153"/>
              <a:ext cx="3243" cy="3243"/>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56" name="椭圆 55"/>
            <p:cNvSpPr/>
            <p:nvPr>
              <p:custDataLst>
                <p:tags r:id="rId8"/>
              </p:custDataLst>
            </p:nvPr>
          </p:nvSpPr>
          <p:spPr>
            <a:xfrm>
              <a:off x="14017" y="3648"/>
              <a:ext cx="2261" cy="2261"/>
            </a:xfrm>
            <a:prstGeom prst="ellipse">
              <a:avLst/>
            </a:prstGeom>
            <a:gradFill>
              <a:gsLst>
                <a:gs pos="0">
                  <a:schemeClr val="accent4">
                    <a:lumMod val="75000"/>
                  </a:schemeClr>
                </a:gs>
                <a:gs pos="100000">
                  <a:srgbClr val="F1BD59"/>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cs typeface="思源宋体" panose="02020700000000000000" charset="-122"/>
              </a:endParaRPr>
            </a:p>
          </p:txBody>
        </p:sp>
        <p:sp>
          <p:nvSpPr>
            <p:cNvPr id="57" name="椭圆 56"/>
            <p:cNvSpPr/>
            <p:nvPr>
              <p:custDataLst>
                <p:tags r:id="rId9"/>
              </p:custDataLst>
            </p:nvPr>
          </p:nvSpPr>
          <p:spPr>
            <a:xfrm>
              <a:off x="13803" y="3430"/>
              <a:ext cx="2688" cy="2688"/>
            </a:xfrm>
            <a:prstGeom prst="ellipse">
              <a:avLst/>
            </a:prstGeom>
            <a:noFill/>
            <a:ln>
              <a:solidFill>
                <a:schemeClr val="bg2">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58" name="椭圆 57"/>
            <p:cNvSpPr/>
            <p:nvPr>
              <p:custDataLst>
                <p:tags r:id="rId10"/>
              </p:custDataLst>
            </p:nvPr>
          </p:nvSpPr>
          <p:spPr>
            <a:xfrm>
              <a:off x="13526" y="3153"/>
              <a:ext cx="3243" cy="3243"/>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cxnSp>
          <p:nvCxnSpPr>
            <p:cNvPr id="59" name="直接连接符 58"/>
            <p:cNvCxnSpPr/>
            <p:nvPr>
              <p:custDataLst>
                <p:tags r:id="rId11"/>
              </p:custDataLst>
            </p:nvPr>
          </p:nvCxnSpPr>
          <p:spPr>
            <a:xfrm>
              <a:off x="6101" y="4774"/>
              <a:ext cx="1764" cy="0"/>
            </a:xfrm>
            <a:prstGeom prst="line">
              <a:avLst/>
            </a:prstGeom>
            <a:ln w="25400">
              <a:gradFill>
                <a:gsLst>
                  <a:gs pos="0">
                    <a:srgbClr val="F1BD59"/>
                  </a:gs>
                  <a:gs pos="100000">
                    <a:schemeClr val="accent4">
                      <a:lumMod val="75000"/>
                    </a:schemeClr>
                  </a:gs>
                </a:gsLst>
                <a:lin ang="0" scaled="1"/>
              </a:gra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custDataLst>
                <p:tags r:id="rId12"/>
              </p:custDataLst>
            </p:nvPr>
          </p:nvCxnSpPr>
          <p:spPr>
            <a:xfrm>
              <a:off x="11544" y="4774"/>
              <a:ext cx="1764" cy="0"/>
            </a:xfrm>
            <a:prstGeom prst="line">
              <a:avLst/>
            </a:prstGeom>
            <a:ln w="25400">
              <a:gradFill>
                <a:gsLst>
                  <a:gs pos="0">
                    <a:srgbClr val="F1BD59"/>
                  </a:gs>
                  <a:gs pos="100000">
                    <a:schemeClr val="accent4">
                      <a:lumMod val="75000"/>
                    </a:schemeClr>
                  </a:gs>
                </a:gsLst>
                <a:lin ang="0" scaled="1"/>
              </a:gra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文本框 31"/>
            <p:cNvSpPr txBox="1"/>
            <p:nvPr>
              <p:custDataLst>
                <p:tags r:id="rId13"/>
              </p:custDataLst>
            </p:nvPr>
          </p:nvSpPr>
          <p:spPr>
            <a:xfrm>
              <a:off x="1779" y="6731"/>
              <a:ext cx="4163" cy="628"/>
            </a:xfrm>
            <a:prstGeom prst="rect">
              <a:avLst/>
            </a:prstGeom>
            <a:noFill/>
          </p:spPr>
          <p:txBody>
            <a:bodyPr wrap="square" rtlCol="0">
              <a:spAutoFit/>
            </a:bodyPr>
            <a:lstStyle/>
            <a:p>
              <a:pPr algn="l"/>
              <a:r>
                <a:rPr lang="en-US"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P(</a:t>
              </a:r>
              <a:r>
                <a:rPr lang="zh-CN" altLang="en-US"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标签序列</a:t>
              </a:r>
              <a:r>
                <a:rPr lang="en-US"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 </a:t>
              </a:r>
              <a:r>
                <a:rPr lang="zh-CN" altLang="en-US"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观测序列</a:t>
              </a:r>
              <a:r>
                <a:rPr lang="en-US"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a:t>
              </a:r>
              <a:endParaRPr lang="en-US"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33" name="文本框 32"/>
            <p:cNvSpPr txBox="1"/>
            <p:nvPr>
              <p:custDataLst>
                <p:tags r:id="rId14"/>
              </p:custDataLst>
            </p:nvPr>
          </p:nvSpPr>
          <p:spPr>
            <a:xfrm>
              <a:off x="1696" y="7827"/>
              <a:ext cx="4940" cy="1307"/>
            </a:xfrm>
            <a:prstGeom prst="rect">
              <a:avLst/>
            </a:prstGeom>
            <a:noFill/>
          </p:spPr>
          <p:txBody>
            <a:bodyPr wrap="square" rtlCol="0">
              <a:spAutoFit/>
            </a:bodyPr>
            <a:lstStyle/>
            <a:p>
              <a:pPr marL="0" lvl="1" algn="l">
                <a:lnSpc>
                  <a:spcPct val="150000"/>
                </a:lnSpc>
              </a:pPr>
              <a:r>
                <a:rPr lang="zh-CN" altLang="en-US" sz="1600" dirty="0">
                  <a:latin typeface="Times New Roman" panose="02020603050405020304" pitchFamily="18" charset="0"/>
                  <a:cs typeface="Times New Roman" panose="02020603050405020304" pitchFamily="18" charset="0"/>
                  <a:sym typeface="+mn-ea"/>
                </a:rPr>
                <a:t>同时建模</a:t>
              </a:r>
              <a:r>
                <a:rPr lang="zh-CN" altLang="en-US" sz="1600" b="1" dirty="0">
                  <a:latin typeface="Times New Roman" panose="02020603050405020304" pitchFamily="18" charset="0"/>
                  <a:cs typeface="Times New Roman" panose="02020603050405020304" pitchFamily="18" charset="0"/>
                  <a:sym typeface="+mn-ea"/>
                </a:rPr>
                <a:t>观测序列</a:t>
              </a:r>
              <a:r>
                <a:rPr lang="zh-CN" altLang="en-US" sz="1600" dirty="0">
                  <a:latin typeface="Times New Roman" panose="02020603050405020304" pitchFamily="18" charset="0"/>
                  <a:cs typeface="Times New Roman" panose="02020603050405020304" pitchFamily="18" charset="0"/>
                  <a:sym typeface="+mn-ea"/>
                </a:rPr>
                <a:t>（照片特征）和</a:t>
              </a:r>
              <a:r>
                <a:rPr lang="zh-CN" altLang="en-US" sz="1600" b="1" dirty="0">
                  <a:latin typeface="Times New Roman" panose="02020603050405020304" pitchFamily="18" charset="0"/>
                  <a:cs typeface="Times New Roman" panose="02020603050405020304" pitchFamily="18" charset="0"/>
                  <a:sym typeface="+mn-ea"/>
                </a:rPr>
                <a:t>标签序列</a:t>
              </a:r>
              <a:r>
                <a:rPr lang="zh-CN" altLang="en-US" sz="1600" dirty="0">
                  <a:latin typeface="Times New Roman" panose="02020603050405020304" pitchFamily="18" charset="0"/>
                  <a:cs typeface="Times New Roman" panose="02020603050405020304" pitchFamily="18" charset="0"/>
                  <a:sym typeface="+mn-ea"/>
                </a:rPr>
                <a:t>（活动标签）</a:t>
              </a:r>
              <a:endParaRPr lang="zh-CN" altLang="en-US" sz="1600" dirty="0">
                <a:solidFill>
                  <a:schemeClr val="tx1">
                    <a:lumMod val="75000"/>
                    <a:lumOff val="25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46" name="文本框 45"/>
            <p:cNvSpPr txBox="1"/>
            <p:nvPr>
              <p:custDataLst>
                <p:tags r:id="rId15"/>
              </p:custDataLst>
            </p:nvPr>
          </p:nvSpPr>
          <p:spPr>
            <a:xfrm>
              <a:off x="8753" y="6731"/>
              <a:ext cx="1904" cy="628"/>
            </a:xfrm>
            <a:prstGeom prst="rect">
              <a:avLst/>
            </a:prstGeom>
            <a:noFill/>
          </p:spPr>
          <p:txBody>
            <a:bodyPr wrap="square" rtlCol="0">
              <a:spAutoFit/>
            </a:bodyPr>
            <a:lstStyle/>
            <a:p>
              <a:pPr algn="l"/>
              <a:r>
                <a:rPr 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状态</a:t>
              </a:r>
              <a:r>
                <a:rPr 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概率</a:t>
              </a:r>
              <a:endParaRPr 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47" name="文本框 46"/>
            <p:cNvSpPr txBox="1"/>
            <p:nvPr>
              <p:custDataLst>
                <p:tags r:id="rId16"/>
              </p:custDataLst>
            </p:nvPr>
          </p:nvSpPr>
          <p:spPr>
            <a:xfrm>
              <a:off x="6918" y="7510"/>
              <a:ext cx="5352" cy="2652"/>
            </a:xfrm>
            <a:prstGeom prst="rect">
              <a:avLst/>
            </a:prstGeom>
            <a:noFill/>
          </p:spPr>
          <p:txBody>
            <a:bodyPr wrap="square" rtlCol="0">
              <a:noAutofit/>
            </a:bodyPr>
            <a:lstStyle/>
            <a:p>
              <a:pPr marL="0" lvl="1" algn="l">
                <a:lnSpc>
                  <a:spcPct val="150000"/>
                </a:lnSpc>
              </a:pPr>
              <a:r>
                <a:rPr lang="zh-CN" altLang="en-US" sz="1600" dirty="0">
                  <a:solidFill>
                    <a:srgbClr val="404040"/>
                  </a:solidFill>
                  <a:effectLst/>
                  <a:latin typeface="DeepSeek-CJK-patch"/>
                  <a:sym typeface="+mn-ea"/>
                </a:rPr>
                <a:t>通过</a:t>
              </a:r>
              <a:r>
                <a:rPr lang="zh-CN" altLang="en-US" sz="1600" b="1" dirty="0">
                  <a:solidFill>
                    <a:srgbClr val="404040"/>
                  </a:solidFill>
                  <a:effectLst/>
                  <a:latin typeface="DeepSeek-CJK-patch"/>
                  <a:sym typeface="+mn-ea"/>
                </a:rPr>
                <a:t>状态</a:t>
              </a:r>
              <a:r>
                <a:rPr lang="zh-CN" altLang="en-US" sz="1600" b="1" dirty="0">
                  <a:solidFill>
                    <a:srgbClr val="404040"/>
                  </a:solidFill>
                  <a:latin typeface="DeepSeek-CJK-patch"/>
                  <a:sym typeface="+mn-ea"/>
                </a:rPr>
                <a:t>概率</a:t>
              </a:r>
              <a:r>
                <a:rPr lang="zh-CN" altLang="en-US" sz="1600" dirty="0">
                  <a:solidFill>
                    <a:srgbClr val="404040"/>
                  </a:solidFill>
                  <a:effectLst/>
                  <a:latin typeface="DeepSeek-CJK-patch"/>
                  <a:sym typeface="+mn-ea"/>
                </a:rPr>
                <a:t>学习标签与画面的关联关系（如 </a:t>
              </a:r>
              <a:r>
                <a:rPr lang="en-US" altLang="zh-CN" sz="1600" dirty="0">
                  <a:solidFill>
                    <a:srgbClr val="404040"/>
                  </a:solidFill>
                  <a:effectLst/>
                  <a:latin typeface="DeepSeek-CJK-patch"/>
                  <a:sym typeface="+mn-ea"/>
                </a:rPr>
                <a:t>“</a:t>
              </a:r>
              <a:r>
                <a:rPr lang="zh-CN" altLang="en-US" sz="1600" dirty="0">
                  <a:solidFill>
                    <a:srgbClr val="404040"/>
                  </a:solidFill>
                  <a:effectLst/>
                  <a:latin typeface="DeepSeek-CJK-patch"/>
                  <a:sym typeface="+mn-ea"/>
                </a:rPr>
                <a:t>有餐具</a:t>
              </a:r>
              <a:r>
                <a:rPr lang="en-US" altLang="zh-CN" sz="1600" dirty="0">
                  <a:solidFill>
                    <a:srgbClr val="404040"/>
                  </a:solidFill>
                  <a:effectLst/>
                  <a:latin typeface="DeepSeek-CJK-patch"/>
                  <a:sym typeface="+mn-ea"/>
                </a:rPr>
                <a:t>” → </a:t>
              </a:r>
              <a:r>
                <a:rPr lang="zh-CN" altLang="en-US" sz="1600" dirty="0">
                  <a:solidFill>
                    <a:srgbClr val="404040"/>
                  </a:solidFill>
                  <a:effectLst/>
                  <a:latin typeface="DeepSeek-CJK-patch"/>
                  <a:sym typeface="+mn-ea"/>
                </a:rPr>
                <a:t>吃饭的概率高，</a:t>
              </a:r>
              <a:r>
                <a:rPr lang="en-US" altLang="zh-CN" sz="1600" dirty="0">
                  <a:solidFill>
                    <a:srgbClr val="404040"/>
                  </a:solidFill>
                  <a:effectLst/>
                  <a:latin typeface="DeepSeek-CJK-patch"/>
                  <a:sym typeface="+mn-ea"/>
                </a:rPr>
                <a:t>“</a:t>
              </a:r>
              <a:r>
                <a:rPr lang="zh-CN" altLang="en-US" sz="1600" dirty="0">
                  <a:solidFill>
                    <a:srgbClr val="404040"/>
                  </a:solidFill>
                  <a:effectLst/>
                  <a:latin typeface="DeepSeek-CJK-patch"/>
                  <a:sym typeface="+mn-ea"/>
                </a:rPr>
                <a:t>有跑步机</a:t>
              </a:r>
              <a:r>
                <a:rPr lang="en-US" altLang="zh-CN" sz="1600" dirty="0">
                  <a:solidFill>
                    <a:srgbClr val="404040"/>
                  </a:solidFill>
                  <a:effectLst/>
                  <a:latin typeface="DeepSeek-CJK-patch"/>
                  <a:sym typeface="+mn-ea"/>
                </a:rPr>
                <a:t>” → </a:t>
              </a:r>
              <a:r>
                <a:rPr lang="zh-CN" altLang="en-US" sz="1600" dirty="0">
                  <a:solidFill>
                    <a:srgbClr val="404040"/>
                  </a:solidFill>
                  <a:effectLst/>
                  <a:latin typeface="DeepSeek-CJK-patch"/>
                  <a:sym typeface="+mn-ea"/>
                </a:rPr>
                <a:t>健身的概率高）</a:t>
              </a:r>
              <a:endParaRPr lang="zh-CN" altLang="en-US" sz="1600" dirty="0">
                <a:solidFill>
                  <a:srgbClr val="404040"/>
                </a:solidFill>
                <a:effectLst/>
                <a:latin typeface="DeepSeek-CJK-patch"/>
                <a:ea typeface="思源宋体" panose="02020700000000000000" charset="-122"/>
                <a:cs typeface="思源宋体" panose="02020700000000000000" charset="-122"/>
                <a:sym typeface="+mn-ea"/>
              </a:endParaRPr>
            </a:p>
          </p:txBody>
        </p:sp>
        <p:sp>
          <p:nvSpPr>
            <p:cNvPr id="3" name="文本框 2"/>
            <p:cNvSpPr txBox="1"/>
            <p:nvPr>
              <p:custDataLst>
                <p:tags r:id="rId17"/>
              </p:custDataLst>
            </p:nvPr>
          </p:nvSpPr>
          <p:spPr>
            <a:xfrm>
              <a:off x="14162" y="6731"/>
              <a:ext cx="1975" cy="628"/>
            </a:xfrm>
            <a:prstGeom prst="rect">
              <a:avLst/>
            </a:prstGeom>
            <a:noFill/>
          </p:spPr>
          <p:txBody>
            <a:bodyPr wrap="square" rtlCol="0">
              <a:spAutoFit/>
            </a:bodyPr>
            <a:lstStyle/>
            <a:p>
              <a:pPr algn="l"/>
              <a:r>
                <a:rPr 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转移</a:t>
              </a:r>
              <a:r>
                <a:rPr 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概率</a:t>
              </a:r>
              <a:endParaRPr 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55" name="文本框 54"/>
            <p:cNvSpPr txBox="1"/>
            <p:nvPr>
              <p:custDataLst>
                <p:tags r:id="rId18"/>
              </p:custDataLst>
            </p:nvPr>
          </p:nvSpPr>
          <p:spPr>
            <a:xfrm>
              <a:off x="12623" y="7510"/>
              <a:ext cx="5288" cy="2652"/>
            </a:xfrm>
            <a:prstGeom prst="rect">
              <a:avLst/>
            </a:prstGeom>
            <a:noFill/>
          </p:spPr>
          <p:txBody>
            <a:bodyPr wrap="square" rtlCol="0">
              <a:noAutofit/>
            </a:bodyPr>
            <a:lstStyle/>
            <a:p>
              <a:pPr algn="l">
                <a:lnSpc>
                  <a:spcPct val="150000"/>
                </a:lnSpc>
              </a:pPr>
              <a:r>
                <a:rPr lang="zh-CN" altLang="en-US" sz="1600" dirty="0">
                  <a:latin typeface="Times New Roman" panose="02020603050405020304" pitchFamily="18" charset="0"/>
                  <a:cs typeface="Times New Roman" panose="02020603050405020304" pitchFamily="18" charset="0"/>
                  <a:sym typeface="+mn-ea"/>
                </a:rPr>
                <a:t>通过</a:t>
              </a:r>
              <a:r>
                <a:rPr lang="zh-CN" altLang="en-US" sz="1600" b="1" dirty="0">
                  <a:latin typeface="Times New Roman" panose="02020603050405020304" pitchFamily="18" charset="0"/>
                  <a:cs typeface="Times New Roman" panose="02020603050405020304" pitchFamily="18" charset="0"/>
                  <a:sym typeface="+mn-ea"/>
                </a:rPr>
                <a:t>转移概率</a:t>
              </a:r>
              <a:r>
                <a:rPr lang="zh-CN" altLang="en-US" sz="1600" dirty="0">
                  <a:latin typeface="Times New Roman" panose="02020603050405020304" pitchFamily="18" charset="0"/>
                  <a:cs typeface="Times New Roman" panose="02020603050405020304" pitchFamily="18" charset="0"/>
                  <a:sym typeface="+mn-ea"/>
                </a:rPr>
                <a:t>学习标签间的依赖关系（如吃饭 → 跑步的概率低，吃饭 → 休息的概率高）</a:t>
              </a:r>
              <a:endParaRPr lang="zh-CN" altLang="en-US" sz="1600" dirty="0">
                <a:solidFill>
                  <a:schemeClr val="tx1">
                    <a:lumMod val="75000"/>
                    <a:lumOff val="25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pic>
          <p:nvPicPr>
            <p:cNvPr id="5" name="图片 4" descr="303b343435303838323bb9a4d7f7bdf8b6c8"/>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14429" y="4059"/>
              <a:ext cx="1440" cy="1440"/>
            </a:xfrm>
            <a:prstGeom prst="rect">
              <a:avLst/>
            </a:prstGeom>
          </p:spPr>
        </p:pic>
        <p:pic>
          <p:nvPicPr>
            <p:cNvPr id="8" name="图片 7" descr="303b343435303738313bd0fbb4abb9a4d7f7"/>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8985" y="4054"/>
              <a:ext cx="1440" cy="1440"/>
            </a:xfrm>
            <a:prstGeom prst="rect">
              <a:avLst/>
            </a:prstGeom>
          </p:spPr>
        </p:pic>
        <p:pic>
          <p:nvPicPr>
            <p:cNvPr id="9" name="图片 8" descr="303b343435303639373bb9a4d7f7bbe3b1a8"/>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3544" y="4059"/>
              <a:ext cx="1440" cy="1440"/>
            </a:xfrm>
            <a:prstGeom prst="rect">
              <a:avLst/>
            </a:prstGeom>
          </p:spPr>
        </p:pic>
      </p:grpSp>
      <p:grpSp>
        <p:nvGrpSpPr>
          <p:cNvPr id="4" name="组合 3"/>
          <p:cNvGrpSpPr/>
          <p:nvPr/>
        </p:nvGrpSpPr>
        <p:grpSpPr>
          <a:xfrm>
            <a:off x="-558165" y="386715"/>
            <a:ext cx="6695440" cy="1273810"/>
            <a:chOff x="-879" y="609"/>
            <a:chExt cx="10544" cy="2006"/>
          </a:xfrm>
        </p:grpSpPr>
        <p:sp>
          <p:nvSpPr>
            <p:cNvPr id="7" name="文本框 6"/>
            <p:cNvSpPr txBox="1"/>
            <p:nvPr/>
          </p:nvSpPr>
          <p:spPr>
            <a:xfrm>
              <a:off x="1518" y="1104"/>
              <a:ext cx="8147" cy="1016"/>
            </a:xfrm>
            <a:prstGeom prst="rect">
              <a:avLst/>
            </a:prstGeom>
            <a:noFill/>
          </p:spPr>
          <p:txBody>
            <a:bodyPr wrap="square" rtlCol="0">
              <a:spAutoFit/>
            </a:bodyPr>
            <a:lstStyle/>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让上下文“说话”的</a:t>
              </a:r>
              <a:r>
                <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CRF</a:t>
              </a:r>
              <a:endPar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2" name="椭圆 11"/>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3" name="椭圆 12"/>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2" name="文本框 1"/>
          <p:cNvSpPr txBox="1"/>
          <p:nvPr/>
        </p:nvSpPr>
        <p:spPr>
          <a:xfrm>
            <a:off x="2374265" y="4027805"/>
            <a:ext cx="411480" cy="368300"/>
          </a:xfrm>
          <a:prstGeom prst="rect">
            <a:avLst/>
          </a:prstGeom>
          <a:noFill/>
        </p:spPr>
        <p:txBody>
          <a:bodyPr wrap="none" rtlCol="0" anchor="t">
            <a:spAutoFit/>
          </a:bodyPr>
          <a:p>
            <a:r>
              <a:rPr lang="zh-CN" altLang="en-US">
                <a:latin typeface="宋体" panose="02010600030101010101" pitchFamily="2" charset="-122"/>
                <a:ea typeface="宋体" panose="02010600030101010101" pitchFamily="2" charset="-122"/>
              </a:rPr>
              <a:t>┃</a:t>
            </a:r>
            <a:endParaRPr lang="zh-CN" altLang="en-US">
              <a:latin typeface="宋体" panose="02010600030101010101" pitchFamily="2" charset="-122"/>
              <a:ea typeface="宋体" panose="02010600030101010101" pitchFamily="2" charset="-122"/>
            </a:endParaRPr>
          </a:p>
        </p:txBody>
      </p:sp>
    </p:spTree>
    <p:custDataLst>
      <p:tags r:id="rId28"/>
    </p:custDataLst>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60780" y="3049905"/>
            <a:ext cx="4612640" cy="2602865"/>
          </a:xfrm>
          <a:prstGeom prst="rect">
            <a:avLst/>
          </a:prstGeom>
          <a:noFill/>
        </p:spPr>
        <p:txBody>
          <a:bodyPr wrap="square" rtlCol="0">
            <a:noAutofit/>
          </a:bodyPr>
          <a:lstStyle/>
          <a:p>
            <a:pPr indent="0" fontAlgn="auto">
              <a:lnSpc>
                <a:spcPct val="125000"/>
              </a:lnSpc>
            </a:pPr>
            <a:r>
              <a:rPr lang="zh-CN" altLang="en-US" dirty="0">
                <a:latin typeface="Times New Roman" panose="02020603050405020304" pitchFamily="18" charset="0"/>
                <a:cs typeface="Times New Roman" panose="02020603050405020304" pitchFamily="18" charset="0"/>
              </a:rPr>
              <a:t>任务示例：</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r>
              <a:rPr lang="zh-CN" altLang="en-US" dirty="0">
                <a:latin typeface="Times New Roman" panose="02020603050405020304" pitchFamily="18" charset="0"/>
                <a:cs typeface="Times New Roman" panose="02020603050405020304" pitchFamily="18" charset="0"/>
              </a:rPr>
              <a:t>输入：</a:t>
            </a:r>
            <a:r>
              <a:rPr lang="en-US" altLang="zh-CN" dirty="0">
                <a:latin typeface="Times New Roman" panose="02020603050405020304" pitchFamily="18" charset="0"/>
                <a:cs typeface="Times New Roman" panose="02020603050405020304" pitchFamily="18" charset="0"/>
              </a:rPr>
              <a:t>Time / flies / like / an / arrow  </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zh-CN" altLang="en-US" dirty="0">
                <a:latin typeface="Times New Roman" panose="02020603050405020304" pitchFamily="18" charset="0"/>
                <a:cs typeface="Times New Roman" panose="02020603050405020304" pitchFamily="18" charset="0"/>
              </a:rPr>
              <a:t>输出：名词</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动词</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介词</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冠词</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名词</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zh-CN" altLang="en-US" dirty="0">
                <a:latin typeface="Times New Roman" panose="02020603050405020304" pitchFamily="18" charset="0"/>
                <a:cs typeface="Times New Roman" panose="02020603050405020304" pitchFamily="18" charset="0"/>
              </a:rPr>
              <a:t>歧义性：</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"flies" </a:t>
            </a:r>
            <a:r>
              <a:rPr lang="zh-CN" altLang="en-US" dirty="0">
                <a:latin typeface="Times New Roman" panose="02020603050405020304" pitchFamily="18" charset="0"/>
                <a:cs typeface="Times New Roman" panose="02020603050405020304" pitchFamily="18" charset="0"/>
              </a:rPr>
              <a:t>可能是名词（苍蝇）或动词（飞行）</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"like" </a:t>
            </a:r>
            <a:r>
              <a:rPr lang="zh-CN" altLang="en-US" dirty="0">
                <a:latin typeface="Times New Roman" panose="02020603050405020304" pitchFamily="18" charset="0"/>
                <a:cs typeface="Times New Roman" panose="02020603050405020304" pitchFamily="18" charset="0"/>
              </a:rPr>
              <a:t>可能是动词（喜欢）或介词（像）</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endParaRPr lang="zh-CN" altLang="en-US"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5653405" y="3049905"/>
            <a:ext cx="5773420" cy="2541270"/>
          </a:xfrm>
          <a:prstGeom prst="rect">
            <a:avLst/>
          </a:prstGeom>
          <a:noFill/>
        </p:spPr>
        <p:txBody>
          <a:bodyPr wrap="square" rtlCol="0">
            <a:noAutofit/>
          </a:bodyPr>
          <a:lstStyle/>
          <a:p>
            <a:pPr algn="l">
              <a:lnSpc>
                <a:spcPct val="125000"/>
              </a:lnSpc>
              <a:buClrTx/>
              <a:buSzTx/>
              <a:buFontTx/>
            </a:pPr>
            <a:r>
              <a:rPr lang="zh-CN" altLang="en-US" dirty="0">
                <a:latin typeface="Times New Roman" panose="02020603050405020304" pitchFamily="18" charset="0"/>
                <a:cs typeface="Times New Roman" panose="02020603050405020304" pitchFamily="18" charset="0"/>
                <a:sym typeface="+mn-ea"/>
              </a:rPr>
              <a:t>序列依赖：动词后接动词的概率极低</a:t>
            </a:r>
            <a:endParaRPr lang="zh-CN" altLang="en-US"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dirty="0">
                <a:latin typeface="Times New Roman" panose="02020603050405020304" pitchFamily="18" charset="0"/>
                <a:cs typeface="Times New Roman" panose="02020603050405020304" pitchFamily="18" charset="0"/>
              </a:rPr>
              <a:t>✅ 名词 → 动词 → 介词 → 冠词 → 名词（得分：+2.1）</a:t>
            </a:r>
            <a:endParaRPr lang="zh-CN" altLang="en-US"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dirty="0">
                <a:latin typeface="Times New Roman" panose="02020603050405020304" pitchFamily="18" charset="0"/>
                <a:cs typeface="Times New Roman" panose="02020603050405020304" pitchFamily="18" charset="0"/>
              </a:rPr>
              <a:t>❌ 名词 → 动词 → 动词 → 冠词 → 名词（得分：-1.3）</a:t>
            </a:r>
            <a:endParaRPr lang="zh-CN" altLang="en-US" dirty="0">
              <a:latin typeface="Times New Roman" panose="02020603050405020304" pitchFamily="18" charset="0"/>
              <a:cs typeface="Times New Roman" panose="02020603050405020304" pitchFamily="18" charset="0"/>
            </a:endParaRPr>
          </a:p>
          <a:p>
            <a:pPr algn="l">
              <a:lnSpc>
                <a:spcPct val="125000"/>
              </a:lnSpc>
              <a:buClrTx/>
              <a:buSzTx/>
              <a:buFontTx/>
            </a:pPr>
            <a:endParaRPr lang="zh-CN" altLang="en-US"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dirty="0">
                <a:latin typeface="Times New Roman" panose="02020603050405020304" pitchFamily="18" charset="0"/>
                <a:cs typeface="Times New Roman" panose="02020603050405020304" pitchFamily="18" charset="0"/>
              </a:rPr>
              <a:t>语义解释对比：</a:t>
            </a:r>
            <a:endParaRPr lang="zh-CN" altLang="en-US"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dirty="0">
                <a:latin typeface="Times New Roman" panose="02020603050405020304" pitchFamily="18" charset="0"/>
                <a:cs typeface="Times New Roman" panose="02020603050405020304" pitchFamily="18" charset="0"/>
              </a:rPr>
              <a:t>正确序列："时间飞逝如箭"</a:t>
            </a:r>
            <a:endParaRPr lang="zh-CN" altLang="en-US"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dirty="0">
                <a:latin typeface="Times New Roman" panose="02020603050405020304" pitchFamily="18" charset="0"/>
                <a:cs typeface="Times New Roman" panose="02020603050405020304" pitchFamily="18" charset="0"/>
              </a:rPr>
              <a:t>错误序列："时间喜欢箭"（❌ 逻辑矛盾）</a:t>
            </a:r>
            <a:endParaRPr lang="zh-CN" altLang="en-US"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160780" y="1524635"/>
            <a:ext cx="10071735" cy="1245235"/>
          </a:xfrm>
          <a:prstGeom prst="rect">
            <a:avLst/>
          </a:prstGeom>
          <a:noFill/>
        </p:spPr>
        <p:txBody>
          <a:bodyPr wrap="square">
            <a:spAutoFit/>
          </a:bodyPr>
          <a:lstStyle/>
          <a:p>
            <a:pPr marL="342900" indent="-342900" algn="l">
              <a:lnSpc>
                <a:spcPct val="125000"/>
              </a:lnSpc>
              <a:buFont typeface="Arial" panose="020B0604020202020204" pitchFamily="34" charset="0"/>
              <a:buChar char="•"/>
            </a:pPr>
            <a:r>
              <a:rPr lang="zh-CN" altLang="en-US" sz="2000" i="0" dirty="0">
                <a:effectLst/>
                <a:latin typeface="Times New Roman" panose="02020603050405020304" pitchFamily="18" charset="0"/>
                <a:cs typeface="Times New Roman" panose="02020603050405020304" pitchFamily="18" charset="0"/>
              </a:rPr>
              <a:t>在实际的自然语言处理中，词性标注是条件随机场（</a:t>
            </a:r>
            <a:r>
              <a:rPr lang="en-US" altLang="zh-CN" sz="2000" i="0" dirty="0">
                <a:effectLst/>
                <a:latin typeface="Times New Roman" panose="02020603050405020304" pitchFamily="18" charset="0"/>
                <a:cs typeface="Times New Roman" panose="02020603050405020304" pitchFamily="18" charset="0"/>
              </a:rPr>
              <a:t>CRF</a:t>
            </a:r>
            <a:r>
              <a:rPr lang="zh-CN" altLang="en-US" sz="2000" i="0" dirty="0">
                <a:effectLst/>
                <a:latin typeface="Times New Roman" panose="02020603050405020304" pitchFamily="18" charset="0"/>
                <a:cs typeface="Times New Roman" panose="02020603050405020304" pitchFamily="18" charset="0"/>
              </a:rPr>
              <a:t>）大显身手之处。</a:t>
            </a:r>
            <a:endParaRPr lang="en-US" altLang="zh-CN" sz="2000" i="0" dirty="0">
              <a:effectLst/>
              <a:latin typeface="Times New Roman" panose="02020603050405020304" pitchFamily="18" charset="0"/>
              <a:cs typeface="Times New Roman" panose="02020603050405020304" pitchFamily="18" charset="0"/>
            </a:endParaRPr>
          </a:p>
          <a:p>
            <a:pPr marL="342900" indent="-342900" algn="l">
              <a:lnSpc>
                <a:spcPct val="125000"/>
              </a:lnSpc>
              <a:buFont typeface="Arial" panose="020B0604020202020204" pitchFamily="34" charset="0"/>
              <a:buChar char="•"/>
            </a:pPr>
            <a:r>
              <a:rPr lang="zh-CN" altLang="en-US" sz="2000" i="0" dirty="0">
                <a:solidFill>
                  <a:srgbClr val="000000"/>
                </a:solidFill>
                <a:effectLst/>
                <a:latin typeface="Times New Roman" panose="02020603050405020304" pitchFamily="18" charset="0"/>
                <a:cs typeface="Times New Roman" panose="02020603050405020304" pitchFamily="18" charset="0"/>
              </a:rPr>
              <a:t>词性标注目标</a:t>
            </a:r>
            <a:r>
              <a:rPr lang="zh-CN" altLang="en-US" sz="2000" i="0" dirty="0">
                <a:effectLst/>
                <a:latin typeface="Times New Roman" panose="02020603050405020304" pitchFamily="18" charset="0"/>
                <a:cs typeface="Times New Roman" panose="02020603050405020304" pitchFamily="18" charset="0"/>
              </a:rPr>
              <a:t>：确定句子中每个词的词性，像名词、动词、形容词等。</a:t>
            </a:r>
            <a:endParaRPr lang="en-US" altLang="zh-CN" sz="2000" i="0" dirty="0">
              <a:effectLst/>
              <a:latin typeface="Times New Roman" panose="02020603050405020304" pitchFamily="18" charset="0"/>
              <a:cs typeface="Times New Roman" panose="02020603050405020304" pitchFamily="18" charset="0"/>
            </a:endParaRPr>
          </a:p>
          <a:p>
            <a:pPr marL="342900" indent="-342900" algn="l">
              <a:lnSpc>
                <a:spcPct val="125000"/>
              </a:lnSpc>
              <a:buFont typeface="Arial" panose="020B0604020202020204" pitchFamily="34" charset="0"/>
              <a:buChar char="•"/>
            </a:pPr>
            <a:r>
              <a:rPr lang="en-US" altLang="zh-CN" sz="2000" i="0" dirty="0">
                <a:solidFill>
                  <a:srgbClr val="000000"/>
                </a:solidFill>
                <a:effectLst/>
                <a:latin typeface="Times New Roman" panose="02020603050405020304" pitchFamily="18" charset="0"/>
                <a:cs typeface="Times New Roman" panose="02020603050405020304" pitchFamily="18" charset="0"/>
              </a:rPr>
              <a:t>CRF</a:t>
            </a:r>
            <a:r>
              <a:rPr lang="zh-CN" altLang="en-US" sz="2000" i="0" dirty="0">
                <a:solidFill>
                  <a:srgbClr val="000000"/>
                </a:solidFill>
                <a:effectLst/>
                <a:latin typeface="Times New Roman" panose="02020603050405020304" pitchFamily="18" charset="0"/>
                <a:cs typeface="Times New Roman" panose="02020603050405020304" pitchFamily="18" charset="0"/>
              </a:rPr>
              <a:t>适用原因</a:t>
            </a:r>
            <a:r>
              <a:rPr lang="zh-CN" altLang="en-US" sz="2000" i="0" dirty="0">
                <a:effectLst/>
                <a:latin typeface="Times New Roman" panose="02020603050405020304" pitchFamily="18" charset="0"/>
                <a:cs typeface="Times New Roman" panose="02020603050405020304" pitchFamily="18" charset="0"/>
              </a:rPr>
              <a:t>：词的词性常依赖上下文词性，</a:t>
            </a:r>
            <a:r>
              <a:rPr lang="en-US" altLang="zh-CN" sz="2000" i="0" dirty="0">
                <a:effectLst/>
                <a:latin typeface="Times New Roman" panose="02020603050405020304" pitchFamily="18" charset="0"/>
                <a:cs typeface="Times New Roman" panose="02020603050405020304" pitchFamily="18" charset="0"/>
              </a:rPr>
              <a:t>CRF </a:t>
            </a:r>
            <a:r>
              <a:rPr lang="zh-CN" altLang="en-US" sz="2000" i="0" dirty="0">
                <a:effectLst/>
                <a:latin typeface="Times New Roman" panose="02020603050405020304" pitchFamily="18" charset="0"/>
                <a:cs typeface="Times New Roman" panose="02020603050405020304" pitchFamily="18" charset="0"/>
              </a:rPr>
              <a:t>能利用这种关联，实现更精准标注 </a:t>
            </a:r>
            <a:r>
              <a:rPr lang="zh-CN" altLang="en-US" sz="2000" b="0" i="0" dirty="0">
                <a:effectLst/>
                <a:latin typeface="Times New Roman" panose="02020603050405020304" pitchFamily="18" charset="0"/>
                <a:cs typeface="Times New Roman" panose="02020603050405020304" pitchFamily="18" charset="0"/>
              </a:rPr>
              <a:t>。</a:t>
            </a:r>
            <a:endParaRPr lang="zh-CN" altLang="en-US" sz="2000" b="0" i="0" dirty="0">
              <a:effectLst/>
              <a:latin typeface="Times New Roman" panose="02020603050405020304" pitchFamily="18" charset="0"/>
              <a:cs typeface="Times New Roman" panose="02020603050405020304" pitchFamily="18" charset="0"/>
            </a:endParaRPr>
          </a:p>
        </p:txBody>
      </p:sp>
      <p:grpSp>
        <p:nvGrpSpPr>
          <p:cNvPr id="16" name="组合 15"/>
          <p:cNvGrpSpPr/>
          <p:nvPr/>
        </p:nvGrpSpPr>
        <p:grpSpPr>
          <a:xfrm>
            <a:off x="-558165" y="386715"/>
            <a:ext cx="6620510" cy="1273810"/>
            <a:chOff x="-879" y="609"/>
            <a:chExt cx="10426" cy="2006"/>
          </a:xfrm>
        </p:grpSpPr>
        <p:sp>
          <p:nvSpPr>
            <p:cNvPr id="18" name="文本框 17"/>
            <p:cNvSpPr txBox="1"/>
            <p:nvPr/>
          </p:nvSpPr>
          <p:spPr>
            <a:xfrm>
              <a:off x="1518" y="1105"/>
              <a:ext cx="8029" cy="1124"/>
            </a:xfrm>
            <a:prstGeom prst="rect">
              <a:avLst/>
            </a:prstGeom>
            <a:noFill/>
          </p:spPr>
          <p:txBody>
            <a:bodyPr wrap="square" rtlCol="0">
              <a:noAutofit/>
            </a:bodyPr>
            <a:p>
              <a:pPr algn="l"/>
              <a:r>
                <a:rPr lang="zh-CN" altLang="en-US" sz="3600" b="1" dirty="0">
                  <a:solidFill>
                    <a:srgbClr val="06071F"/>
                  </a:solidFill>
                  <a:effectLst/>
                  <a:latin typeface="PingFang-SC-Regular"/>
                  <a:sym typeface="+mn-ea"/>
                </a:rPr>
                <a:t>词性标注问题</a:t>
              </a:r>
              <a:endParaRPr lang="zh-CN" altLang="en-US" sz="3600" b="1" dirty="0"/>
            </a:p>
            <a:p>
              <a:pPr algn="l"/>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27" name="椭圆 26"/>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28" name="椭圆 27"/>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558165" y="386715"/>
            <a:ext cx="11870690" cy="5212715"/>
            <a:chOff x="-879" y="609"/>
            <a:chExt cx="18694" cy="8209"/>
          </a:xfrm>
        </p:grpSpPr>
        <p:sp>
          <p:nvSpPr>
            <p:cNvPr id="14" name="椭圆 13"/>
            <p:cNvSpPr/>
            <p:nvPr/>
          </p:nvSpPr>
          <p:spPr>
            <a:xfrm>
              <a:off x="11255" y="7107"/>
              <a:ext cx="6560" cy="1680"/>
            </a:xfrm>
            <a:prstGeom prst="ellipse">
              <a:avLst/>
            </a:prstGeom>
            <a:gradFill>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pic>
          <p:nvPicPr>
            <p:cNvPr id="13" name="图片 12" descr="D:\AAAAA千库网\2.5D\千库网_教育培训直播课人物插画装饰_元素编号13073736.png千库网_教育培训直播课人物插画装饰_元素编号13073736"/>
            <p:cNvPicPr>
              <a:picLocks noChangeAspect="1"/>
            </p:cNvPicPr>
            <p:nvPr/>
          </p:nvPicPr>
          <p:blipFill>
            <a:blip r:embed="rId2"/>
            <a:srcRect/>
            <a:stretch>
              <a:fillRect/>
            </a:stretch>
          </p:blipFill>
          <p:spPr>
            <a:xfrm>
              <a:off x="11300" y="2623"/>
              <a:ext cx="6195" cy="6195"/>
            </a:xfrm>
            <a:prstGeom prst="rect">
              <a:avLst/>
            </a:prstGeom>
          </p:spPr>
        </p:pic>
        <p:sp>
          <p:nvSpPr>
            <p:cNvPr id="15" name="任意多边形: 形状 6"/>
            <p:cNvSpPr/>
            <p:nvPr>
              <p:custDataLst>
                <p:tags r:id="rId3"/>
              </p:custDataLst>
            </p:nvPr>
          </p:nvSpPr>
          <p:spPr>
            <a:xfrm>
              <a:off x="1766" y="3119"/>
              <a:ext cx="1345" cy="1790"/>
            </a:xfrm>
            <a:custGeom>
              <a:avLst/>
              <a:gdLst>
                <a:gd name="connsiteX0" fmla="*/ 285750 w 854076"/>
                <a:gd name="connsiteY0" fmla="*/ 0 h 1136650"/>
                <a:gd name="connsiteX1" fmla="*/ 854076 w 854076"/>
                <a:gd name="connsiteY1" fmla="*/ 568325 h 1136650"/>
                <a:gd name="connsiteX2" fmla="*/ 285750 w 854076"/>
                <a:gd name="connsiteY2" fmla="*/ 1136650 h 1136650"/>
                <a:gd name="connsiteX3" fmla="*/ 64532 w 854076"/>
                <a:gd name="connsiteY3" fmla="*/ 1091988 h 1136650"/>
                <a:gd name="connsiteX4" fmla="*/ 0 w 854076"/>
                <a:gd name="connsiteY4" fmla="*/ 1056962 h 1136650"/>
                <a:gd name="connsiteX5" fmla="*/ 0 w 854076"/>
                <a:gd name="connsiteY5" fmla="*/ 79689 h 1136650"/>
                <a:gd name="connsiteX6" fmla="*/ 64532 w 854076"/>
                <a:gd name="connsiteY6" fmla="*/ 44662 h 1136650"/>
                <a:gd name="connsiteX7" fmla="*/ 285750 w 854076"/>
                <a:gd name="connsiteY7"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076" h="1136650">
                  <a:moveTo>
                    <a:pt x="285750" y="0"/>
                  </a:moveTo>
                  <a:cubicBezTo>
                    <a:pt x="599628" y="0"/>
                    <a:pt x="854076" y="254448"/>
                    <a:pt x="854076" y="568325"/>
                  </a:cubicBezTo>
                  <a:cubicBezTo>
                    <a:pt x="854076" y="882202"/>
                    <a:pt x="599628" y="1136650"/>
                    <a:pt x="285750" y="1136650"/>
                  </a:cubicBezTo>
                  <a:cubicBezTo>
                    <a:pt x="207281" y="1136650"/>
                    <a:pt x="132526" y="1120747"/>
                    <a:pt x="64532" y="1091988"/>
                  </a:cubicBezTo>
                  <a:lnTo>
                    <a:pt x="0" y="1056962"/>
                  </a:lnTo>
                  <a:lnTo>
                    <a:pt x="0" y="79689"/>
                  </a:lnTo>
                  <a:lnTo>
                    <a:pt x="64532" y="44662"/>
                  </a:lnTo>
                  <a:cubicBezTo>
                    <a:pt x="132526" y="15903"/>
                    <a:pt x="207281" y="0"/>
                    <a:pt x="285750" y="0"/>
                  </a:cubicBezTo>
                  <a:close/>
                </a:path>
              </a:pathLst>
            </a:custGeom>
            <a:gradFill>
              <a:gsLst>
                <a:gs pos="0">
                  <a:schemeClr val="accent4">
                    <a:lumMod val="75000"/>
                  </a:schemeClr>
                </a:gs>
                <a:gs pos="100000">
                  <a:srgbClr val="F1BD59"/>
                </a:gs>
              </a:gsLst>
              <a:lin ang="5400000" scaled="0"/>
            </a:gradFill>
            <a:ln w="38100">
              <a:noFill/>
            </a:ln>
            <a:effectLst>
              <a:outerShdw blurRad="63500" algn="ctr" rotWithShape="0">
                <a:prstClr val="black">
                  <a:alpha val="40000"/>
                </a:prstClr>
              </a:outerShdw>
            </a:effectLst>
          </p:spPr>
          <p:txBody>
            <a:bodyPr/>
            <a:lstStyle/>
            <a:p>
              <a:endParaRPr lang="zh-CN" altLang="en-US" sz="2400">
                <a:solidFill>
                  <a:schemeClr val="tx1"/>
                </a:solidFill>
                <a:cs typeface="+mn-ea"/>
                <a:sym typeface="+mn-lt"/>
              </a:endParaRPr>
            </a:p>
          </p:txBody>
        </p:sp>
        <p:sp>
          <p:nvSpPr>
            <p:cNvPr id="16" name="椭圆 18"/>
            <p:cNvSpPr/>
            <p:nvPr>
              <p:custDataLst>
                <p:tags r:id="rId4"/>
              </p:custDataLst>
            </p:nvPr>
          </p:nvSpPr>
          <p:spPr>
            <a:xfrm>
              <a:off x="2133" y="3767"/>
              <a:ext cx="610" cy="49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17" name="文本框 16"/>
            <p:cNvSpPr txBox="1"/>
            <p:nvPr>
              <p:custDataLst>
                <p:tags r:id="rId5"/>
              </p:custDataLst>
            </p:nvPr>
          </p:nvSpPr>
          <p:spPr>
            <a:xfrm>
              <a:off x="3262" y="3153"/>
              <a:ext cx="8826" cy="2179"/>
            </a:xfrm>
            <a:prstGeom prst="rect">
              <a:avLst/>
            </a:prstGeom>
            <a:noFill/>
          </p:spPr>
          <p:txBody>
            <a:bodyPr wrap="square" rtlCol="0">
              <a:spAutoFit/>
            </a:bodyPr>
            <a:lstStyle/>
            <a:p>
              <a:pPr algn="l">
                <a:lnSpc>
                  <a:spcPct val="150000"/>
                </a:lnSpc>
              </a:pP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使用特征函数，分为状态特征与转移特征。</a:t>
              </a:r>
              <a:endPar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endParaRPr>
            </a:p>
            <a:p>
              <a:pPr algn="l">
                <a:lnSpc>
                  <a:spcPct val="150000"/>
                </a:lnSpc>
              </a:pP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特征函数</a:t>
              </a:r>
              <a:r>
                <a:rPr lang="en-US" altLang="zh-CN"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 1</a:t>
              </a: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：若当前词以</a:t>
              </a:r>
              <a:r>
                <a:rPr lang="en-US" altLang="zh-CN"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“tion”</a:t>
              </a: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结尾，且上下文无明显其他词性提示，则为其标注为名词，加分。</a:t>
              </a:r>
              <a:endPar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endParaRPr>
            </a:p>
            <a:p>
              <a:pPr algn="l">
                <a:lnSpc>
                  <a:spcPct val="150000"/>
                </a:lnSpc>
              </a:pP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特征函数</a:t>
              </a:r>
              <a:r>
                <a:rPr lang="en-US" altLang="zh-CN"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 2</a:t>
              </a: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：若当前词与前一词均为动词，因语法不合理，进行扣分。</a:t>
              </a:r>
              <a:endPar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endParaRPr>
            </a:p>
          </p:txBody>
        </p:sp>
        <p:sp>
          <p:nvSpPr>
            <p:cNvPr id="18" name="任意多边形: 形状 6"/>
            <p:cNvSpPr/>
            <p:nvPr>
              <p:custDataLst>
                <p:tags r:id="rId6"/>
              </p:custDataLst>
            </p:nvPr>
          </p:nvSpPr>
          <p:spPr>
            <a:xfrm>
              <a:off x="1766" y="6528"/>
              <a:ext cx="1345" cy="1790"/>
            </a:xfrm>
            <a:custGeom>
              <a:avLst/>
              <a:gdLst>
                <a:gd name="connsiteX0" fmla="*/ 285750 w 854076"/>
                <a:gd name="connsiteY0" fmla="*/ 0 h 1136650"/>
                <a:gd name="connsiteX1" fmla="*/ 854076 w 854076"/>
                <a:gd name="connsiteY1" fmla="*/ 568325 h 1136650"/>
                <a:gd name="connsiteX2" fmla="*/ 285750 w 854076"/>
                <a:gd name="connsiteY2" fmla="*/ 1136650 h 1136650"/>
                <a:gd name="connsiteX3" fmla="*/ 64532 w 854076"/>
                <a:gd name="connsiteY3" fmla="*/ 1091988 h 1136650"/>
                <a:gd name="connsiteX4" fmla="*/ 0 w 854076"/>
                <a:gd name="connsiteY4" fmla="*/ 1056962 h 1136650"/>
                <a:gd name="connsiteX5" fmla="*/ 0 w 854076"/>
                <a:gd name="connsiteY5" fmla="*/ 79689 h 1136650"/>
                <a:gd name="connsiteX6" fmla="*/ 64532 w 854076"/>
                <a:gd name="connsiteY6" fmla="*/ 44662 h 1136650"/>
                <a:gd name="connsiteX7" fmla="*/ 285750 w 854076"/>
                <a:gd name="connsiteY7" fmla="*/ 0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076" h="1136650">
                  <a:moveTo>
                    <a:pt x="285750" y="0"/>
                  </a:moveTo>
                  <a:cubicBezTo>
                    <a:pt x="599628" y="0"/>
                    <a:pt x="854076" y="254448"/>
                    <a:pt x="854076" y="568325"/>
                  </a:cubicBezTo>
                  <a:cubicBezTo>
                    <a:pt x="854076" y="882202"/>
                    <a:pt x="599628" y="1136650"/>
                    <a:pt x="285750" y="1136650"/>
                  </a:cubicBezTo>
                  <a:cubicBezTo>
                    <a:pt x="207281" y="1136650"/>
                    <a:pt x="132526" y="1120747"/>
                    <a:pt x="64532" y="1091988"/>
                  </a:cubicBezTo>
                  <a:lnTo>
                    <a:pt x="0" y="1056962"/>
                  </a:lnTo>
                  <a:lnTo>
                    <a:pt x="0" y="79689"/>
                  </a:lnTo>
                  <a:lnTo>
                    <a:pt x="64532" y="44662"/>
                  </a:lnTo>
                  <a:cubicBezTo>
                    <a:pt x="132526" y="15903"/>
                    <a:pt x="207281" y="0"/>
                    <a:pt x="285750" y="0"/>
                  </a:cubicBezTo>
                  <a:close/>
                </a:path>
              </a:pathLst>
            </a:custGeom>
            <a:gradFill>
              <a:gsLst>
                <a:gs pos="0">
                  <a:schemeClr val="accent4">
                    <a:lumMod val="75000"/>
                  </a:schemeClr>
                </a:gs>
                <a:gs pos="100000">
                  <a:srgbClr val="F1BD59"/>
                </a:gs>
              </a:gsLst>
              <a:lin ang="5400000" scaled="0"/>
            </a:gradFill>
            <a:ln w="38100">
              <a:noFill/>
            </a:ln>
            <a:effectLst>
              <a:outerShdw blurRad="63500" algn="ctr" rotWithShape="0">
                <a:prstClr val="black">
                  <a:alpha val="40000"/>
                </a:prstClr>
              </a:outerShdw>
            </a:effectLst>
          </p:spPr>
          <p:txBody>
            <a:bodyPr/>
            <a:lstStyle/>
            <a:p>
              <a:endParaRPr lang="zh-CN" altLang="en-US" sz="2400">
                <a:solidFill>
                  <a:schemeClr val="tx1"/>
                </a:solidFill>
                <a:cs typeface="+mn-ea"/>
                <a:sym typeface="+mn-lt"/>
              </a:endParaRPr>
            </a:p>
          </p:txBody>
        </p:sp>
        <p:sp>
          <p:nvSpPr>
            <p:cNvPr id="19" name="椭圆 18"/>
            <p:cNvSpPr/>
            <p:nvPr>
              <p:custDataLst>
                <p:tags r:id="rId7"/>
              </p:custDataLst>
            </p:nvPr>
          </p:nvSpPr>
          <p:spPr>
            <a:xfrm>
              <a:off x="2133" y="7176"/>
              <a:ext cx="610" cy="49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cs typeface="+mn-ea"/>
                <a:sym typeface="+mn-lt"/>
              </a:endParaRPr>
            </a:p>
          </p:txBody>
        </p:sp>
        <p:sp>
          <p:nvSpPr>
            <p:cNvPr id="28" name="文本框 27"/>
            <p:cNvSpPr txBox="1"/>
            <p:nvPr>
              <p:custDataLst>
                <p:tags r:id="rId8"/>
              </p:custDataLst>
            </p:nvPr>
          </p:nvSpPr>
          <p:spPr>
            <a:xfrm>
              <a:off x="3262" y="2615"/>
              <a:ext cx="2915" cy="628"/>
            </a:xfrm>
            <a:prstGeom prst="rect">
              <a:avLst/>
            </a:prstGeom>
            <a:noFill/>
          </p:spPr>
          <p:txBody>
            <a:bodyPr wrap="square" rtlCol="0">
              <a:spAutoFit/>
            </a:bodyPr>
            <a:lstStyle/>
            <a:p>
              <a:pPr algn="l"/>
              <a:r>
                <a:rPr lang="zh-CN"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评分</a:t>
              </a:r>
              <a:r>
                <a:rPr lang="zh-CN"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机制</a:t>
              </a:r>
              <a:endParaRPr lang="zh-CN"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5" name="文本框 4"/>
            <p:cNvSpPr txBox="1"/>
            <p:nvPr>
              <p:custDataLst>
                <p:tags r:id="rId9"/>
              </p:custDataLst>
            </p:nvPr>
          </p:nvSpPr>
          <p:spPr>
            <a:xfrm>
              <a:off x="3262" y="6715"/>
              <a:ext cx="8158" cy="1670"/>
            </a:xfrm>
            <a:prstGeom prst="rect">
              <a:avLst/>
            </a:prstGeom>
            <a:noFill/>
          </p:spPr>
          <p:txBody>
            <a:bodyPr wrap="square" rtlCol="0">
              <a:spAutoFit/>
            </a:bodyPr>
            <a:lstStyle/>
            <a:p>
              <a:pPr algn="l">
                <a:lnSpc>
                  <a:spcPct val="150000"/>
                </a:lnSpc>
              </a:pP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使用所有特征函数的评分总和，决定标注序列的合理性程度。</a:t>
              </a:r>
              <a:endPar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endParaRPr>
            </a:p>
            <a:p>
              <a:pPr algn="l">
                <a:lnSpc>
                  <a:spcPct val="150000"/>
                </a:lnSpc>
              </a:pPr>
              <a:r>
                <a:rPr lang="en-US" altLang="zh-CN"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CRF</a:t>
              </a:r>
              <a:r>
                <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rPr>
                <a:t>融合当前词特征（如拼写、位置）与相邻标签依赖关系，直接学习全局最优的标签序列。</a:t>
              </a:r>
              <a:endParaRPr lang="zh-CN" altLang="en-US" sz="14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ea"/>
              </a:endParaRPr>
            </a:p>
          </p:txBody>
        </p:sp>
        <p:sp>
          <p:nvSpPr>
            <p:cNvPr id="6" name="文本框 5"/>
            <p:cNvSpPr txBox="1"/>
            <p:nvPr>
              <p:custDataLst>
                <p:tags r:id="rId10"/>
              </p:custDataLst>
            </p:nvPr>
          </p:nvSpPr>
          <p:spPr>
            <a:xfrm>
              <a:off x="3262" y="6193"/>
              <a:ext cx="2915" cy="628"/>
            </a:xfrm>
            <a:prstGeom prst="rect">
              <a:avLst/>
            </a:prstGeom>
            <a:noFill/>
          </p:spPr>
          <p:txBody>
            <a:bodyPr wrap="square" rtlCol="0">
              <a:spAutoFit/>
            </a:bodyPr>
            <a:lstStyle/>
            <a:p>
              <a:pPr algn="l"/>
              <a:r>
                <a:rPr lang="zh-CN"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核心</a:t>
              </a:r>
              <a:r>
                <a:rPr lang="zh-CN"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要点</a:t>
              </a:r>
              <a:endParaRPr lang="zh-CN" altLang="zh-CN" sz="2000" b="1">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grpSp>
          <p:nvGrpSpPr>
            <p:cNvPr id="9" name="组合 8"/>
            <p:cNvGrpSpPr/>
            <p:nvPr/>
          </p:nvGrpSpPr>
          <p:grpSpPr>
            <a:xfrm>
              <a:off x="-879" y="609"/>
              <a:ext cx="8311" cy="2006"/>
              <a:chOff x="-879" y="609"/>
              <a:chExt cx="8311" cy="2006"/>
            </a:xfrm>
          </p:grpSpPr>
          <p:sp>
            <p:nvSpPr>
              <p:cNvPr id="22" name="文本框 21"/>
              <p:cNvSpPr txBox="1"/>
              <p:nvPr/>
            </p:nvSpPr>
            <p:spPr>
              <a:xfrm>
                <a:off x="1518" y="1159"/>
                <a:ext cx="5914" cy="907"/>
              </a:xfrm>
              <a:prstGeom prst="rect">
                <a:avLst/>
              </a:prstGeom>
              <a:noFill/>
            </p:spPr>
            <p:txBody>
              <a:bodyPr wrap="square" rtlCol="0">
                <a:noAutofit/>
              </a:bodyPr>
              <a:lstStyle/>
              <a:p>
                <a:pPr algn="l"/>
                <a:r>
                  <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CRF</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的工作</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原理</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26" name="椭圆 25"/>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8" name="椭圆 7"/>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pSp>
    </p:spTree>
    <p:custDataLst>
      <p:tags r:id="rId11"/>
    </p:custData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1238250" y="1609725"/>
            <a:ext cx="9627235" cy="3385820"/>
            <a:chOff x="2475" y="3552"/>
            <a:chExt cx="15161" cy="5332"/>
          </a:xfrm>
        </p:grpSpPr>
        <p:sp>
          <p:nvSpPr>
            <p:cNvPr id="12" name="六边形 11"/>
            <p:cNvSpPr/>
            <p:nvPr>
              <p:custDataLst>
                <p:tags r:id="rId2"/>
              </p:custDataLst>
            </p:nvPr>
          </p:nvSpPr>
          <p:spPr>
            <a:xfrm rot="16200000">
              <a:off x="2418" y="3768"/>
              <a:ext cx="828" cy="714"/>
            </a:xfrm>
            <a:prstGeom prst="hexagon">
              <a:avLst/>
            </a:prstGeom>
            <a:gradFill>
              <a:gsLst>
                <a:gs pos="0">
                  <a:schemeClr val="accent1">
                    <a:lumMod val="5000"/>
                    <a:lumOff val="95000"/>
                  </a:schemeClr>
                </a:gs>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1" name="六边形 20"/>
            <p:cNvSpPr/>
            <p:nvPr>
              <p:custDataLst>
                <p:tags r:id="rId3"/>
              </p:custDataLst>
            </p:nvPr>
          </p:nvSpPr>
          <p:spPr>
            <a:xfrm rot="16200000">
              <a:off x="2418" y="7050"/>
              <a:ext cx="828" cy="714"/>
            </a:xfrm>
            <a:prstGeom prst="hexagon">
              <a:avLst/>
            </a:prstGeom>
            <a:gradFill>
              <a:gsLst>
                <a:gs pos="0">
                  <a:schemeClr val="accent1">
                    <a:lumMod val="5000"/>
                    <a:lumOff val="95000"/>
                  </a:schemeClr>
                </a:gs>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2" name="六边形 21"/>
            <p:cNvSpPr/>
            <p:nvPr>
              <p:custDataLst>
                <p:tags r:id="rId4"/>
              </p:custDataLst>
            </p:nvPr>
          </p:nvSpPr>
          <p:spPr>
            <a:xfrm rot="16200000">
              <a:off x="16865" y="3609"/>
              <a:ext cx="828" cy="714"/>
            </a:xfrm>
            <a:prstGeom prst="hexagon">
              <a:avLst/>
            </a:prstGeom>
            <a:gradFill>
              <a:gsLst>
                <a:gs pos="0">
                  <a:schemeClr val="accent1">
                    <a:lumMod val="5000"/>
                    <a:lumOff val="95000"/>
                  </a:schemeClr>
                </a:gs>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3" name="六边形 22"/>
            <p:cNvSpPr/>
            <p:nvPr>
              <p:custDataLst>
                <p:tags r:id="rId5"/>
              </p:custDataLst>
            </p:nvPr>
          </p:nvSpPr>
          <p:spPr>
            <a:xfrm rot="16200000">
              <a:off x="16865" y="6891"/>
              <a:ext cx="828" cy="714"/>
            </a:xfrm>
            <a:prstGeom prst="hexagon">
              <a:avLst/>
            </a:prstGeom>
            <a:gradFill>
              <a:gsLst>
                <a:gs pos="0">
                  <a:schemeClr val="accent1">
                    <a:lumMod val="5000"/>
                    <a:lumOff val="95000"/>
                  </a:schemeClr>
                </a:gs>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8" name="Freeform 28"/>
            <p:cNvSpPr>
              <a:spLocks noEditPoints="1"/>
            </p:cNvSpPr>
            <p:nvPr>
              <p:custDataLst>
                <p:tags r:id="rId6"/>
              </p:custDataLst>
            </p:nvPr>
          </p:nvSpPr>
          <p:spPr bwMode="auto">
            <a:xfrm flipH="1">
              <a:off x="16993" y="6949"/>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29" name="Freeform 28"/>
            <p:cNvSpPr>
              <a:spLocks noEditPoints="1"/>
            </p:cNvSpPr>
            <p:nvPr>
              <p:custDataLst>
                <p:tags r:id="rId7"/>
              </p:custDataLst>
            </p:nvPr>
          </p:nvSpPr>
          <p:spPr bwMode="auto">
            <a:xfrm flipH="1">
              <a:off x="16993" y="3710"/>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30" name="Freeform 28"/>
            <p:cNvSpPr>
              <a:spLocks noEditPoints="1"/>
            </p:cNvSpPr>
            <p:nvPr>
              <p:custDataLst>
                <p:tags r:id="rId8"/>
              </p:custDataLst>
            </p:nvPr>
          </p:nvSpPr>
          <p:spPr bwMode="auto">
            <a:xfrm flipH="1">
              <a:off x="2546" y="3869"/>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31" name="Freeform 28"/>
            <p:cNvSpPr>
              <a:spLocks noEditPoints="1"/>
            </p:cNvSpPr>
            <p:nvPr>
              <p:custDataLst>
                <p:tags r:id="rId9"/>
              </p:custDataLst>
            </p:nvPr>
          </p:nvSpPr>
          <p:spPr bwMode="auto">
            <a:xfrm flipH="1">
              <a:off x="2546" y="7151"/>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grpSp>
          <p:nvGrpSpPr>
            <p:cNvPr id="33" name="组合 32"/>
            <p:cNvGrpSpPr/>
            <p:nvPr/>
          </p:nvGrpSpPr>
          <p:grpSpPr>
            <a:xfrm>
              <a:off x="7108" y="3869"/>
              <a:ext cx="4983" cy="4366"/>
              <a:chOff x="7929" y="3787"/>
              <a:chExt cx="4983" cy="4366"/>
            </a:xfrm>
          </p:grpSpPr>
          <p:sp>
            <p:nvSpPr>
              <p:cNvPr id="8" name="六边形 7"/>
              <p:cNvSpPr/>
              <p:nvPr>
                <p:custDataLst>
                  <p:tags r:id="rId10"/>
                </p:custDataLst>
              </p:nvPr>
            </p:nvSpPr>
            <p:spPr>
              <a:xfrm>
                <a:off x="7929" y="3787"/>
                <a:ext cx="4983" cy="4296"/>
              </a:xfrm>
              <a:prstGeom prst="hexagon">
                <a:avLst/>
              </a:prstGeom>
              <a:gradFill>
                <a:gsLst>
                  <a:gs pos="0">
                    <a:schemeClr val="accent1">
                      <a:lumMod val="5000"/>
                      <a:lumOff val="95000"/>
                    </a:schemeClr>
                  </a:gs>
                  <a:gs pos="100000">
                    <a:srgbClr val="F1BD59"/>
                  </a:gs>
                  <a:gs pos="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cxnSp>
            <p:nvCxnSpPr>
              <p:cNvPr id="9" name="直接连接符 8"/>
              <p:cNvCxnSpPr/>
              <p:nvPr>
                <p:custDataLst>
                  <p:tags r:id="rId11"/>
                </p:custDataLst>
              </p:nvPr>
            </p:nvCxnSpPr>
            <p:spPr>
              <a:xfrm>
                <a:off x="10420" y="3787"/>
                <a:ext cx="0" cy="4366"/>
              </a:xfrm>
              <a:prstGeom prst="line">
                <a:avLst/>
              </a:prstGeom>
              <a:ln w="2540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2"/>
                </p:custDataLst>
              </p:nvPr>
            </p:nvCxnSpPr>
            <p:spPr>
              <a:xfrm>
                <a:off x="7929" y="5935"/>
                <a:ext cx="4983" cy="0"/>
              </a:xfrm>
              <a:prstGeom prst="line">
                <a:avLst/>
              </a:prstGeom>
              <a:ln w="2540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六边形 10"/>
              <p:cNvSpPr/>
              <p:nvPr>
                <p:custDataLst>
                  <p:tags r:id="rId13"/>
                </p:custDataLst>
              </p:nvPr>
            </p:nvSpPr>
            <p:spPr>
              <a:xfrm>
                <a:off x="8714" y="4464"/>
                <a:ext cx="3412" cy="2941"/>
              </a:xfrm>
              <a:prstGeom prst="hexag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4" name="Freeform 28"/>
              <p:cNvSpPr>
                <a:spLocks noEditPoints="1"/>
              </p:cNvSpPr>
              <p:nvPr>
                <p:custDataLst>
                  <p:tags r:id="rId14"/>
                </p:custDataLst>
              </p:nvPr>
            </p:nvSpPr>
            <p:spPr bwMode="auto">
              <a:xfrm flipH="1">
                <a:off x="8969" y="3903"/>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25" name="Freeform 28"/>
              <p:cNvSpPr>
                <a:spLocks noEditPoints="1"/>
              </p:cNvSpPr>
              <p:nvPr>
                <p:custDataLst>
                  <p:tags r:id="rId15"/>
                </p:custDataLst>
              </p:nvPr>
            </p:nvSpPr>
            <p:spPr bwMode="auto">
              <a:xfrm flipH="1">
                <a:off x="11172" y="3884"/>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26" name="Freeform 28"/>
              <p:cNvSpPr>
                <a:spLocks noEditPoints="1"/>
              </p:cNvSpPr>
              <p:nvPr>
                <p:custDataLst>
                  <p:tags r:id="rId16"/>
                </p:custDataLst>
              </p:nvPr>
            </p:nvSpPr>
            <p:spPr bwMode="auto">
              <a:xfrm flipH="1">
                <a:off x="8888" y="7474"/>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27" name="Freeform 28"/>
              <p:cNvSpPr>
                <a:spLocks noEditPoints="1"/>
              </p:cNvSpPr>
              <p:nvPr>
                <p:custDataLst>
                  <p:tags r:id="rId17"/>
                </p:custDataLst>
              </p:nvPr>
            </p:nvSpPr>
            <p:spPr bwMode="auto">
              <a:xfrm flipH="1">
                <a:off x="11217" y="7474"/>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grpSp>
        <p:sp>
          <p:nvSpPr>
            <p:cNvPr id="47" name="矩形 46"/>
            <p:cNvSpPr/>
            <p:nvPr>
              <p:custDataLst>
                <p:tags r:id="rId18"/>
              </p:custDataLst>
            </p:nvPr>
          </p:nvSpPr>
          <p:spPr>
            <a:xfrm>
              <a:off x="3389" y="4248"/>
              <a:ext cx="3719" cy="725"/>
            </a:xfrm>
            <a:prstGeom prst="rect">
              <a:avLst/>
            </a:prstGeom>
          </p:spPr>
          <p:txBody>
            <a:bodyPr wrap="square">
              <a:spAutoFit/>
              <a:scene3d>
                <a:camera prst="orthographicFront"/>
                <a:lightRig rig="threePt" dir="t"/>
              </a:scene3d>
              <a:sp3d contourW="12700"/>
            </a:bodyPr>
            <a:lstStyle/>
            <a:p>
              <a:pPr algn="l">
                <a:lnSpc>
                  <a:spcPct val="150000"/>
                </a:lnSpc>
              </a:pPr>
              <a:r>
                <a:rPr lang="zh-CN" altLang="en-US" sz="1600" dirty="0">
                  <a:latin typeface="Times New Roman" panose="02020603050405020304" pitchFamily="18" charset="0"/>
                  <a:cs typeface="Times New Roman" panose="02020603050405020304" pitchFamily="18" charset="0"/>
                  <a:sym typeface="+mn-ea"/>
                </a:rPr>
                <a:t>需要标注词性的句子</a:t>
              </a:r>
              <a:endParaRPr lang="zh-CN" altLang="en-US" sz="1600" dirty="0">
                <a:solidFill>
                  <a:schemeClr val="tx1">
                    <a:lumMod val="65000"/>
                    <a:lumOff val="35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36" name="矩形 35"/>
            <p:cNvSpPr/>
            <p:nvPr>
              <p:custDataLst>
                <p:tags r:id="rId19"/>
              </p:custDataLst>
            </p:nvPr>
          </p:nvSpPr>
          <p:spPr>
            <a:xfrm>
              <a:off x="3389" y="7663"/>
              <a:ext cx="3719" cy="725"/>
            </a:xfrm>
            <a:prstGeom prst="rect">
              <a:avLst/>
            </a:prstGeom>
          </p:spPr>
          <p:txBody>
            <a:bodyPr wrap="square">
              <a:spAutoFit/>
              <a:scene3d>
                <a:camera prst="orthographicFront"/>
                <a:lightRig rig="threePt" dir="t"/>
              </a:scene3d>
              <a:sp3d contourW="12700"/>
            </a:bodyPr>
            <a:lstStyle/>
            <a:p>
              <a:pPr algn="l">
                <a:lnSpc>
                  <a:spcPct val="150000"/>
                </a:lnSpc>
              </a:pPr>
              <a:r>
                <a:rPr lang="zh-CN" altLang="en-US" sz="1600" dirty="0">
                  <a:latin typeface="Times New Roman" panose="02020603050405020304" pitchFamily="18" charset="0"/>
                  <a:cs typeface="Times New Roman" panose="02020603050405020304" pitchFamily="18" charset="0"/>
                  <a:sym typeface="+mn-ea"/>
                </a:rPr>
                <a:t>表示句子</a:t>
              </a:r>
              <a:r>
                <a:rPr lang="en-US" altLang="zh-CN" sz="1600" dirty="0">
                  <a:latin typeface="Times New Roman" panose="02020603050405020304" pitchFamily="18" charset="0"/>
                  <a:cs typeface="Times New Roman" panose="02020603050405020304" pitchFamily="18" charset="0"/>
                  <a:sym typeface="+mn-ea"/>
                </a:rPr>
                <a:t>s</a:t>
              </a:r>
              <a:r>
                <a:rPr lang="zh-CN" altLang="en-US" sz="1600" dirty="0">
                  <a:latin typeface="Times New Roman" panose="02020603050405020304" pitchFamily="18" charset="0"/>
                  <a:cs typeface="Times New Roman" panose="02020603050405020304" pitchFamily="18" charset="0"/>
                  <a:sym typeface="+mn-ea"/>
                </a:rPr>
                <a:t>中第</a:t>
              </a:r>
              <a:r>
                <a:rPr lang="en-US" altLang="zh-CN" sz="1600" dirty="0" err="1">
                  <a:latin typeface="Times New Roman" panose="02020603050405020304" pitchFamily="18" charset="0"/>
                  <a:cs typeface="Times New Roman" panose="02020603050405020304" pitchFamily="18" charset="0"/>
                  <a:sym typeface="+mn-ea"/>
                </a:rPr>
                <a:t>i</a:t>
              </a:r>
              <a:r>
                <a:rPr lang="zh-CN" altLang="en-US" sz="1600" dirty="0">
                  <a:latin typeface="Times New Roman" panose="02020603050405020304" pitchFamily="18" charset="0"/>
                  <a:cs typeface="Times New Roman" panose="02020603050405020304" pitchFamily="18" charset="0"/>
                  <a:sym typeface="+mn-ea"/>
                </a:rPr>
                <a:t>个单词</a:t>
              </a:r>
              <a:endParaRPr lang="zh-CN" altLang="en-US" sz="1600" dirty="0">
                <a:solidFill>
                  <a:schemeClr val="tx1">
                    <a:lumMod val="65000"/>
                    <a:lumOff val="35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38" name="矩形 37"/>
            <p:cNvSpPr/>
            <p:nvPr>
              <p:custDataLst>
                <p:tags r:id="rId20"/>
              </p:custDataLst>
            </p:nvPr>
          </p:nvSpPr>
          <p:spPr>
            <a:xfrm>
              <a:off x="12831" y="4338"/>
              <a:ext cx="3852" cy="1307"/>
            </a:xfrm>
            <a:prstGeom prst="rect">
              <a:avLst/>
            </a:prstGeom>
          </p:spPr>
          <p:txBody>
            <a:bodyPr wrap="square">
              <a:spAutoFit/>
              <a:scene3d>
                <a:camera prst="orthographicFront"/>
                <a:lightRig rig="threePt" dir="t"/>
              </a:scene3d>
              <a:sp3d contourW="12700"/>
            </a:bodyPr>
            <a:lstStyle/>
            <a:p>
              <a:pPr algn="r">
                <a:lnSpc>
                  <a:spcPct val="150000"/>
                </a:lnSpc>
              </a:pPr>
              <a:r>
                <a:rPr lang="zh-CN" altLang="en-US" sz="1600" dirty="0">
                  <a:latin typeface="Times New Roman" panose="02020603050405020304" pitchFamily="18" charset="0"/>
                  <a:cs typeface="Times New Roman" panose="02020603050405020304" pitchFamily="18" charset="0"/>
                  <a:sym typeface="+mn-ea"/>
                </a:rPr>
                <a:t>表示要评分的标注序列给第</a:t>
              </a:r>
              <a:r>
                <a:rPr lang="en-US" altLang="zh-CN" sz="1600" dirty="0" err="1">
                  <a:latin typeface="Times New Roman" panose="02020603050405020304" pitchFamily="18" charset="0"/>
                  <a:cs typeface="Times New Roman" panose="02020603050405020304" pitchFamily="18" charset="0"/>
                  <a:sym typeface="+mn-ea"/>
                </a:rPr>
                <a:t>i</a:t>
              </a:r>
              <a:r>
                <a:rPr lang="zh-CN" altLang="en-US" sz="1600" dirty="0">
                  <a:latin typeface="Times New Roman" panose="02020603050405020304" pitchFamily="18" charset="0"/>
                  <a:cs typeface="Times New Roman" panose="02020603050405020304" pitchFamily="18" charset="0"/>
                  <a:sym typeface="+mn-ea"/>
                </a:rPr>
                <a:t>个单词标注的词性</a:t>
              </a:r>
              <a:endParaRPr lang="zh-CN" altLang="en-US" sz="1600" dirty="0">
                <a:solidFill>
                  <a:schemeClr val="tx1">
                    <a:lumMod val="65000"/>
                    <a:lumOff val="35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40" name="矩形 39"/>
            <p:cNvSpPr/>
            <p:nvPr>
              <p:custDataLst>
                <p:tags r:id="rId21"/>
              </p:custDataLst>
            </p:nvPr>
          </p:nvSpPr>
          <p:spPr>
            <a:xfrm>
              <a:off x="12831" y="7577"/>
              <a:ext cx="3852" cy="1307"/>
            </a:xfrm>
            <a:prstGeom prst="rect">
              <a:avLst/>
            </a:prstGeom>
          </p:spPr>
          <p:txBody>
            <a:bodyPr wrap="square">
              <a:spAutoFit/>
              <a:scene3d>
                <a:camera prst="orthographicFront"/>
                <a:lightRig rig="threePt" dir="t"/>
              </a:scene3d>
              <a:sp3d contourW="12700"/>
            </a:bodyPr>
            <a:lstStyle/>
            <a:p>
              <a:pPr algn="r">
                <a:lnSpc>
                  <a:spcPct val="150000"/>
                </a:lnSpc>
              </a:pPr>
              <a:r>
                <a:rPr lang="zh-CN" altLang="en-US" sz="1600" dirty="0">
                  <a:latin typeface="Times New Roman" panose="02020603050405020304" pitchFamily="18" charset="0"/>
                  <a:cs typeface="Times New Roman" panose="02020603050405020304" pitchFamily="18" charset="0"/>
                  <a:sym typeface="+mn-ea"/>
                </a:rPr>
                <a:t>表示要评分的标注序列给第</a:t>
              </a:r>
              <a:r>
                <a:rPr lang="en-US" altLang="zh-CN" sz="1600" dirty="0">
                  <a:latin typeface="Times New Roman" panose="02020603050405020304" pitchFamily="18" charset="0"/>
                  <a:cs typeface="Times New Roman" panose="02020603050405020304" pitchFamily="18" charset="0"/>
                  <a:sym typeface="+mn-ea"/>
                </a:rPr>
                <a:t>i-1</a:t>
              </a:r>
              <a:r>
                <a:rPr lang="zh-CN" altLang="en-US" sz="1600" dirty="0">
                  <a:latin typeface="Times New Roman" panose="02020603050405020304" pitchFamily="18" charset="0"/>
                  <a:cs typeface="Times New Roman" panose="02020603050405020304" pitchFamily="18" charset="0"/>
                  <a:sym typeface="+mn-ea"/>
                </a:rPr>
                <a:t>个单词标注的词性</a:t>
              </a:r>
              <a:endParaRPr lang="zh-CN" altLang="en-US" sz="1600" dirty="0">
                <a:solidFill>
                  <a:schemeClr val="tx1">
                    <a:lumMod val="65000"/>
                    <a:lumOff val="35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pic>
          <p:nvPicPr>
            <p:cNvPr id="41" name="图片 40" descr="303b343532363932303bd6b4d0d0cad6b6ce"/>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8741" y="5116"/>
              <a:ext cx="1718" cy="1718"/>
            </a:xfrm>
            <a:prstGeom prst="rect">
              <a:avLst/>
            </a:prstGeom>
          </p:spPr>
        </p:pic>
      </p:grpSp>
      <p:grpSp>
        <p:nvGrpSpPr>
          <p:cNvPr id="2" name="组合 1"/>
          <p:cNvGrpSpPr/>
          <p:nvPr/>
        </p:nvGrpSpPr>
        <p:grpSpPr>
          <a:xfrm>
            <a:off x="-558165" y="386715"/>
            <a:ext cx="5628640" cy="1273810"/>
            <a:chOff x="-879" y="609"/>
            <a:chExt cx="8864" cy="2006"/>
          </a:xfrm>
        </p:grpSpPr>
        <p:sp>
          <p:nvSpPr>
            <p:cNvPr id="17" name="文本框 16"/>
            <p:cNvSpPr txBox="1"/>
            <p:nvPr/>
          </p:nvSpPr>
          <p:spPr>
            <a:xfrm>
              <a:off x="1518" y="1104"/>
              <a:ext cx="6467" cy="1016"/>
            </a:xfrm>
            <a:prstGeom prst="rect">
              <a:avLst/>
            </a:prstGeom>
            <a:noFill/>
          </p:spPr>
          <p:txBody>
            <a:bodyPr wrap="square" rtlCol="0">
              <a:spAutoFit/>
            </a:bodyPr>
            <a:lstStyle/>
            <a:p>
              <a:pPr algn="l">
                <a:buClrTx/>
                <a:buSzTx/>
                <a:buFontTx/>
              </a:pP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CRF中的特征函数</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9" name="椭圆 18"/>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0" name="椭圆 19"/>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aphicFrame>
        <p:nvGraphicFramePr>
          <p:cNvPr id="4" name="对象 3">
            <a:hlinkClick r:id="" action="ppaction://ole?verb="/>
          </p:cNvPr>
          <p:cNvGraphicFramePr>
            <a:graphicFrameLocks noChangeAspect="1"/>
          </p:cNvGraphicFramePr>
          <p:nvPr/>
        </p:nvGraphicFramePr>
        <p:xfrm>
          <a:off x="9877425" y="1649730"/>
          <a:ext cx="395605" cy="548005"/>
        </p:xfrm>
        <a:graphic>
          <a:graphicData uri="http://schemas.openxmlformats.org/presentationml/2006/ole">
            <mc:AlternateContent xmlns:mc="http://schemas.openxmlformats.org/markup-compatibility/2006">
              <mc:Choice xmlns:v="urn:schemas-microsoft-com:vml" Requires="v">
                <p:oleObj spid="_x0000_s2049" name="" r:id="rId25" imgW="165100" imgH="228600" progId="Equation.KSEE3">
                  <p:embed/>
                </p:oleObj>
              </mc:Choice>
              <mc:Fallback>
                <p:oleObj name="" r:id="rId25" imgW="165100" imgH="228600" progId="Equation.KSEE3">
                  <p:embed/>
                  <p:pic>
                    <p:nvPicPr>
                      <p:cNvPr id="0" name="图片 2048"/>
                      <p:cNvPicPr/>
                      <p:nvPr/>
                    </p:nvPicPr>
                    <p:blipFill>
                      <a:blip r:embed="rId26"/>
                      <a:stretch>
                        <a:fillRect/>
                      </a:stretch>
                    </p:blipFill>
                    <p:spPr>
                      <a:xfrm>
                        <a:off x="9877425" y="1649730"/>
                        <a:ext cx="395605" cy="548005"/>
                      </a:xfrm>
                      <a:prstGeom prst="rect">
                        <a:avLst/>
                      </a:prstGeom>
                      <a:ln>
                        <a:solidFill>
                          <a:srgbClr val="FFC000"/>
                        </a:solidFill>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9664065" y="3743325"/>
          <a:ext cx="608965" cy="548005"/>
        </p:xfrm>
        <a:graphic>
          <a:graphicData uri="http://schemas.openxmlformats.org/presentationml/2006/ole">
            <mc:AlternateContent xmlns:mc="http://schemas.openxmlformats.org/markup-compatibility/2006">
              <mc:Choice xmlns:v="urn:schemas-microsoft-com:vml" Requires="v">
                <p:oleObj spid="_x0000_s6" name="" r:id="rId27" imgW="254000" imgH="228600" progId="Equation.KSEE3">
                  <p:embed/>
                </p:oleObj>
              </mc:Choice>
              <mc:Fallback>
                <p:oleObj name="" r:id="rId27" imgW="254000" imgH="228600" progId="Equation.KSEE3">
                  <p:embed/>
                  <p:pic>
                    <p:nvPicPr>
                      <p:cNvPr id="0" name="图片 2048"/>
                      <p:cNvPicPr/>
                      <p:nvPr/>
                    </p:nvPicPr>
                    <p:blipFill>
                      <a:blip r:embed="rId28"/>
                      <a:stretch>
                        <a:fillRect/>
                      </a:stretch>
                    </p:blipFill>
                    <p:spPr>
                      <a:xfrm>
                        <a:off x="9664065" y="3743325"/>
                        <a:ext cx="608965" cy="548005"/>
                      </a:xfrm>
                      <a:prstGeom prst="rect">
                        <a:avLst/>
                      </a:prstGeom>
                      <a:ln>
                        <a:solidFill>
                          <a:srgbClr val="FFC000"/>
                        </a:solidFill>
                      </a:ln>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007553" y="1810703"/>
          <a:ext cx="274320" cy="335280"/>
        </p:xfrm>
        <a:graphic>
          <a:graphicData uri="http://schemas.openxmlformats.org/presentationml/2006/ole">
            <mc:AlternateContent xmlns:mc="http://schemas.openxmlformats.org/markup-compatibility/2006">
              <mc:Choice xmlns:v="urn:schemas-microsoft-com:vml" Requires="v">
                <p:oleObj spid="_x0000_s13" name="" r:id="rId29" imgW="114300" imgH="139700" progId="Equation.KSEE3">
                  <p:embed/>
                </p:oleObj>
              </mc:Choice>
              <mc:Fallback>
                <p:oleObj name="" r:id="rId29" imgW="114300" imgH="139700" progId="Equation.KSEE3">
                  <p:embed/>
                  <p:pic>
                    <p:nvPicPr>
                      <p:cNvPr id="0" name="图片 2048"/>
                      <p:cNvPicPr/>
                      <p:nvPr/>
                    </p:nvPicPr>
                    <p:blipFill>
                      <a:blip r:embed="rId30"/>
                      <a:stretch>
                        <a:fillRect/>
                      </a:stretch>
                    </p:blipFill>
                    <p:spPr>
                      <a:xfrm>
                        <a:off x="2007553" y="1810703"/>
                        <a:ext cx="274320" cy="335280"/>
                      </a:xfrm>
                      <a:prstGeom prst="rect">
                        <a:avLst/>
                      </a:prstGeom>
                      <a:ln>
                        <a:solidFill>
                          <a:srgbClr val="FFC000"/>
                        </a:solidFill>
                      </a:ln>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2007553" y="3894773"/>
          <a:ext cx="212090" cy="396240"/>
        </p:xfrm>
        <a:graphic>
          <a:graphicData uri="http://schemas.openxmlformats.org/presentationml/2006/ole">
            <mc:AlternateContent xmlns:mc="http://schemas.openxmlformats.org/markup-compatibility/2006">
              <mc:Choice xmlns:v="urn:schemas-microsoft-com:vml" Requires="v">
                <p:oleObj spid="_x0000_s15" name="" r:id="rId31" imgW="88265" imgH="165100" progId="Equation.KSEE3">
                  <p:embed/>
                </p:oleObj>
              </mc:Choice>
              <mc:Fallback>
                <p:oleObj name="" r:id="rId31" imgW="88265" imgH="165100" progId="Equation.KSEE3">
                  <p:embed/>
                  <p:pic>
                    <p:nvPicPr>
                      <p:cNvPr id="0" name="图片 2048"/>
                      <p:cNvPicPr/>
                      <p:nvPr/>
                    </p:nvPicPr>
                    <p:blipFill>
                      <a:blip r:embed="rId32"/>
                      <a:stretch>
                        <a:fillRect/>
                      </a:stretch>
                    </p:blipFill>
                    <p:spPr>
                      <a:xfrm>
                        <a:off x="2007553" y="3894773"/>
                        <a:ext cx="212090" cy="396240"/>
                      </a:xfrm>
                      <a:prstGeom prst="rect">
                        <a:avLst/>
                      </a:prstGeom>
                      <a:ln>
                        <a:solidFill>
                          <a:srgbClr val="FFC000"/>
                        </a:solidFill>
                      </a:ln>
                    </p:spPr>
                  </p:pic>
                </p:oleObj>
              </mc:Fallback>
            </mc:AlternateContent>
          </a:graphicData>
        </a:graphic>
      </p:graphicFrame>
      <p:sp>
        <p:nvSpPr>
          <p:cNvPr id="16" name="文本框 15"/>
          <p:cNvSpPr txBox="1"/>
          <p:nvPr/>
        </p:nvSpPr>
        <p:spPr>
          <a:xfrm>
            <a:off x="1440180" y="5046980"/>
            <a:ext cx="9312275" cy="1129665"/>
          </a:xfrm>
          <a:prstGeom prst="rect">
            <a:avLst/>
          </a:prstGeom>
          <a:noFill/>
        </p:spPr>
        <p:txBody>
          <a:bodyPr wrap="square" rtlCol="0" anchor="t">
            <a:spAutoFit/>
          </a:bodyPr>
          <a:p>
            <a:pPr marL="342900" indent="-342900" fontAlgn="auto">
              <a:lnSpc>
                <a:spcPct val="125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sym typeface="+mn-ea"/>
              </a:rPr>
              <a:t>它的输出值是</a:t>
            </a:r>
            <a:r>
              <a:rPr lang="en-US" altLang="zh-CN" dirty="0">
                <a:latin typeface="Times New Roman" panose="02020603050405020304" pitchFamily="18" charset="0"/>
                <a:cs typeface="Times New Roman" panose="02020603050405020304" pitchFamily="18" charset="0"/>
                <a:sym typeface="+mn-ea"/>
              </a:rPr>
              <a:t>0</a:t>
            </a:r>
            <a:r>
              <a:rPr lang="zh-CN" altLang="en-US" dirty="0">
                <a:latin typeface="Times New Roman" panose="02020603050405020304" pitchFamily="18" charset="0"/>
                <a:cs typeface="Times New Roman" panose="02020603050405020304" pitchFamily="18" charset="0"/>
                <a:sym typeface="+mn-ea"/>
              </a:rPr>
              <a:t>或者</a:t>
            </a:r>
            <a:r>
              <a:rPr lang="en-US" altLang="zh-CN" dirty="0">
                <a:latin typeface="Times New Roman" panose="02020603050405020304" pitchFamily="18" charset="0"/>
                <a:cs typeface="Times New Roman" panose="02020603050405020304" pitchFamily="18" charset="0"/>
                <a:sym typeface="+mn-ea"/>
              </a:rPr>
              <a:t>1,1</a:t>
            </a:r>
            <a:r>
              <a:rPr lang="zh-CN" altLang="en-US" dirty="0">
                <a:latin typeface="Times New Roman" panose="02020603050405020304" pitchFamily="18" charset="0"/>
                <a:cs typeface="Times New Roman" panose="02020603050405020304" pitchFamily="18" charset="0"/>
                <a:sym typeface="+mn-ea"/>
              </a:rPr>
              <a:t>表示要评分的标注序列符合这个特征，否则为</a:t>
            </a:r>
            <a:r>
              <a:rPr lang="en-US" altLang="zh-CN" dirty="0">
                <a:latin typeface="Times New Roman" panose="02020603050405020304" pitchFamily="18" charset="0"/>
                <a:cs typeface="Times New Roman" panose="02020603050405020304" pitchFamily="18" charset="0"/>
                <a:sym typeface="+mn-ea"/>
              </a:rPr>
              <a:t>0</a:t>
            </a:r>
            <a:endParaRPr lang="zh-CN" altLang="en-US" dirty="0">
              <a:latin typeface="Times New Roman" panose="02020603050405020304" pitchFamily="18" charset="0"/>
              <a:cs typeface="Times New Roman" panose="02020603050405020304" pitchFamily="18" charset="0"/>
            </a:endParaRPr>
          </a:p>
          <a:p>
            <a:pPr marL="342900" indent="-342900" fontAlgn="auto">
              <a:lnSpc>
                <a:spcPct val="125000"/>
              </a:lnSpc>
              <a:buFont typeface="Arial" panose="020B0604020202020204" pitchFamily="34" charset="0"/>
              <a:buChar char="•"/>
            </a:pPr>
            <a:r>
              <a:rPr lang="zh-CN" altLang="en-US" dirty="0">
                <a:latin typeface="Times New Roman" panose="02020603050405020304" pitchFamily="18" charset="0"/>
                <a:cs typeface="Times New Roman" panose="02020603050405020304" pitchFamily="18" charset="0"/>
                <a:sym typeface="+mn-ea"/>
              </a:rPr>
              <a:t>这里定义的特征函数</a:t>
            </a:r>
            <a:r>
              <a:rPr lang="zh-CN" altLang="en-US" b="1" u="sng" dirty="0">
                <a:latin typeface="Times New Roman" panose="02020603050405020304" pitchFamily="18" charset="0"/>
                <a:cs typeface="Times New Roman" panose="02020603050405020304" pitchFamily="18" charset="0"/>
                <a:sym typeface="+mn-ea"/>
              </a:rPr>
              <a:t>仅仅依靠当前单词的标签</a:t>
            </a:r>
            <a:r>
              <a:rPr lang="zh-CN" altLang="en-US" dirty="0">
                <a:latin typeface="Times New Roman" panose="02020603050405020304" pitchFamily="18" charset="0"/>
                <a:cs typeface="Times New Roman" panose="02020603050405020304" pitchFamily="18" charset="0"/>
                <a:sym typeface="+mn-ea"/>
              </a:rPr>
              <a:t>和</a:t>
            </a:r>
            <a:r>
              <a:rPr lang="zh-CN" altLang="en-US" b="1" u="sng" dirty="0">
                <a:latin typeface="Times New Roman" panose="02020603050405020304" pitchFamily="18" charset="0"/>
                <a:cs typeface="Times New Roman" panose="02020603050405020304" pitchFamily="18" charset="0"/>
                <a:sym typeface="+mn-ea"/>
              </a:rPr>
              <a:t>它前面的单词的标签</a:t>
            </a:r>
            <a:r>
              <a:rPr lang="zh-CN" altLang="en-US" dirty="0">
                <a:latin typeface="Times New Roman" panose="02020603050405020304" pitchFamily="18" charset="0"/>
                <a:cs typeface="Times New Roman" panose="02020603050405020304" pitchFamily="18" charset="0"/>
                <a:sym typeface="+mn-ea"/>
              </a:rPr>
              <a:t>对标注序列进行评判，这样建立的</a:t>
            </a:r>
            <a:r>
              <a:rPr lang="en-US" altLang="zh-CN" dirty="0">
                <a:latin typeface="Times New Roman" panose="02020603050405020304" pitchFamily="18" charset="0"/>
                <a:cs typeface="Times New Roman" panose="02020603050405020304" pitchFamily="18" charset="0"/>
                <a:sym typeface="+mn-ea"/>
              </a:rPr>
              <a:t>CRF</a:t>
            </a:r>
            <a:r>
              <a:rPr lang="zh-CN" altLang="en-US" dirty="0">
                <a:latin typeface="Times New Roman" panose="02020603050405020304" pitchFamily="18" charset="0"/>
                <a:cs typeface="Times New Roman" panose="02020603050405020304" pitchFamily="18" charset="0"/>
                <a:sym typeface="+mn-ea"/>
              </a:rPr>
              <a:t>也叫作</a:t>
            </a:r>
            <a:r>
              <a:rPr lang="zh-CN" altLang="en-US" b="1" u="sng" dirty="0">
                <a:latin typeface="Times New Roman" panose="02020603050405020304" pitchFamily="18" charset="0"/>
                <a:cs typeface="Times New Roman" panose="02020603050405020304" pitchFamily="18" charset="0"/>
                <a:sym typeface="+mn-ea"/>
              </a:rPr>
              <a:t>线性链</a:t>
            </a:r>
            <a:r>
              <a:rPr lang="en-US" altLang="zh-CN" b="1" u="sng" dirty="0">
                <a:latin typeface="Times New Roman" panose="02020603050405020304" pitchFamily="18" charset="0"/>
                <a:cs typeface="Times New Roman" panose="02020603050405020304" pitchFamily="18" charset="0"/>
                <a:sym typeface="+mn-ea"/>
              </a:rPr>
              <a:t>CRF</a:t>
            </a:r>
            <a:r>
              <a:rPr lang="zh-CN" altLang="en-US" dirty="0">
                <a:latin typeface="Times New Roman" panose="02020603050405020304" pitchFamily="18" charset="0"/>
                <a:cs typeface="Times New Roman" panose="02020603050405020304" pitchFamily="18" charset="0"/>
                <a:sym typeface="+mn-ea"/>
              </a:rPr>
              <a:t>。</a:t>
            </a:r>
            <a:endParaRPr lang="zh-CN" altLang="en-US" dirty="0">
              <a:latin typeface="Times New Roman" panose="02020603050405020304" pitchFamily="18" charset="0"/>
              <a:cs typeface="Times New Roman" panose="02020603050405020304" pitchFamily="18" charset="0"/>
              <a:sym typeface="+mn-ea"/>
            </a:endParaRPr>
          </a:p>
        </p:txBody>
      </p:sp>
    </p:spTree>
    <p:custDataLst>
      <p:tags r:id="rId33"/>
    </p:custData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1391285" y="2017395"/>
            <a:ext cx="9659620" cy="3488690"/>
            <a:chOff x="2191" y="4014"/>
            <a:chExt cx="15212" cy="5494"/>
          </a:xfrm>
        </p:grpSpPr>
        <p:sp>
          <p:nvSpPr>
            <p:cNvPr id="2" name="文本框 1"/>
            <p:cNvSpPr txBox="1"/>
            <p:nvPr/>
          </p:nvSpPr>
          <p:spPr>
            <a:xfrm>
              <a:off x="2191" y="4014"/>
              <a:ext cx="15212" cy="749"/>
            </a:xfrm>
            <a:prstGeom prst="rect">
              <a:avLst/>
            </a:prstGeom>
            <a:noFill/>
          </p:spPr>
          <p:txBody>
            <a:bodyPr wrap="square" rtlCol="0">
              <a:spAutoFit/>
            </a:bodyPr>
            <a:lstStyle/>
            <a:p>
              <a:pPr>
                <a:lnSpc>
                  <a:spcPct val="125000"/>
                </a:lnSpc>
                <a:spcBef>
                  <a:spcPts val="0"/>
                </a:spcBef>
              </a:pPr>
              <a:r>
                <a:rPr lang="zh-CN" altLang="en-US" sz="2000" dirty="0">
                  <a:latin typeface="Times New Roman" panose="02020603050405020304" pitchFamily="18" charset="0"/>
                  <a:cs typeface="Times New Roman" panose="02020603050405020304" pitchFamily="18" charset="0"/>
                  <a:sym typeface="+mn-ea"/>
                </a:rPr>
                <a:t>适用场景：</a:t>
              </a:r>
              <a:r>
                <a:rPr lang="en-US" altLang="zh-CN" sz="2000" dirty="0">
                  <a:latin typeface="Times New Roman" panose="02020603050405020304" pitchFamily="18" charset="0"/>
                  <a:cs typeface="Times New Roman" panose="02020603050405020304" pitchFamily="18" charset="0"/>
                  <a:sym typeface="+mn-ea"/>
                </a:rPr>
                <a:t>CRF </a:t>
              </a:r>
              <a:r>
                <a:rPr lang="zh-CN" altLang="en-US" sz="2000" dirty="0">
                  <a:latin typeface="Times New Roman" panose="02020603050405020304" pitchFamily="18" charset="0"/>
                  <a:cs typeface="Times New Roman" panose="02020603050405020304" pitchFamily="18" charset="0"/>
                  <a:sym typeface="+mn-ea"/>
                </a:rPr>
                <a:t>适用于具有</a:t>
              </a:r>
              <a:r>
                <a:rPr lang="zh-CN" altLang="en-US" sz="2000" b="1" dirty="0">
                  <a:latin typeface="Times New Roman" panose="02020603050405020304" pitchFamily="18" charset="0"/>
                  <a:cs typeface="Times New Roman" panose="02020603050405020304" pitchFamily="18" charset="0"/>
                  <a:sym typeface="+mn-ea"/>
                </a:rPr>
                <a:t>强序列关联</a:t>
              </a:r>
              <a:r>
                <a:rPr lang="zh-CN" altLang="en-US" sz="2000" dirty="0">
                  <a:latin typeface="Times New Roman" panose="02020603050405020304" pitchFamily="18" charset="0"/>
                  <a:cs typeface="Times New Roman" panose="02020603050405020304" pitchFamily="18" charset="0"/>
                  <a:sym typeface="+mn-ea"/>
                </a:rPr>
                <a:t>的任务，比如涉及时间、空间顺序的任务。</a:t>
              </a:r>
              <a:endParaRPr lang="zh-CN" altLang="en-US" sz="2000" dirty="0">
                <a:latin typeface="Times New Roman" panose="02020603050405020304" pitchFamily="18" charset="0"/>
                <a:cs typeface="Times New Roman" panose="02020603050405020304" pitchFamily="18" charset="0"/>
                <a:sym typeface="+mn-ea"/>
              </a:endParaRPr>
            </a:p>
          </p:txBody>
        </p:sp>
        <p:sp>
          <p:nvSpPr>
            <p:cNvPr id="5" name="矩形: 圆角 1"/>
            <p:cNvSpPr/>
            <p:nvPr>
              <p:custDataLst>
                <p:tags r:id="rId2"/>
              </p:custDataLst>
            </p:nvPr>
          </p:nvSpPr>
          <p:spPr>
            <a:xfrm>
              <a:off x="2283" y="5076"/>
              <a:ext cx="4499" cy="4238"/>
            </a:xfrm>
            <a:prstGeom prst="roundRect">
              <a:avLst>
                <a:gd name="adj" fmla="val 4329"/>
              </a:avLst>
            </a:prstGeom>
            <a:solidFill>
              <a:schemeClr val="bg1"/>
            </a:solidFill>
            <a:ln w="1047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6" name="矩形: 圆角 4"/>
            <p:cNvSpPr/>
            <p:nvPr>
              <p:custDataLst>
                <p:tags r:id="rId3"/>
              </p:custDataLst>
            </p:nvPr>
          </p:nvSpPr>
          <p:spPr>
            <a:xfrm>
              <a:off x="7473" y="5076"/>
              <a:ext cx="4499" cy="4238"/>
            </a:xfrm>
            <a:prstGeom prst="roundRect">
              <a:avLst>
                <a:gd name="adj" fmla="val 4329"/>
              </a:avLst>
            </a:prstGeom>
            <a:solidFill>
              <a:schemeClr val="bg1"/>
            </a:solidFill>
            <a:ln w="1047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7" name="矩形: 圆角 5"/>
            <p:cNvSpPr/>
            <p:nvPr>
              <p:custDataLst>
                <p:tags r:id="rId4"/>
              </p:custDataLst>
            </p:nvPr>
          </p:nvSpPr>
          <p:spPr>
            <a:xfrm>
              <a:off x="12664" y="5076"/>
              <a:ext cx="4499" cy="4238"/>
            </a:xfrm>
            <a:prstGeom prst="roundRect">
              <a:avLst>
                <a:gd name="adj" fmla="val 4329"/>
              </a:avLst>
            </a:prstGeom>
            <a:solidFill>
              <a:schemeClr val="bg1"/>
            </a:solidFill>
            <a:ln w="10477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mn-ea"/>
                <a:sym typeface="+mn-lt"/>
              </a:endParaRPr>
            </a:p>
          </p:txBody>
        </p:sp>
        <p:sp>
          <p:nvSpPr>
            <p:cNvPr id="8" name="任意多边形: 形状 12"/>
            <p:cNvSpPr/>
            <p:nvPr>
              <p:custDataLst>
                <p:tags r:id="rId5"/>
              </p:custDataLst>
            </p:nvPr>
          </p:nvSpPr>
          <p:spPr>
            <a:xfrm>
              <a:off x="2283" y="5076"/>
              <a:ext cx="4499" cy="1188"/>
            </a:xfrm>
            <a:custGeom>
              <a:avLst/>
              <a:gdLst>
                <a:gd name="connsiteX0" fmla="*/ 123675 w 2856902"/>
                <a:gd name="connsiteY0" fmla="*/ 0 h 984250"/>
                <a:gd name="connsiteX1" fmla="*/ 2733227 w 2856902"/>
                <a:gd name="connsiteY1" fmla="*/ 0 h 984250"/>
                <a:gd name="connsiteX2" fmla="*/ 2856902 w 2856902"/>
                <a:gd name="connsiteY2" fmla="*/ 123675 h 984250"/>
                <a:gd name="connsiteX3" fmla="*/ 2856902 w 2856902"/>
                <a:gd name="connsiteY3" fmla="*/ 896379 h 984250"/>
                <a:gd name="connsiteX4" fmla="*/ 2651978 w 2856902"/>
                <a:gd name="connsiteY4" fmla="*/ 921729 h 984250"/>
                <a:gd name="connsiteX5" fmla="*/ 1428451 w 2856902"/>
                <a:gd name="connsiteY5" fmla="*/ 984250 h 984250"/>
                <a:gd name="connsiteX6" fmla="*/ 204924 w 2856902"/>
                <a:gd name="connsiteY6" fmla="*/ 921729 h 984250"/>
                <a:gd name="connsiteX7" fmla="*/ 0 w 2856902"/>
                <a:gd name="connsiteY7" fmla="*/ 896379 h 984250"/>
                <a:gd name="connsiteX8" fmla="*/ 0 w 2856902"/>
                <a:gd name="connsiteY8" fmla="*/ 123675 h 984250"/>
                <a:gd name="connsiteX9" fmla="*/ 123675 w 2856902"/>
                <a:gd name="connsiteY9" fmla="*/ 0 h 98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6902" h="984250">
                  <a:moveTo>
                    <a:pt x="123675" y="0"/>
                  </a:moveTo>
                  <a:lnTo>
                    <a:pt x="2733227" y="0"/>
                  </a:lnTo>
                  <a:cubicBezTo>
                    <a:pt x="2801531" y="0"/>
                    <a:pt x="2856902" y="55371"/>
                    <a:pt x="2856902" y="123675"/>
                  </a:cubicBezTo>
                  <a:lnTo>
                    <a:pt x="2856902" y="896379"/>
                  </a:lnTo>
                  <a:lnTo>
                    <a:pt x="2651978" y="921729"/>
                  </a:lnTo>
                  <a:cubicBezTo>
                    <a:pt x="2265466" y="962361"/>
                    <a:pt x="1854522" y="984250"/>
                    <a:pt x="1428451" y="984250"/>
                  </a:cubicBezTo>
                  <a:cubicBezTo>
                    <a:pt x="1002381" y="984250"/>
                    <a:pt x="591436" y="962361"/>
                    <a:pt x="204924" y="921729"/>
                  </a:cubicBezTo>
                  <a:lnTo>
                    <a:pt x="0" y="896379"/>
                  </a:lnTo>
                  <a:lnTo>
                    <a:pt x="0" y="123675"/>
                  </a:lnTo>
                  <a:cubicBezTo>
                    <a:pt x="0" y="55371"/>
                    <a:pt x="55371" y="0"/>
                    <a:pt x="123675" y="0"/>
                  </a:cubicBezTo>
                  <a:close/>
                </a:path>
              </a:pathLst>
            </a:custGeom>
            <a:gradFill>
              <a:gsLst>
                <a:gs pos="0">
                  <a:schemeClr val="accent4">
                    <a:lumMod val="75000"/>
                  </a:schemeClr>
                </a:gs>
                <a:gs pos="100000">
                  <a:srgbClr val="F1BD59"/>
                </a:gs>
              </a:gsLst>
              <a:lin ang="5400000" scaled="0"/>
            </a:gradFill>
            <a:ln w="38100">
              <a:noFill/>
            </a:ln>
            <a:effectLst/>
          </p:spPr>
          <p:txBody>
            <a:bodyPr/>
            <a:lstStyle/>
            <a:p>
              <a:endParaRPr lang="zh-CN" altLang="en-US" sz="2400">
                <a:solidFill>
                  <a:schemeClr val="tx1"/>
                </a:solidFill>
                <a:cs typeface="+mn-ea"/>
                <a:sym typeface="+mn-lt"/>
              </a:endParaRPr>
            </a:p>
          </p:txBody>
        </p:sp>
        <p:sp>
          <p:nvSpPr>
            <p:cNvPr id="9" name="任意多边形: 形状 13"/>
            <p:cNvSpPr/>
            <p:nvPr>
              <p:custDataLst>
                <p:tags r:id="rId6"/>
              </p:custDataLst>
            </p:nvPr>
          </p:nvSpPr>
          <p:spPr>
            <a:xfrm>
              <a:off x="7473" y="5076"/>
              <a:ext cx="4499" cy="1188"/>
            </a:xfrm>
            <a:custGeom>
              <a:avLst/>
              <a:gdLst>
                <a:gd name="connsiteX0" fmla="*/ 123675 w 2856902"/>
                <a:gd name="connsiteY0" fmla="*/ 0 h 984250"/>
                <a:gd name="connsiteX1" fmla="*/ 2733227 w 2856902"/>
                <a:gd name="connsiteY1" fmla="*/ 0 h 984250"/>
                <a:gd name="connsiteX2" fmla="*/ 2856902 w 2856902"/>
                <a:gd name="connsiteY2" fmla="*/ 123675 h 984250"/>
                <a:gd name="connsiteX3" fmla="*/ 2856902 w 2856902"/>
                <a:gd name="connsiteY3" fmla="*/ 896379 h 984250"/>
                <a:gd name="connsiteX4" fmla="*/ 2651978 w 2856902"/>
                <a:gd name="connsiteY4" fmla="*/ 921729 h 984250"/>
                <a:gd name="connsiteX5" fmla="*/ 1428451 w 2856902"/>
                <a:gd name="connsiteY5" fmla="*/ 984250 h 984250"/>
                <a:gd name="connsiteX6" fmla="*/ 204924 w 2856902"/>
                <a:gd name="connsiteY6" fmla="*/ 921729 h 984250"/>
                <a:gd name="connsiteX7" fmla="*/ 0 w 2856902"/>
                <a:gd name="connsiteY7" fmla="*/ 896379 h 984250"/>
                <a:gd name="connsiteX8" fmla="*/ 0 w 2856902"/>
                <a:gd name="connsiteY8" fmla="*/ 123675 h 984250"/>
                <a:gd name="connsiteX9" fmla="*/ 123675 w 2856902"/>
                <a:gd name="connsiteY9" fmla="*/ 0 h 98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6902" h="984250">
                  <a:moveTo>
                    <a:pt x="123675" y="0"/>
                  </a:moveTo>
                  <a:lnTo>
                    <a:pt x="2733227" y="0"/>
                  </a:lnTo>
                  <a:cubicBezTo>
                    <a:pt x="2801531" y="0"/>
                    <a:pt x="2856902" y="55371"/>
                    <a:pt x="2856902" y="123675"/>
                  </a:cubicBezTo>
                  <a:lnTo>
                    <a:pt x="2856902" y="896379"/>
                  </a:lnTo>
                  <a:lnTo>
                    <a:pt x="2651978" y="921729"/>
                  </a:lnTo>
                  <a:cubicBezTo>
                    <a:pt x="2265466" y="962361"/>
                    <a:pt x="1854522" y="984250"/>
                    <a:pt x="1428451" y="984250"/>
                  </a:cubicBezTo>
                  <a:cubicBezTo>
                    <a:pt x="1002381" y="984250"/>
                    <a:pt x="591436" y="962361"/>
                    <a:pt x="204924" y="921729"/>
                  </a:cubicBezTo>
                  <a:lnTo>
                    <a:pt x="0" y="896379"/>
                  </a:lnTo>
                  <a:lnTo>
                    <a:pt x="0" y="123675"/>
                  </a:lnTo>
                  <a:cubicBezTo>
                    <a:pt x="0" y="55371"/>
                    <a:pt x="55371" y="0"/>
                    <a:pt x="123675" y="0"/>
                  </a:cubicBezTo>
                  <a:close/>
                </a:path>
              </a:pathLst>
            </a:custGeom>
            <a:gradFill>
              <a:gsLst>
                <a:gs pos="0">
                  <a:schemeClr val="accent4">
                    <a:lumMod val="75000"/>
                  </a:schemeClr>
                </a:gs>
                <a:gs pos="100000">
                  <a:srgbClr val="F1BD59"/>
                </a:gs>
              </a:gsLst>
              <a:lin ang="54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任意多边形: 形状 14"/>
            <p:cNvSpPr/>
            <p:nvPr>
              <p:custDataLst>
                <p:tags r:id="rId7"/>
              </p:custDataLst>
            </p:nvPr>
          </p:nvSpPr>
          <p:spPr>
            <a:xfrm>
              <a:off x="12664" y="5076"/>
              <a:ext cx="4499" cy="1188"/>
            </a:xfrm>
            <a:custGeom>
              <a:avLst/>
              <a:gdLst>
                <a:gd name="connsiteX0" fmla="*/ 123675 w 2856902"/>
                <a:gd name="connsiteY0" fmla="*/ 0 h 984250"/>
                <a:gd name="connsiteX1" fmla="*/ 2733227 w 2856902"/>
                <a:gd name="connsiteY1" fmla="*/ 0 h 984250"/>
                <a:gd name="connsiteX2" fmla="*/ 2856902 w 2856902"/>
                <a:gd name="connsiteY2" fmla="*/ 123675 h 984250"/>
                <a:gd name="connsiteX3" fmla="*/ 2856902 w 2856902"/>
                <a:gd name="connsiteY3" fmla="*/ 896379 h 984250"/>
                <a:gd name="connsiteX4" fmla="*/ 2651978 w 2856902"/>
                <a:gd name="connsiteY4" fmla="*/ 921729 h 984250"/>
                <a:gd name="connsiteX5" fmla="*/ 1428451 w 2856902"/>
                <a:gd name="connsiteY5" fmla="*/ 984250 h 984250"/>
                <a:gd name="connsiteX6" fmla="*/ 204924 w 2856902"/>
                <a:gd name="connsiteY6" fmla="*/ 921729 h 984250"/>
                <a:gd name="connsiteX7" fmla="*/ 0 w 2856902"/>
                <a:gd name="connsiteY7" fmla="*/ 896379 h 984250"/>
                <a:gd name="connsiteX8" fmla="*/ 0 w 2856902"/>
                <a:gd name="connsiteY8" fmla="*/ 123675 h 984250"/>
                <a:gd name="connsiteX9" fmla="*/ 123675 w 2856902"/>
                <a:gd name="connsiteY9" fmla="*/ 0 h 984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56902" h="984250">
                  <a:moveTo>
                    <a:pt x="123675" y="0"/>
                  </a:moveTo>
                  <a:lnTo>
                    <a:pt x="2733227" y="0"/>
                  </a:lnTo>
                  <a:cubicBezTo>
                    <a:pt x="2801531" y="0"/>
                    <a:pt x="2856902" y="55371"/>
                    <a:pt x="2856902" y="123675"/>
                  </a:cubicBezTo>
                  <a:lnTo>
                    <a:pt x="2856902" y="896379"/>
                  </a:lnTo>
                  <a:lnTo>
                    <a:pt x="2651978" y="921729"/>
                  </a:lnTo>
                  <a:cubicBezTo>
                    <a:pt x="2265466" y="962361"/>
                    <a:pt x="1854522" y="984250"/>
                    <a:pt x="1428451" y="984250"/>
                  </a:cubicBezTo>
                  <a:cubicBezTo>
                    <a:pt x="1002381" y="984250"/>
                    <a:pt x="591436" y="962361"/>
                    <a:pt x="204924" y="921729"/>
                  </a:cubicBezTo>
                  <a:lnTo>
                    <a:pt x="0" y="896379"/>
                  </a:lnTo>
                  <a:lnTo>
                    <a:pt x="0" y="123675"/>
                  </a:lnTo>
                  <a:cubicBezTo>
                    <a:pt x="0" y="55371"/>
                    <a:pt x="55371" y="0"/>
                    <a:pt x="123675" y="0"/>
                  </a:cubicBezTo>
                  <a:close/>
                </a:path>
              </a:pathLst>
            </a:custGeom>
            <a:gradFill>
              <a:gsLst>
                <a:gs pos="0">
                  <a:schemeClr val="accent4">
                    <a:lumMod val="75000"/>
                  </a:schemeClr>
                </a:gs>
                <a:gs pos="100000">
                  <a:srgbClr val="F1BD59"/>
                </a:gs>
              </a:gsLst>
              <a:lin ang="5400000" scaled="0"/>
            </a:gradFill>
            <a:ln w="38100">
              <a:noFill/>
            </a:ln>
            <a:effectLst/>
          </p:spPr>
          <p:txBody>
            <a:bodyPr/>
            <a:lstStyle/>
            <a:p>
              <a:endParaRPr lang="zh-CN" altLang="en-US" sz="2400">
                <a:solidFill>
                  <a:schemeClr val="tx1"/>
                </a:solidFill>
                <a:cs typeface="+mn-ea"/>
                <a:sym typeface="+mn-lt"/>
              </a:endParaRPr>
            </a:p>
          </p:txBody>
        </p:sp>
        <p:sp>
          <p:nvSpPr>
            <p:cNvPr id="16" name="文本框 15"/>
            <p:cNvSpPr txBox="1"/>
            <p:nvPr>
              <p:custDataLst>
                <p:tags r:id="rId8"/>
              </p:custDataLst>
            </p:nvPr>
          </p:nvSpPr>
          <p:spPr>
            <a:xfrm>
              <a:off x="2516" y="6456"/>
              <a:ext cx="4032" cy="3052"/>
            </a:xfrm>
            <a:prstGeom prst="rect">
              <a:avLst/>
            </a:prstGeom>
            <a:noFill/>
          </p:spPr>
          <p:txBody>
            <a:bodyPr wrap="square" rtlCol="0">
              <a:spAutoFit/>
            </a:bodyPr>
            <a:lstStyle/>
            <a:p>
              <a:pPr marL="0" lvl="1" algn="l">
                <a:lnSpc>
                  <a:spcPct val="150000"/>
                </a:lnSpc>
              </a:pPr>
              <a:r>
                <a:rPr lang="zh-CN" altLang="en-US" sz="2000" dirty="0">
                  <a:latin typeface="Times New Roman" panose="02020603050405020304" pitchFamily="18" charset="0"/>
                  <a:cs typeface="Times New Roman" panose="02020603050405020304" pitchFamily="18" charset="0"/>
                  <a:sym typeface="+mn-ea"/>
                </a:rPr>
                <a:t>每个特征函数以整个句子 </a:t>
              </a:r>
              <a:r>
                <a:rPr lang="en-US" altLang="zh-CN" sz="2000" dirty="0">
                  <a:latin typeface="Times New Roman" panose="02020603050405020304" pitchFamily="18" charset="0"/>
                  <a:cs typeface="Times New Roman" panose="02020603050405020304" pitchFamily="18" charset="0"/>
                  <a:sym typeface="+mn-ea"/>
                </a:rPr>
                <a:t>s</a:t>
              </a:r>
              <a:r>
                <a:rPr lang="zh-CN" altLang="en-US" sz="2000" dirty="0">
                  <a:latin typeface="Times New Roman" panose="02020603050405020304" pitchFamily="18" charset="0"/>
                  <a:cs typeface="Times New Roman" panose="02020603050405020304" pitchFamily="18" charset="0"/>
                  <a:sym typeface="+mn-ea"/>
                </a:rPr>
                <a:t>、当前位置 </a:t>
              </a:r>
              <a:r>
                <a:rPr lang="en-US" altLang="zh-CN" sz="2000" dirty="0" err="1">
                  <a:latin typeface="Times New Roman" panose="02020603050405020304" pitchFamily="18" charset="0"/>
                  <a:cs typeface="Times New Roman" panose="02020603050405020304" pitchFamily="18" charset="0"/>
                  <a:sym typeface="+mn-ea"/>
                </a:rPr>
                <a:t>i</a:t>
              </a:r>
              <a:r>
                <a:rPr lang="zh-CN" altLang="en-US" sz="2000" dirty="0">
                  <a:latin typeface="Times New Roman" panose="02020603050405020304" pitchFamily="18" charset="0"/>
                  <a:cs typeface="Times New Roman" panose="02020603050405020304" pitchFamily="18" charset="0"/>
                  <a:sym typeface="+mn-ea"/>
                </a:rPr>
                <a:t>、位置 </a:t>
              </a:r>
              <a:r>
                <a:rPr lang="en-US" altLang="zh-CN" sz="2000" dirty="0" err="1">
                  <a:latin typeface="Times New Roman" panose="02020603050405020304" pitchFamily="18" charset="0"/>
                  <a:cs typeface="Times New Roman" panose="02020603050405020304" pitchFamily="18" charset="0"/>
                  <a:sym typeface="+mn-ea"/>
                </a:rPr>
                <a:t>i</a:t>
              </a:r>
              <a:r>
                <a:rPr lang="en-US" altLang="zh-CN" sz="2000" dirty="0">
                  <a:latin typeface="Times New Roman" panose="02020603050405020304" pitchFamily="18" charset="0"/>
                  <a:cs typeface="Times New Roman" panose="02020603050405020304" pitchFamily="18" charset="0"/>
                  <a:sym typeface="+mn-ea"/>
                </a:rPr>
                <a:t> </a:t>
              </a:r>
              <a:r>
                <a:rPr lang="zh-CN" altLang="en-US" sz="2000" dirty="0">
                  <a:latin typeface="Times New Roman" panose="02020603050405020304" pitchFamily="18" charset="0"/>
                  <a:cs typeface="Times New Roman" panose="02020603050405020304" pitchFamily="18" charset="0"/>
                  <a:sym typeface="+mn-ea"/>
                </a:rPr>
                <a:t>和 </a:t>
              </a:r>
              <a:r>
                <a:rPr lang="en-US" altLang="zh-CN" sz="2000" dirty="0" err="1">
                  <a:latin typeface="Times New Roman" panose="02020603050405020304" pitchFamily="18" charset="0"/>
                  <a:cs typeface="Times New Roman" panose="02020603050405020304" pitchFamily="18" charset="0"/>
                  <a:sym typeface="+mn-ea"/>
                </a:rPr>
                <a:t>i</a:t>
              </a:r>
              <a:r>
                <a:rPr lang="en-US" altLang="zh-CN" sz="2000" dirty="0">
                  <a:latin typeface="Times New Roman" panose="02020603050405020304" pitchFamily="18" charset="0"/>
                  <a:cs typeface="Times New Roman" panose="02020603050405020304" pitchFamily="18" charset="0"/>
                  <a:sym typeface="+mn-ea"/>
                </a:rPr>
                <a:t> - 1 </a:t>
              </a:r>
              <a:r>
                <a:rPr lang="zh-CN" altLang="en-US" sz="2000" dirty="0">
                  <a:latin typeface="Times New Roman" panose="02020603050405020304" pitchFamily="18" charset="0"/>
                  <a:cs typeface="Times New Roman" panose="02020603050405020304" pitchFamily="18" charset="0"/>
                  <a:sym typeface="+mn-ea"/>
                </a:rPr>
                <a:t>的标签作为输入。</a:t>
              </a:r>
              <a:endParaRPr lang="zh-CN" altLang="en-US" sz="2000" dirty="0">
                <a:latin typeface="Times New Roman" panose="02020603050405020304" pitchFamily="18" charset="0"/>
                <a:cs typeface="Times New Roman" panose="02020603050405020304" pitchFamily="18" charset="0"/>
                <a:sym typeface="+mn-ea"/>
              </a:endParaRPr>
            </a:p>
          </p:txBody>
        </p:sp>
        <p:sp>
          <p:nvSpPr>
            <p:cNvPr id="17" name="文本框 16"/>
            <p:cNvSpPr txBox="1"/>
            <p:nvPr>
              <p:custDataLst>
                <p:tags r:id="rId9"/>
              </p:custDataLst>
            </p:nvPr>
          </p:nvSpPr>
          <p:spPr>
            <a:xfrm>
              <a:off x="7708" y="6456"/>
              <a:ext cx="4032" cy="1598"/>
            </a:xfrm>
            <a:prstGeom prst="rect">
              <a:avLst/>
            </a:prstGeom>
            <a:noFill/>
          </p:spPr>
          <p:txBody>
            <a:bodyPr wrap="square" rtlCol="0">
              <a:spAutoFit/>
            </a:bodyPr>
            <a:lstStyle/>
            <a:p>
              <a:pPr marL="0" lvl="1" algn="l">
                <a:lnSpc>
                  <a:spcPct val="150000"/>
                </a:lnSpc>
                <a:buClrTx/>
                <a:buSzTx/>
                <a:buFontTx/>
              </a:pPr>
              <a:r>
                <a:rPr lang="zh-CN" altLang="en-US" sz="2000" dirty="0">
                  <a:latin typeface="Times New Roman" panose="02020603050405020304" pitchFamily="18" charset="0"/>
                  <a:cs typeface="Times New Roman" panose="02020603050405020304" pitchFamily="18" charset="0"/>
                  <a:sym typeface="+mn-ea"/>
                </a:rPr>
                <a:t>为每个特征函数赋予相应权重。</a:t>
              </a:r>
              <a:endParaRPr lang="zh-CN" altLang="en-US" sz="2000" dirty="0">
                <a:latin typeface="Times New Roman" panose="02020603050405020304" pitchFamily="18" charset="0"/>
                <a:cs typeface="Times New Roman" panose="02020603050405020304" pitchFamily="18" charset="0"/>
                <a:sym typeface="+mn-ea"/>
              </a:endParaRPr>
            </a:p>
          </p:txBody>
        </p:sp>
        <p:sp>
          <p:nvSpPr>
            <p:cNvPr id="18" name="文本框 17"/>
            <p:cNvSpPr txBox="1"/>
            <p:nvPr>
              <p:custDataLst>
                <p:tags r:id="rId10"/>
              </p:custDataLst>
            </p:nvPr>
          </p:nvSpPr>
          <p:spPr>
            <a:xfrm>
              <a:off x="12897" y="6456"/>
              <a:ext cx="4032" cy="3052"/>
            </a:xfrm>
            <a:prstGeom prst="rect">
              <a:avLst/>
            </a:prstGeom>
            <a:noFill/>
          </p:spPr>
          <p:txBody>
            <a:bodyPr wrap="square" rtlCol="0">
              <a:spAutoFit/>
            </a:bodyPr>
            <a:lstStyle/>
            <a:p>
              <a:pPr marL="0" lvl="1" algn="l">
                <a:lnSpc>
                  <a:spcPct val="150000"/>
                </a:lnSpc>
                <a:buClrTx/>
                <a:buSzTx/>
                <a:buFontTx/>
              </a:pPr>
              <a:r>
                <a:rPr lang="zh-CN" altLang="en-US" sz="2000" dirty="0">
                  <a:latin typeface="Times New Roman" panose="02020603050405020304" pitchFamily="18" charset="0"/>
                  <a:cs typeface="Times New Roman" panose="02020603050405020304" pitchFamily="18" charset="0"/>
                  <a:sym typeface="+mn-ea"/>
                </a:rPr>
                <a:t>针对每个标注序列 y ，对所有特征函数加权求和。必要时，将求和值转化为概率值。</a:t>
              </a:r>
              <a:endParaRPr lang="zh-CN" altLang="en-US" sz="2000" dirty="0">
                <a:latin typeface="Times New Roman" panose="02020603050405020304" pitchFamily="18" charset="0"/>
                <a:cs typeface="Times New Roman" panose="02020603050405020304" pitchFamily="18" charset="0"/>
                <a:sym typeface="+mn-ea"/>
              </a:endParaRPr>
            </a:p>
          </p:txBody>
        </p:sp>
      </p:grpSp>
      <p:grpSp>
        <p:nvGrpSpPr>
          <p:cNvPr id="11" name="组合 10"/>
          <p:cNvGrpSpPr/>
          <p:nvPr/>
        </p:nvGrpSpPr>
        <p:grpSpPr>
          <a:xfrm>
            <a:off x="-558165" y="386715"/>
            <a:ext cx="5928360" cy="1273810"/>
            <a:chOff x="-879" y="609"/>
            <a:chExt cx="9336" cy="2006"/>
          </a:xfrm>
        </p:grpSpPr>
        <p:sp>
          <p:nvSpPr>
            <p:cNvPr id="12" name="文本框 11"/>
            <p:cNvSpPr txBox="1"/>
            <p:nvPr/>
          </p:nvSpPr>
          <p:spPr>
            <a:xfrm>
              <a:off x="1518" y="1104"/>
              <a:ext cx="6939" cy="1016"/>
            </a:xfrm>
            <a:prstGeom prst="rect">
              <a:avLst/>
            </a:prstGeom>
            <a:noFill/>
          </p:spPr>
          <p:txBody>
            <a:bodyPr wrap="square" rtlCol="0">
              <a:spAutoFit/>
            </a:bodyPr>
            <a:lstStyle/>
            <a:p>
              <a:pPr algn="l"/>
              <a:r>
                <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CRF</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的构建</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总结</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9" name="椭圆 18"/>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4" name="椭圆 13"/>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15" name="文本框 14"/>
          <p:cNvSpPr txBox="1"/>
          <p:nvPr/>
        </p:nvSpPr>
        <p:spPr>
          <a:xfrm>
            <a:off x="1858645" y="2884805"/>
            <a:ext cx="2038985" cy="398780"/>
          </a:xfrm>
          <a:prstGeom prst="rect">
            <a:avLst/>
          </a:prstGeom>
          <a:noFill/>
        </p:spPr>
        <p:txBody>
          <a:bodyPr wrap="square" rtlCol="0">
            <a:spAutoFit/>
          </a:bodyPr>
          <a:p>
            <a:r>
              <a:rPr lang="zh-CN" altLang="en-US" sz="2000" dirty="0">
                <a:solidFill>
                  <a:schemeClr val="bg1"/>
                </a:solidFill>
                <a:latin typeface="Times New Roman" panose="02020603050405020304" pitchFamily="18" charset="0"/>
                <a:cs typeface="Times New Roman" panose="02020603050405020304" pitchFamily="18" charset="0"/>
                <a:sym typeface="+mn-ea"/>
              </a:rPr>
              <a:t>定义特征函数集</a:t>
            </a:r>
            <a:endParaRPr lang="zh-CN" altLang="en-US" sz="2000" dirty="0">
              <a:solidFill>
                <a:schemeClr val="bg1"/>
              </a:solidFill>
              <a:latin typeface="Times New Roman" panose="02020603050405020304" pitchFamily="18" charset="0"/>
              <a:cs typeface="Times New Roman" panose="02020603050405020304" pitchFamily="18" charset="0"/>
              <a:sym typeface="+mn-ea"/>
            </a:endParaRPr>
          </a:p>
        </p:txBody>
      </p:sp>
      <p:sp>
        <p:nvSpPr>
          <p:cNvPr id="22" name="文本框 21"/>
          <p:cNvSpPr txBox="1"/>
          <p:nvPr/>
        </p:nvSpPr>
        <p:spPr>
          <a:xfrm>
            <a:off x="5588635" y="2884805"/>
            <a:ext cx="1264285" cy="398780"/>
          </a:xfrm>
          <a:prstGeom prst="rect">
            <a:avLst/>
          </a:prstGeom>
          <a:noFill/>
        </p:spPr>
        <p:txBody>
          <a:bodyPr wrap="square" rtlCol="0">
            <a:spAutoFit/>
          </a:bodyPr>
          <a:p>
            <a:r>
              <a:rPr lang="zh-CN" altLang="en-US" sz="2000" dirty="0">
                <a:solidFill>
                  <a:schemeClr val="bg1"/>
                </a:solidFill>
                <a:latin typeface="Times New Roman" panose="02020603050405020304" pitchFamily="18" charset="0"/>
                <a:cs typeface="Times New Roman" panose="02020603050405020304" pitchFamily="18" charset="0"/>
                <a:sym typeface="+mn-ea"/>
              </a:rPr>
              <a:t>赋予权重</a:t>
            </a:r>
            <a:endParaRPr lang="zh-CN" altLang="en-US" sz="2000" dirty="0">
              <a:solidFill>
                <a:schemeClr val="bg1"/>
              </a:solidFill>
              <a:latin typeface="Times New Roman" panose="02020603050405020304" pitchFamily="18" charset="0"/>
              <a:cs typeface="Times New Roman" panose="02020603050405020304" pitchFamily="18" charset="0"/>
              <a:sym typeface="+mn-ea"/>
            </a:endParaRPr>
          </a:p>
        </p:txBody>
      </p:sp>
      <p:sp>
        <p:nvSpPr>
          <p:cNvPr id="23" name="文本框 22"/>
          <p:cNvSpPr txBox="1"/>
          <p:nvPr/>
        </p:nvSpPr>
        <p:spPr>
          <a:xfrm>
            <a:off x="8254365" y="2884805"/>
            <a:ext cx="2495550" cy="398780"/>
          </a:xfrm>
          <a:prstGeom prst="rect">
            <a:avLst/>
          </a:prstGeom>
          <a:noFill/>
        </p:spPr>
        <p:txBody>
          <a:bodyPr wrap="square" rtlCol="0">
            <a:spAutoFit/>
          </a:bodyPr>
          <a:p>
            <a:r>
              <a:rPr lang="zh-CN" altLang="en-US" sz="2000" dirty="0">
                <a:solidFill>
                  <a:schemeClr val="bg1"/>
                </a:solidFill>
                <a:latin typeface="Times New Roman" panose="02020603050405020304" pitchFamily="18" charset="0"/>
                <a:cs typeface="Times New Roman" panose="02020603050405020304" pitchFamily="18" charset="0"/>
                <a:sym typeface="+mn-ea"/>
              </a:rPr>
              <a:t>加权求和与概率转化</a:t>
            </a:r>
            <a:endParaRPr lang="zh-CN" altLang="en-US" sz="2000" dirty="0">
              <a:solidFill>
                <a:schemeClr val="bg1"/>
              </a:solidFill>
              <a:latin typeface="Times New Roman" panose="02020603050405020304" pitchFamily="18" charset="0"/>
              <a:cs typeface="Times New Roman" panose="02020603050405020304" pitchFamily="18" charset="0"/>
              <a:sym typeface="+mn-ea"/>
            </a:endParaRPr>
          </a:p>
        </p:txBody>
      </p:sp>
    </p:spTree>
    <p:custDataLst>
      <p:tags r:id="rId11"/>
    </p:custDataLst>
  </p:cSld>
  <p:clrMapOvr>
    <a:masterClrMapping/>
  </p:clrMapOvr>
  <p:transition>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14655" y="398780"/>
            <a:ext cx="11363325" cy="6061075"/>
            <a:chOff x="653" y="628"/>
            <a:chExt cx="17895" cy="9545"/>
          </a:xfrm>
        </p:grpSpPr>
        <p:pic>
          <p:nvPicPr>
            <p:cNvPr id="6" name="图片 5" descr="D:\AAAAA千库网\2.5D\千库网_世界读书日之拿放大镜看书的女孩免抠元素_元素编号11938896.png千库网_世界读书日之拿放大镜看书的女孩免抠元素_元素编号11938896"/>
            <p:cNvPicPr>
              <a:picLocks noChangeAspect="1"/>
            </p:cNvPicPr>
            <p:nvPr/>
          </p:nvPicPr>
          <p:blipFill>
            <a:blip r:embed="rId1"/>
            <a:srcRect/>
            <a:stretch>
              <a:fillRect/>
            </a:stretch>
          </p:blipFill>
          <p:spPr>
            <a:xfrm>
              <a:off x="11595" y="2245"/>
              <a:ext cx="6309" cy="6309"/>
            </a:xfrm>
            <a:prstGeom prst="rect">
              <a:avLst/>
            </a:prstGeom>
          </p:spPr>
        </p:pic>
        <p:grpSp>
          <p:nvGrpSpPr>
            <p:cNvPr id="5" name="组合 4"/>
            <p:cNvGrpSpPr/>
            <p:nvPr/>
          </p:nvGrpSpPr>
          <p:grpSpPr>
            <a:xfrm>
              <a:off x="1990" y="2330"/>
              <a:ext cx="8228" cy="5789"/>
              <a:chOff x="2104" y="2598"/>
              <a:chExt cx="8228" cy="5789"/>
            </a:xfrm>
          </p:grpSpPr>
          <p:sp>
            <p:nvSpPr>
              <p:cNvPr id="16" name="文本框 15"/>
              <p:cNvSpPr txBox="1"/>
              <p:nvPr/>
            </p:nvSpPr>
            <p:spPr>
              <a:xfrm>
                <a:off x="2104" y="5335"/>
                <a:ext cx="8228" cy="3052"/>
              </a:xfrm>
              <a:prstGeom prst="rect">
                <a:avLst/>
              </a:prstGeom>
              <a:noFill/>
            </p:spPr>
            <p:txBody>
              <a:bodyPr wrap="square" rtlCol="0">
                <a:spAutoFit/>
              </a:bodyPr>
              <a:lstStyle/>
              <a:p>
                <a:pPr algn="l"/>
                <a:r>
                  <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中文命名实体识别规范</a:t>
                </a:r>
                <a:endPar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36" name="文本框 35"/>
              <p:cNvSpPr txBox="1"/>
              <p:nvPr/>
            </p:nvSpPr>
            <p:spPr>
              <a:xfrm>
                <a:off x="2214" y="2598"/>
                <a:ext cx="7560" cy="2737"/>
              </a:xfrm>
              <a:prstGeom prst="rect">
                <a:avLst/>
              </a:prstGeom>
              <a:noFill/>
            </p:spPr>
            <p:txBody>
              <a:bodyPr wrap="square" rtlCol="0">
                <a:spAutoFit/>
              </a:bodyPr>
              <a:lstStyle/>
              <a:p>
                <a:pPr algn="l"/>
                <a:r>
                  <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rPr>
                  <a:t>02</a:t>
                </a:r>
                <a:endPar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3" name="文本框 2"/>
              <p:cNvSpPr txBox="1"/>
              <p:nvPr/>
            </p:nvSpPr>
            <p:spPr>
              <a:xfrm>
                <a:off x="5157" y="3677"/>
                <a:ext cx="2225" cy="580"/>
              </a:xfrm>
              <a:prstGeom prst="rect">
                <a:avLst/>
              </a:prstGeom>
              <a:noFill/>
            </p:spPr>
            <p:txBody>
              <a:bodyPr wrap="none" rtlCol="0">
                <a:spAutoFit/>
              </a:bodyPr>
              <a:lstStyle/>
              <a:p>
                <a:r>
                  <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STEP TWO</a:t>
                </a:r>
                <a:endPar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sp>
          <p:nvSpPr>
            <p:cNvPr id="4" name="矩形 3"/>
            <p:cNvSpPr/>
            <p:nvPr/>
          </p:nvSpPr>
          <p:spPr>
            <a:xfrm>
              <a:off x="653" y="628"/>
              <a:ext cx="17895" cy="954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grpSp>
    </p:spTree>
    <p:custDataLst>
      <p:tags r:id="rId2"/>
    </p:custData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106805" y="1660860"/>
            <a:ext cx="10130790" cy="3851063"/>
            <a:chOff x="1743" y="2655"/>
            <a:chExt cx="14808" cy="5629"/>
          </a:xfrm>
        </p:grpSpPr>
        <p:sp>
          <p:nvSpPr>
            <p:cNvPr id="4" name="文本框 3"/>
            <p:cNvSpPr txBox="1"/>
            <p:nvPr/>
          </p:nvSpPr>
          <p:spPr>
            <a:xfrm>
              <a:off x="1796" y="4108"/>
              <a:ext cx="8956" cy="3676"/>
            </a:xfrm>
            <a:prstGeom prst="rect">
              <a:avLst/>
            </a:prstGeom>
            <a:noFill/>
          </p:spPr>
          <p:txBody>
            <a:bodyPr wrap="square" rtlCol="0">
              <a:spAutoFit/>
            </a:bodyPr>
            <a:lstStyle/>
            <a:p>
              <a:pPr algn="just">
                <a:lnSpc>
                  <a:spcPct val="125000"/>
                </a:lnSpc>
                <a:buClrTx/>
                <a:buSzTx/>
                <a:buFontTx/>
              </a:pPr>
              <a:r>
                <a:rPr lang="en-US" altLang="zh-CN" dirty="0">
                  <a:solidFill>
                    <a:srgbClr val="4D4D4D"/>
                  </a:solidFill>
                  <a:latin typeface="Times New Roman" panose="02020603050405020304" pitchFamily="18" charset="0"/>
                  <a:cs typeface="Times New Roman" panose="02020603050405020304" pitchFamily="18" charset="0"/>
                  <a:sym typeface="+mn-lt"/>
                </a:rPr>
                <a:t>是信息抽取、信息检索、机器翻译、问答系统等多种自然语言处理技术中必不可少的组成部分。其目的是识别语料中人名、地名、组织机构名等命名实体。</a:t>
              </a:r>
              <a:endParaRPr lang="en-US" altLang="zh-CN" dirty="0">
                <a:solidFill>
                  <a:srgbClr val="4D4D4D"/>
                </a:solidFill>
                <a:latin typeface="Times New Roman" panose="02020603050405020304" pitchFamily="18" charset="0"/>
                <a:cs typeface="Times New Roman" panose="02020603050405020304" pitchFamily="18" charset="0"/>
                <a:sym typeface="+mn-lt"/>
              </a:endParaRPr>
            </a:p>
            <a:p>
              <a:pPr algn="just">
                <a:lnSpc>
                  <a:spcPct val="125000"/>
                </a:lnSpc>
                <a:buClrTx/>
                <a:buSzTx/>
                <a:buFontTx/>
              </a:pPr>
              <a:r>
                <a:rPr lang="en-US" altLang="zh-CN" dirty="0">
                  <a:solidFill>
                    <a:srgbClr val="4D4D4D"/>
                  </a:solidFill>
                  <a:latin typeface="Times New Roman" panose="02020603050405020304" pitchFamily="18" charset="0"/>
                  <a:cs typeface="Times New Roman" panose="02020603050405020304" pitchFamily="18" charset="0"/>
                  <a:sym typeface="+mn-lt"/>
                </a:rPr>
                <a:t>NER一般分为3大类（实体类、时间类、数字类）和7小类（人名、地名、组织机构名、时间、日期、货币和百分比）。</a:t>
              </a:r>
              <a:endParaRPr lang="en-US" altLang="zh-CN" dirty="0">
                <a:solidFill>
                  <a:srgbClr val="4D4D4D"/>
                </a:solidFill>
                <a:latin typeface="Times New Roman" panose="02020603050405020304" pitchFamily="18" charset="0"/>
                <a:cs typeface="Times New Roman" panose="02020603050405020304" pitchFamily="18" charset="0"/>
                <a:sym typeface="+mn-lt"/>
              </a:endParaRPr>
            </a:p>
            <a:p>
              <a:pPr algn="just">
                <a:lnSpc>
                  <a:spcPct val="125000"/>
                </a:lnSpc>
                <a:buClrTx/>
                <a:buSzTx/>
                <a:buFontTx/>
              </a:pPr>
              <a:r>
                <a:rPr lang="en-US" altLang="zh-CN" dirty="0">
                  <a:solidFill>
                    <a:srgbClr val="4D4D4D"/>
                  </a:solidFill>
                  <a:latin typeface="Times New Roman" panose="02020603050405020304" pitchFamily="18" charset="0"/>
                  <a:cs typeface="Times New Roman" panose="02020603050405020304" pitchFamily="18" charset="0"/>
                  <a:sym typeface="+mn-lt"/>
                </a:rPr>
                <a:t>NER标注的方式有很多种，如BIO、BIOE以及BIOES等，本案例采用BIO标注方式</a:t>
              </a:r>
              <a:endParaRPr lang="en-US" altLang="zh-CN" dirty="0">
                <a:solidFill>
                  <a:srgbClr val="4D4D4D"/>
                </a:solidFill>
                <a:latin typeface="Times New Roman" panose="02020603050405020304" pitchFamily="18" charset="0"/>
                <a:ea typeface="思源宋体" panose="02020700000000000000" charset="-122"/>
                <a:cs typeface="Times New Roman" panose="02020603050405020304" pitchFamily="18" charset="0"/>
                <a:sym typeface="+mn-lt"/>
              </a:endParaRPr>
            </a:p>
          </p:txBody>
        </p:sp>
        <p:sp>
          <p:nvSpPr>
            <p:cNvPr id="5" name="矩形 4"/>
            <p:cNvSpPr/>
            <p:nvPr/>
          </p:nvSpPr>
          <p:spPr>
            <a:xfrm>
              <a:off x="1743" y="2655"/>
              <a:ext cx="14808" cy="936"/>
            </a:xfrm>
            <a:prstGeom prst="rect">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pPr>
              <a:r>
                <a:rPr lang="zh-CN" altLang="en-US" sz="2400" dirty="0">
                  <a:solidFill>
                    <a:schemeClr val="bg1"/>
                  </a:solidFill>
                  <a:latin typeface="思源宋体" panose="02020700000000000000" charset="-122"/>
                  <a:ea typeface="思源宋体" panose="02020700000000000000" charset="-122"/>
                  <a:cs typeface="+mn-ea"/>
                  <a:sym typeface="+mn-lt"/>
                </a:rPr>
                <a:t>命名实体识别（</a:t>
              </a:r>
              <a:r>
                <a:rPr lang="en-US" altLang="zh-CN" sz="2400" dirty="0">
                  <a:solidFill>
                    <a:schemeClr val="bg1"/>
                  </a:solidFill>
                  <a:latin typeface="思源宋体" panose="02020700000000000000" charset="-122"/>
                  <a:ea typeface="思源宋体" panose="02020700000000000000" charset="-122"/>
                  <a:cs typeface="+mn-ea"/>
                  <a:sym typeface="+mn-lt"/>
                </a:rPr>
                <a:t>Named Entitie Recognition</a:t>
              </a:r>
              <a:r>
                <a:rPr lang="zh-CN" altLang="en-US" sz="2400" dirty="0">
                  <a:solidFill>
                    <a:schemeClr val="bg1"/>
                  </a:solidFill>
                  <a:latin typeface="思源宋体" panose="02020700000000000000" charset="-122"/>
                  <a:ea typeface="思源宋体" panose="02020700000000000000" charset="-122"/>
                  <a:cs typeface="+mn-ea"/>
                  <a:sym typeface="+mn-lt"/>
                </a:rPr>
                <a:t>，</a:t>
              </a:r>
              <a:r>
                <a:rPr lang="en-US" altLang="zh-CN" sz="2400" dirty="0">
                  <a:solidFill>
                    <a:schemeClr val="bg1"/>
                  </a:solidFill>
                  <a:latin typeface="思源宋体" panose="02020700000000000000" charset="-122"/>
                  <a:ea typeface="思源宋体" panose="02020700000000000000" charset="-122"/>
                  <a:cs typeface="+mn-ea"/>
                  <a:sym typeface="+mn-lt"/>
                </a:rPr>
                <a:t>NER</a:t>
              </a:r>
              <a:r>
                <a:rPr lang="zh-CN" altLang="en-US" sz="2400" dirty="0">
                  <a:solidFill>
                    <a:schemeClr val="bg1"/>
                  </a:solidFill>
                  <a:latin typeface="思源宋体" panose="02020700000000000000" charset="-122"/>
                  <a:ea typeface="思源宋体" panose="02020700000000000000" charset="-122"/>
                  <a:cs typeface="+mn-ea"/>
                  <a:sym typeface="+mn-lt"/>
                </a:rPr>
                <a:t>）</a:t>
              </a:r>
              <a:endParaRPr lang="zh-CN" altLang="en-US" sz="2400" b="1" dirty="0">
                <a:solidFill>
                  <a:schemeClr val="bg1"/>
                </a:solidFill>
                <a:effectLst>
                  <a:outerShdw blurRad="38100" dist="38100" dir="2700000" algn="tl">
                    <a:srgbClr val="000000">
                      <a:alpha val="43137"/>
                    </a:srgbClr>
                  </a:outerShdw>
                </a:effectLst>
                <a:latin typeface="思源宋体" panose="02020700000000000000" charset="-122"/>
                <a:ea typeface="思源宋体" panose="02020700000000000000" charset="-122"/>
                <a:cs typeface="+mn-ea"/>
                <a:sym typeface="+mn-lt"/>
              </a:endParaRPr>
            </a:p>
          </p:txBody>
        </p:sp>
        <p:pic>
          <p:nvPicPr>
            <p:cNvPr id="3" name="图片 2" descr="D:\AAAAA千库网\2.5D\千库网_立体教育培训直播课人物插画_元素编号13073730.png千库网_立体教育培训直播课人物插画_元素编号13073730"/>
            <p:cNvPicPr>
              <a:picLocks noChangeAspect="1"/>
            </p:cNvPicPr>
            <p:nvPr/>
          </p:nvPicPr>
          <p:blipFill>
            <a:blip r:embed="rId1"/>
            <a:srcRect t="8852" b="11600"/>
            <a:stretch>
              <a:fillRect/>
            </a:stretch>
          </p:blipFill>
          <p:spPr>
            <a:xfrm>
              <a:off x="10902" y="3791"/>
              <a:ext cx="5649" cy="4493"/>
            </a:xfrm>
            <a:prstGeom prst="rect">
              <a:avLst/>
            </a:prstGeom>
          </p:spPr>
        </p:pic>
      </p:grpSp>
      <p:grpSp>
        <p:nvGrpSpPr>
          <p:cNvPr id="8" name="组合 7"/>
          <p:cNvGrpSpPr/>
          <p:nvPr/>
        </p:nvGrpSpPr>
        <p:grpSpPr>
          <a:xfrm>
            <a:off x="-558165" y="386715"/>
            <a:ext cx="4529455" cy="1273810"/>
            <a:chOff x="-879" y="609"/>
            <a:chExt cx="7133" cy="2006"/>
          </a:xfrm>
        </p:grpSpPr>
        <p:sp>
          <p:nvSpPr>
            <p:cNvPr id="11" name="文本框 10"/>
            <p:cNvSpPr txBox="1"/>
            <p:nvPr/>
          </p:nvSpPr>
          <p:spPr>
            <a:xfrm>
              <a:off x="1518" y="1104"/>
              <a:ext cx="4736" cy="1016"/>
            </a:xfrm>
            <a:prstGeom prst="rect">
              <a:avLst/>
            </a:prstGeom>
            <a:noFill/>
          </p:spPr>
          <p:txBody>
            <a:bodyPr wrap="square" rtlCol="0">
              <a:spAutoFit/>
            </a:bodyPr>
            <a:lstStyle/>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概念</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10" name="文本框 9"/>
          <p:cNvSpPr txBox="1"/>
          <p:nvPr/>
        </p:nvSpPr>
        <p:spPr>
          <a:xfrm>
            <a:off x="1143000" y="5253355"/>
            <a:ext cx="8237855" cy="70675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5000"/>
              </a:lnSpc>
            </a:pPr>
            <a:r>
              <a:rPr lang="en-US" altLang="zh-CN" sz="1600" dirty="0">
                <a:solidFill>
                  <a:srgbClr val="4D4D4D"/>
                </a:solidFill>
                <a:latin typeface="Times New Roman" panose="02020603050405020304" pitchFamily="18" charset="0"/>
                <a:cs typeface="Times New Roman" panose="02020603050405020304" pitchFamily="18" charset="0"/>
              </a:rPr>
              <a:t> B-begin</a:t>
            </a:r>
            <a:r>
              <a:rPr lang="zh-CN" altLang="en-US" sz="1600" dirty="0">
                <a:solidFill>
                  <a:srgbClr val="4D4D4D"/>
                </a:solidFill>
                <a:latin typeface="Times New Roman" panose="02020603050405020304" pitchFamily="18" charset="0"/>
                <a:cs typeface="Times New Roman" panose="02020603050405020304" pitchFamily="18" charset="0"/>
              </a:rPr>
              <a:t>：代表实体开头；</a:t>
            </a:r>
            <a:r>
              <a:rPr lang="en-US" altLang="zh-CN" sz="1600" dirty="0">
                <a:solidFill>
                  <a:srgbClr val="4D4D4D"/>
                </a:solidFill>
                <a:latin typeface="Times New Roman" panose="02020603050405020304" pitchFamily="18" charset="0"/>
                <a:cs typeface="Times New Roman" panose="02020603050405020304" pitchFamily="18" charset="0"/>
              </a:rPr>
              <a:t> </a:t>
            </a:r>
            <a:r>
              <a:rPr lang="zh-CN" altLang="en-US" sz="1600" dirty="0">
                <a:solidFill>
                  <a:srgbClr val="4D4D4D"/>
                </a:solidFill>
                <a:latin typeface="Times New Roman" panose="02020603050405020304" pitchFamily="18" charset="0"/>
                <a:cs typeface="Times New Roman" panose="02020603050405020304" pitchFamily="18" charset="0"/>
              </a:rPr>
              <a:t> </a:t>
            </a:r>
            <a:r>
              <a:rPr lang="en-US" altLang="zh-CN" sz="1600" dirty="0">
                <a:solidFill>
                  <a:srgbClr val="4D4D4D"/>
                </a:solidFill>
                <a:latin typeface="Times New Roman" panose="02020603050405020304" pitchFamily="18" charset="0"/>
                <a:cs typeface="Times New Roman" panose="02020603050405020304" pitchFamily="18" charset="0"/>
              </a:rPr>
              <a:t>I-inside</a:t>
            </a:r>
            <a:r>
              <a:rPr lang="zh-CN" altLang="en-US" sz="1600" dirty="0">
                <a:solidFill>
                  <a:srgbClr val="4D4D4D"/>
                </a:solidFill>
                <a:latin typeface="Times New Roman" panose="02020603050405020304" pitchFamily="18" charset="0"/>
                <a:cs typeface="Times New Roman" panose="02020603050405020304" pitchFamily="18" charset="0"/>
              </a:rPr>
              <a:t>：代表实体内部；  </a:t>
            </a:r>
            <a:r>
              <a:rPr lang="en-US" altLang="zh-CN" sz="1600" dirty="0">
                <a:solidFill>
                  <a:srgbClr val="4D4D4D"/>
                </a:solidFill>
                <a:latin typeface="Times New Roman" panose="02020603050405020304" pitchFamily="18" charset="0"/>
                <a:cs typeface="Times New Roman" panose="02020603050405020304" pitchFamily="18" charset="0"/>
              </a:rPr>
              <a:t>O-outside</a:t>
            </a:r>
            <a:r>
              <a:rPr lang="zh-CN" altLang="en-US" sz="1600" dirty="0">
                <a:solidFill>
                  <a:srgbClr val="4D4D4D"/>
                </a:solidFill>
                <a:latin typeface="Times New Roman" panose="02020603050405020304" pitchFamily="18" charset="0"/>
                <a:cs typeface="Times New Roman" panose="02020603050405020304" pitchFamily="18" charset="0"/>
              </a:rPr>
              <a:t>：代表不属于任何实体    </a:t>
            </a:r>
            <a:endParaRPr lang="en-US" altLang="zh-CN" sz="1600" dirty="0">
              <a:solidFill>
                <a:srgbClr val="4D4D4D"/>
              </a:solidFill>
              <a:latin typeface="Times New Roman" panose="02020603050405020304" pitchFamily="18" charset="0"/>
              <a:cs typeface="Times New Roman" panose="02020603050405020304" pitchFamily="18" charset="0"/>
            </a:endParaRPr>
          </a:p>
          <a:p>
            <a:pPr algn="just">
              <a:lnSpc>
                <a:spcPct val="125000"/>
              </a:lnSpc>
            </a:pPr>
            <a:r>
              <a:rPr lang="zh-CN" altLang="en-US" sz="1600" dirty="0">
                <a:solidFill>
                  <a:srgbClr val="4D4D4D"/>
                </a:solidFill>
                <a:latin typeface="Times New Roman" panose="02020603050405020304" pitchFamily="18" charset="0"/>
                <a:cs typeface="Times New Roman" panose="02020603050405020304" pitchFamily="18" charset="0"/>
              </a:rPr>
              <a:t>其后面接实体类型，如</a:t>
            </a:r>
            <a:r>
              <a:rPr lang="en-US" altLang="zh-CN" sz="1600" dirty="0">
                <a:solidFill>
                  <a:srgbClr val="4D4D4D"/>
                </a:solidFill>
                <a:latin typeface="Times New Roman" panose="02020603050405020304" pitchFamily="18" charset="0"/>
                <a:cs typeface="Times New Roman" panose="02020603050405020304" pitchFamily="18" charset="0"/>
              </a:rPr>
              <a:t>'B-name’, 'I-company'</a:t>
            </a:r>
            <a:endParaRPr lang="en-US" altLang="zh-CN" sz="1600" dirty="0">
              <a:solidFill>
                <a:srgbClr val="4D4D4D"/>
              </a:solidFill>
              <a:latin typeface="Times New Roman" panose="02020603050405020304" pitchFamily="18" charset="0"/>
              <a:cs typeface="Times New Roman" panose="02020603050405020304" pitchFamily="18" charset="0"/>
            </a:endParaRPr>
          </a:p>
        </p:txBody>
      </p:sp>
    </p:spTree>
    <p:custDataLst>
      <p:tags r:id="rId2"/>
    </p:custDataLst>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custDataLst>
              <p:tags r:id="rId1"/>
            </p:custDataLst>
          </p:nvPr>
        </p:nvGrpSpPr>
        <p:grpSpPr>
          <a:xfrm>
            <a:off x="368300" y="1384935"/>
            <a:ext cx="10821670" cy="4940300"/>
            <a:chOff x="580" y="2181"/>
            <a:chExt cx="17042" cy="7780"/>
          </a:xfrm>
        </p:grpSpPr>
        <p:pic>
          <p:nvPicPr>
            <p:cNvPr id="14" name="图片 13" descr="D:\AAAAA千库网\2.5D\千库网_粉红金融交易外汇25D元素_元素编号12026626.png千库网_粉红金融交易外汇25D元素_元素编号12026626"/>
            <p:cNvPicPr>
              <a:picLocks noChangeAspect="1"/>
            </p:cNvPicPr>
            <p:nvPr/>
          </p:nvPicPr>
          <p:blipFill>
            <a:blip r:embed="rId2"/>
            <a:srcRect/>
            <a:stretch>
              <a:fillRect/>
            </a:stretch>
          </p:blipFill>
          <p:spPr>
            <a:xfrm>
              <a:off x="580" y="2181"/>
              <a:ext cx="7779" cy="7780"/>
            </a:xfrm>
            <a:prstGeom prst="rect">
              <a:avLst/>
            </a:prstGeom>
          </p:spPr>
        </p:pic>
        <p:sp>
          <p:nvSpPr>
            <p:cNvPr id="50" name="椭圆 49"/>
            <p:cNvSpPr/>
            <p:nvPr>
              <p:custDataLst>
                <p:tags r:id="rId3"/>
              </p:custDataLst>
            </p:nvPr>
          </p:nvSpPr>
          <p:spPr>
            <a:xfrm>
              <a:off x="7873" y="3021"/>
              <a:ext cx="1042" cy="1042"/>
            </a:xfrm>
            <a:prstGeom prst="ellipse">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思源宋体" panose="02020700000000000000" charset="-122"/>
              </a:endParaRPr>
            </a:p>
          </p:txBody>
        </p:sp>
        <p:sp>
          <p:nvSpPr>
            <p:cNvPr id="51" name="椭圆 50"/>
            <p:cNvSpPr/>
            <p:nvPr>
              <p:custDataLst>
                <p:tags r:id="rId4"/>
              </p:custDataLst>
            </p:nvPr>
          </p:nvSpPr>
          <p:spPr>
            <a:xfrm>
              <a:off x="7873" y="5550"/>
              <a:ext cx="1042" cy="1042"/>
            </a:xfrm>
            <a:prstGeom prst="ellipse">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思源宋体" panose="02020700000000000000" charset="-122"/>
              </a:endParaRPr>
            </a:p>
          </p:txBody>
        </p:sp>
        <p:sp>
          <p:nvSpPr>
            <p:cNvPr id="52" name="椭圆 51"/>
            <p:cNvSpPr/>
            <p:nvPr>
              <p:custDataLst>
                <p:tags r:id="rId5"/>
              </p:custDataLst>
            </p:nvPr>
          </p:nvSpPr>
          <p:spPr>
            <a:xfrm>
              <a:off x="7873" y="8079"/>
              <a:ext cx="1042" cy="1042"/>
            </a:xfrm>
            <a:prstGeom prst="ellipse">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思源宋体" panose="02020700000000000000" charset="-122"/>
              </a:endParaRPr>
            </a:p>
          </p:txBody>
        </p:sp>
        <p:sp>
          <p:nvSpPr>
            <p:cNvPr id="53" name="椭圆 52"/>
            <p:cNvSpPr/>
            <p:nvPr>
              <p:custDataLst>
                <p:tags r:id="rId6"/>
              </p:custDataLst>
            </p:nvPr>
          </p:nvSpPr>
          <p:spPr>
            <a:xfrm>
              <a:off x="12743" y="3021"/>
              <a:ext cx="1042" cy="1042"/>
            </a:xfrm>
            <a:prstGeom prst="ellipse">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思源宋体" panose="02020700000000000000" charset="-122"/>
              </a:endParaRPr>
            </a:p>
          </p:txBody>
        </p:sp>
        <p:sp>
          <p:nvSpPr>
            <p:cNvPr id="54" name="椭圆 53"/>
            <p:cNvSpPr/>
            <p:nvPr>
              <p:custDataLst>
                <p:tags r:id="rId7"/>
              </p:custDataLst>
            </p:nvPr>
          </p:nvSpPr>
          <p:spPr>
            <a:xfrm>
              <a:off x="12743" y="5550"/>
              <a:ext cx="1042" cy="1042"/>
            </a:xfrm>
            <a:prstGeom prst="ellipse">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思源宋体" panose="02020700000000000000" charset="-122"/>
              </a:endParaRPr>
            </a:p>
          </p:txBody>
        </p:sp>
        <p:sp>
          <p:nvSpPr>
            <p:cNvPr id="55" name="椭圆 54"/>
            <p:cNvSpPr/>
            <p:nvPr>
              <p:custDataLst>
                <p:tags r:id="rId8"/>
              </p:custDataLst>
            </p:nvPr>
          </p:nvSpPr>
          <p:spPr>
            <a:xfrm>
              <a:off x="12743" y="8079"/>
              <a:ext cx="1042" cy="1042"/>
            </a:xfrm>
            <a:prstGeom prst="ellipse">
              <a:avLst/>
            </a:prstGeom>
            <a:gradFill>
              <a:gsLst>
                <a:gs pos="0">
                  <a:schemeClr val="accent4">
                    <a:lumMod val="75000"/>
                  </a:schemeClr>
                </a:gs>
                <a:gs pos="100000">
                  <a:srgbClr val="F1BD5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cs typeface="思源宋体" panose="02020700000000000000" charset="-122"/>
              </a:endParaRPr>
            </a:p>
          </p:txBody>
        </p:sp>
        <p:sp>
          <p:nvSpPr>
            <p:cNvPr id="65" name="target_126420"/>
            <p:cNvSpPr>
              <a:spLocks noChangeAspect="1"/>
            </p:cNvSpPr>
            <p:nvPr>
              <p:custDataLst>
                <p:tags r:id="rId9"/>
              </p:custDataLst>
            </p:nvPr>
          </p:nvSpPr>
          <p:spPr bwMode="auto">
            <a:xfrm>
              <a:off x="8083" y="3232"/>
              <a:ext cx="621" cy="62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sp>
        <p:sp>
          <p:nvSpPr>
            <p:cNvPr id="66" name="target_126420"/>
            <p:cNvSpPr>
              <a:spLocks noChangeAspect="1"/>
            </p:cNvSpPr>
            <p:nvPr>
              <p:custDataLst>
                <p:tags r:id="rId10"/>
              </p:custDataLst>
            </p:nvPr>
          </p:nvSpPr>
          <p:spPr bwMode="auto">
            <a:xfrm>
              <a:off x="8083" y="5762"/>
              <a:ext cx="621" cy="617"/>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a:lstStyle/>
            <a:p>
              <a:endParaRPr lang="zh-CN" altLang="en-US">
                <a:cs typeface="思源宋体" panose="02020700000000000000" charset="-122"/>
              </a:endParaRPr>
            </a:p>
          </p:txBody>
        </p:sp>
        <p:sp>
          <p:nvSpPr>
            <p:cNvPr id="67" name="target_126420"/>
            <p:cNvSpPr>
              <a:spLocks noChangeAspect="1"/>
            </p:cNvSpPr>
            <p:nvPr>
              <p:custDataLst>
                <p:tags r:id="rId11"/>
              </p:custDataLst>
            </p:nvPr>
          </p:nvSpPr>
          <p:spPr bwMode="auto">
            <a:xfrm>
              <a:off x="8083" y="8400"/>
              <a:ext cx="621" cy="400"/>
            </a:xfrm>
            <a:custGeom>
              <a:avLst/>
              <a:gdLst>
                <a:gd name="connsiteX0" fmla="*/ 143953 w 607639"/>
                <a:gd name="connsiteY0" fmla="*/ 239428 h 391144"/>
                <a:gd name="connsiteX1" fmla="*/ 223838 w 607639"/>
                <a:gd name="connsiteY1" fmla="*/ 239428 h 391144"/>
                <a:gd name="connsiteX2" fmla="*/ 239851 w 607639"/>
                <a:gd name="connsiteY2" fmla="*/ 239428 h 391144"/>
                <a:gd name="connsiteX3" fmla="*/ 239851 w 607639"/>
                <a:gd name="connsiteY3" fmla="*/ 287271 h 391144"/>
                <a:gd name="connsiteX4" fmla="*/ 223838 w 607639"/>
                <a:gd name="connsiteY4" fmla="*/ 287271 h 391144"/>
                <a:gd name="connsiteX5" fmla="*/ 143953 w 607639"/>
                <a:gd name="connsiteY5" fmla="*/ 287271 h 391144"/>
                <a:gd name="connsiteX6" fmla="*/ 143953 w 607639"/>
                <a:gd name="connsiteY6" fmla="*/ 167593 h 391144"/>
                <a:gd name="connsiteX7" fmla="*/ 239851 w 607639"/>
                <a:gd name="connsiteY7" fmla="*/ 167593 h 391144"/>
                <a:gd name="connsiteX8" fmla="*/ 239851 w 607639"/>
                <a:gd name="connsiteY8" fmla="*/ 215507 h 391144"/>
                <a:gd name="connsiteX9" fmla="*/ 143953 w 607639"/>
                <a:gd name="connsiteY9" fmla="*/ 215507 h 391144"/>
                <a:gd name="connsiteX10" fmla="*/ 415772 w 607639"/>
                <a:gd name="connsiteY10" fmla="*/ 143601 h 391144"/>
                <a:gd name="connsiteX11" fmla="*/ 463686 w 607639"/>
                <a:gd name="connsiteY11" fmla="*/ 143601 h 391144"/>
                <a:gd name="connsiteX12" fmla="*/ 463686 w 607639"/>
                <a:gd name="connsiteY12" fmla="*/ 287272 h 391144"/>
                <a:gd name="connsiteX13" fmla="*/ 415772 w 607639"/>
                <a:gd name="connsiteY13" fmla="*/ 287272 h 391144"/>
                <a:gd name="connsiteX14" fmla="*/ 287836 w 607639"/>
                <a:gd name="connsiteY14" fmla="*/ 143601 h 391144"/>
                <a:gd name="connsiteX15" fmla="*/ 335820 w 607639"/>
                <a:gd name="connsiteY15" fmla="*/ 143601 h 391144"/>
                <a:gd name="connsiteX16" fmla="*/ 335820 w 607639"/>
                <a:gd name="connsiteY16" fmla="*/ 287272 h 391144"/>
                <a:gd name="connsiteX17" fmla="*/ 287836 w 607639"/>
                <a:gd name="connsiteY17" fmla="*/ 287272 h 391144"/>
                <a:gd name="connsiteX18" fmla="*/ 351769 w 607639"/>
                <a:gd name="connsiteY18" fmla="*/ 95757 h 391144"/>
                <a:gd name="connsiteX19" fmla="*/ 399683 w 607639"/>
                <a:gd name="connsiteY19" fmla="*/ 95757 h 391144"/>
                <a:gd name="connsiteX20" fmla="*/ 399683 w 607639"/>
                <a:gd name="connsiteY20" fmla="*/ 287271 h 391144"/>
                <a:gd name="connsiteX21" fmla="*/ 351769 w 607639"/>
                <a:gd name="connsiteY21" fmla="*/ 287271 h 391144"/>
                <a:gd name="connsiteX22" fmla="*/ 95948 w 607639"/>
                <a:gd name="connsiteY22" fmla="*/ 47904 h 391144"/>
                <a:gd name="connsiteX23" fmla="*/ 95948 w 607639"/>
                <a:gd name="connsiteY23" fmla="*/ 343240 h 391144"/>
                <a:gd name="connsiteX24" fmla="*/ 511691 w 607639"/>
                <a:gd name="connsiteY24" fmla="*/ 343240 h 391144"/>
                <a:gd name="connsiteX25" fmla="*/ 511691 w 607639"/>
                <a:gd name="connsiteY25" fmla="*/ 47904 h 391144"/>
                <a:gd name="connsiteX26" fmla="*/ 47974 w 607639"/>
                <a:gd name="connsiteY26" fmla="*/ 0 h 391144"/>
                <a:gd name="connsiteX27" fmla="*/ 559665 w 607639"/>
                <a:gd name="connsiteY27" fmla="*/ 0 h 391144"/>
                <a:gd name="connsiteX28" fmla="*/ 559665 w 607639"/>
                <a:gd name="connsiteY28" fmla="*/ 343240 h 391144"/>
                <a:gd name="connsiteX29" fmla="*/ 607639 w 607639"/>
                <a:gd name="connsiteY29" fmla="*/ 343240 h 391144"/>
                <a:gd name="connsiteX30" fmla="*/ 607639 w 607639"/>
                <a:gd name="connsiteY30" fmla="*/ 391144 h 391144"/>
                <a:gd name="connsiteX31" fmla="*/ 0 w 607639"/>
                <a:gd name="connsiteY31" fmla="*/ 391144 h 391144"/>
                <a:gd name="connsiteX32" fmla="*/ 0 w 607639"/>
                <a:gd name="connsiteY32" fmla="*/ 343240 h 391144"/>
                <a:gd name="connsiteX33" fmla="*/ 47974 w 607639"/>
                <a:gd name="connsiteY33" fmla="*/ 343240 h 39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7639" h="391144">
                  <a:moveTo>
                    <a:pt x="143953" y="239428"/>
                  </a:moveTo>
                  <a:lnTo>
                    <a:pt x="223838" y="239428"/>
                  </a:lnTo>
                  <a:lnTo>
                    <a:pt x="239851" y="239428"/>
                  </a:lnTo>
                  <a:lnTo>
                    <a:pt x="239851" y="287271"/>
                  </a:lnTo>
                  <a:lnTo>
                    <a:pt x="223838" y="287271"/>
                  </a:lnTo>
                  <a:lnTo>
                    <a:pt x="143953" y="287271"/>
                  </a:lnTo>
                  <a:close/>
                  <a:moveTo>
                    <a:pt x="143953" y="167593"/>
                  </a:moveTo>
                  <a:lnTo>
                    <a:pt x="239851" y="167593"/>
                  </a:lnTo>
                  <a:lnTo>
                    <a:pt x="239851" y="215507"/>
                  </a:lnTo>
                  <a:lnTo>
                    <a:pt x="143953" y="215507"/>
                  </a:lnTo>
                  <a:close/>
                  <a:moveTo>
                    <a:pt x="415772" y="143601"/>
                  </a:moveTo>
                  <a:lnTo>
                    <a:pt x="463686" y="143601"/>
                  </a:lnTo>
                  <a:lnTo>
                    <a:pt x="463686" y="287272"/>
                  </a:lnTo>
                  <a:lnTo>
                    <a:pt x="415772" y="287272"/>
                  </a:lnTo>
                  <a:close/>
                  <a:moveTo>
                    <a:pt x="287836" y="143601"/>
                  </a:moveTo>
                  <a:lnTo>
                    <a:pt x="335820" y="143601"/>
                  </a:lnTo>
                  <a:lnTo>
                    <a:pt x="335820" y="287272"/>
                  </a:lnTo>
                  <a:lnTo>
                    <a:pt x="287836" y="287272"/>
                  </a:lnTo>
                  <a:close/>
                  <a:moveTo>
                    <a:pt x="351769" y="95757"/>
                  </a:moveTo>
                  <a:lnTo>
                    <a:pt x="399683" y="95757"/>
                  </a:lnTo>
                  <a:lnTo>
                    <a:pt x="399683" y="287271"/>
                  </a:lnTo>
                  <a:lnTo>
                    <a:pt x="351769" y="287271"/>
                  </a:lnTo>
                  <a:close/>
                  <a:moveTo>
                    <a:pt x="95948" y="47904"/>
                  </a:moveTo>
                  <a:lnTo>
                    <a:pt x="95948" y="343240"/>
                  </a:lnTo>
                  <a:lnTo>
                    <a:pt x="511691" y="343240"/>
                  </a:lnTo>
                  <a:lnTo>
                    <a:pt x="511691" y="47904"/>
                  </a:lnTo>
                  <a:close/>
                  <a:moveTo>
                    <a:pt x="47974" y="0"/>
                  </a:moveTo>
                  <a:lnTo>
                    <a:pt x="559665" y="0"/>
                  </a:lnTo>
                  <a:lnTo>
                    <a:pt x="559665" y="343240"/>
                  </a:lnTo>
                  <a:lnTo>
                    <a:pt x="607639" y="343240"/>
                  </a:lnTo>
                  <a:lnTo>
                    <a:pt x="607639" y="391144"/>
                  </a:lnTo>
                  <a:lnTo>
                    <a:pt x="0" y="391144"/>
                  </a:lnTo>
                  <a:lnTo>
                    <a:pt x="0" y="343240"/>
                  </a:lnTo>
                  <a:lnTo>
                    <a:pt x="47974" y="343240"/>
                  </a:lnTo>
                  <a:close/>
                </a:path>
              </a:pathLst>
            </a:custGeom>
            <a:solidFill>
              <a:schemeClr val="bg1"/>
            </a:solidFill>
            <a:ln>
              <a:noFill/>
            </a:ln>
          </p:spPr>
          <p:txBody>
            <a:bodyPr/>
            <a:lstStyle/>
            <a:p>
              <a:endParaRPr lang="zh-CN" altLang="en-US">
                <a:cs typeface="思源宋体" panose="02020700000000000000" charset="-122"/>
              </a:endParaRPr>
            </a:p>
          </p:txBody>
        </p:sp>
        <p:sp>
          <p:nvSpPr>
            <p:cNvPr id="68" name="target_126420"/>
            <p:cNvSpPr>
              <a:spLocks noChangeAspect="1"/>
            </p:cNvSpPr>
            <p:nvPr>
              <p:custDataLst>
                <p:tags r:id="rId12"/>
              </p:custDataLst>
            </p:nvPr>
          </p:nvSpPr>
          <p:spPr bwMode="auto">
            <a:xfrm>
              <a:off x="12954" y="3232"/>
              <a:ext cx="621" cy="620"/>
            </a:xfrm>
            <a:custGeom>
              <a:avLst/>
              <a:gdLst>
                <a:gd name="connsiteX0" fmla="*/ 290910 w 605702"/>
                <a:gd name="connsiteY0" fmla="*/ 156336 h 604568"/>
                <a:gd name="connsiteX1" fmla="*/ 335849 w 605702"/>
                <a:gd name="connsiteY1" fmla="*/ 164992 h 604568"/>
                <a:gd name="connsiteX2" fmla="*/ 288310 w 605702"/>
                <a:gd name="connsiteY2" fmla="*/ 212456 h 604568"/>
                <a:gd name="connsiteX3" fmla="*/ 203632 w 605702"/>
                <a:gd name="connsiteY3" fmla="*/ 244717 h 604568"/>
                <a:gd name="connsiteX4" fmla="*/ 203632 w 605702"/>
                <a:gd name="connsiteY4" fmla="*/ 401388 h 604568"/>
                <a:gd name="connsiteX5" fmla="*/ 360547 w 605702"/>
                <a:gd name="connsiteY5" fmla="*/ 401388 h 604568"/>
                <a:gd name="connsiteX6" fmla="*/ 392859 w 605702"/>
                <a:gd name="connsiteY6" fmla="*/ 316749 h 604568"/>
                <a:gd name="connsiteX7" fmla="*/ 440397 w 605702"/>
                <a:gd name="connsiteY7" fmla="*/ 269284 h 604568"/>
                <a:gd name="connsiteX8" fmla="*/ 400287 w 605702"/>
                <a:gd name="connsiteY8" fmla="*/ 441065 h 604568"/>
                <a:gd name="connsiteX9" fmla="*/ 163892 w 605702"/>
                <a:gd name="connsiteY9" fmla="*/ 441065 h 604568"/>
                <a:gd name="connsiteX10" fmla="*/ 163892 w 605702"/>
                <a:gd name="connsiteY10" fmla="*/ 205040 h 604568"/>
                <a:gd name="connsiteX11" fmla="*/ 290910 w 605702"/>
                <a:gd name="connsiteY11" fmla="*/ 156336 h 604568"/>
                <a:gd name="connsiteX12" fmla="*/ 246542 w 605702"/>
                <a:gd name="connsiteY12" fmla="*/ 43775 h 604568"/>
                <a:gd name="connsiteX13" fmla="*/ 422196 w 605702"/>
                <a:gd name="connsiteY13" fmla="*/ 78723 h 604568"/>
                <a:gd name="connsiteX14" fmla="*/ 376794 w 605702"/>
                <a:gd name="connsiteY14" fmla="*/ 124054 h 604568"/>
                <a:gd name="connsiteX15" fmla="*/ 126109 w 605702"/>
                <a:gd name="connsiteY15" fmla="*/ 167345 h 604568"/>
                <a:gd name="connsiteX16" fmla="*/ 126109 w 605702"/>
                <a:gd name="connsiteY16" fmla="*/ 478820 h 604568"/>
                <a:gd name="connsiteX17" fmla="*/ 438073 w 605702"/>
                <a:gd name="connsiteY17" fmla="*/ 478820 h 604568"/>
                <a:gd name="connsiteX18" fmla="*/ 481432 w 605702"/>
                <a:gd name="connsiteY18" fmla="*/ 228527 h 604568"/>
                <a:gd name="connsiteX19" fmla="*/ 526741 w 605702"/>
                <a:gd name="connsiteY19" fmla="*/ 183011 h 604568"/>
                <a:gd name="connsiteX20" fmla="*/ 481432 w 605702"/>
                <a:gd name="connsiteY20" fmla="*/ 522111 h 604568"/>
                <a:gd name="connsiteX21" fmla="*/ 82657 w 605702"/>
                <a:gd name="connsiteY21" fmla="*/ 522111 h 604568"/>
                <a:gd name="connsiteX22" fmla="*/ 82657 w 605702"/>
                <a:gd name="connsiteY22" fmla="*/ 123961 h 604568"/>
                <a:gd name="connsiteX23" fmla="*/ 246542 w 605702"/>
                <a:gd name="connsiteY23" fmla="*/ 43775 h 604568"/>
                <a:gd name="connsiteX24" fmla="*/ 536061 w 605702"/>
                <a:gd name="connsiteY24" fmla="*/ 0 h 604568"/>
                <a:gd name="connsiteX25" fmla="*/ 544232 w 605702"/>
                <a:gd name="connsiteY25" fmla="*/ 61368 h 604568"/>
                <a:gd name="connsiteX26" fmla="*/ 605702 w 605702"/>
                <a:gd name="connsiteY26" fmla="*/ 69526 h 604568"/>
                <a:gd name="connsiteX27" fmla="*/ 524361 w 605702"/>
                <a:gd name="connsiteY27" fmla="*/ 150732 h 604568"/>
                <a:gd name="connsiteX28" fmla="*/ 498361 w 605702"/>
                <a:gd name="connsiteY28" fmla="*/ 147302 h 604568"/>
                <a:gd name="connsiteX29" fmla="*/ 337721 w 605702"/>
                <a:gd name="connsiteY29" fmla="*/ 307767 h 604568"/>
                <a:gd name="connsiteX30" fmla="*/ 339764 w 605702"/>
                <a:gd name="connsiteY30" fmla="*/ 323063 h 604568"/>
                <a:gd name="connsiteX31" fmla="*/ 282101 w 605702"/>
                <a:gd name="connsiteY31" fmla="*/ 380630 h 604568"/>
                <a:gd name="connsiteX32" fmla="*/ 224437 w 605702"/>
                <a:gd name="connsiteY32" fmla="*/ 323063 h 604568"/>
                <a:gd name="connsiteX33" fmla="*/ 282101 w 605702"/>
                <a:gd name="connsiteY33" fmla="*/ 265495 h 604568"/>
                <a:gd name="connsiteX34" fmla="*/ 297422 w 605702"/>
                <a:gd name="connsiteY34" fmla="*/ 267535 h 604568"/>
                <a:gd name="connsiteX35" fmla="*/ 458155 w 605702"/>
                <a:gd name="connsiteY35" fmla="*/ 107162 h 604568"/>
                <a:gd name="connsiteX36" fmla="*/ 454719 w 605702"/>
                <a:gd name="connsiteY36" fmla="*/ 81206 h 60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702" h="604568">
                  <a:moveTo>
                    <a:pt x="290910" y="156336"/>
                  </a:moveTo>
                  <a:cubicBezTo>
                    <a:pt x="306137" y="157147"/>
                    <a:pt x="321272" y="160032"/>
                    <a:pt x="335849" y="164992"/>
                  </a:cubicBezTo>
                  <a:lnTo>
                    <a:pt x="288310" y="212456"/>
                  </a:lnTo>
                  <a:cubicBezTo>
                    <a:pt x="257856" y="210695"/>
                    <a:pt x="226844" y="221449"/>
                    <a:pt x="203632" y="244717"/>
                  </a:cubicBezTo>
                  <a:cubicBezTo>
                    <a:pt x="160271" y="287918"/>
                    <a:pt x="160271" y="358187"/>
                    <a:pt x="203632" y="401388"/>
                  </a:cubicBezTo>
                  <a:cubicBezTo>
                    <a:pt x="246900" y="444680"/>
                    <a:pt x="317279" y="444680"/>
                    <a:pt x="360547" y="401388"/>
                  </a:cubicBezTo>
                  <a:cubicBezTo>
                    <a:pt x="383852" y="378211"/>
                    <a:pt x="394623" y="347156"/>
                    <a:pt x="392859" y="316749"/>
                  </a:cubicBezTo>
                  <a:lnTo>
                    <a:pt x="440397" y="269284"/>
                  </a:lnTo>
                  <a:cubicBezTo>
                    <a:pt x="460267" y="327595"/>
                    <a:pt x="446897" y="394620"/>
                    <a:pt x="400287" y="441065"/>
                  </a:cubicBezTo>
                  <a:cubicBezTo>
                    <a:pt x="335106" y="506236"/>
                    <a:pt x="229073" y="506236"/>
                    <a:pt x="163892" y="441065"/>
                  </a:cubicBezTo>
                  <a:cubicBezTo>
                    <a:pt x="98619" y="375987"/>
                    <a:pt x="98619" y="270118"/>
                    <a:pt x="163892" y="205040"/>
                  </a:cubicBezTo>
                  <a:cubicBezTo>
                    <a:pt x="198711" y="170137"/>
                    <a:pt x="245228" y="153902"/>
                    <a:pt x="290910" y="156336"/>
                  </a:cubicBezTo>
                  <a:close/>
                  <a:moveTo>
                    <a:pt x="246542" y="43775"/>
                  </a:moveTo>
                  <a:cubicBezTo>
                    <a:pt x="306463" y="36243"/>
                    <a:pt x="368345" y="47900"/>
                    <a:pt x="422196" y="78723"/>
                  </a:cubicBezTo>
                  <a:lnTo>
                    <a:pt x="376794" y="124054"/>
                  </a:lnTo>
                  <a:cubicBezTo>
                    <a:pt x="294811" y="85305"/>
                    <a:pt x="193980" y="99581"/>
                    <a:pt x="126109" y="167345"/>
                  </a:cubicBezTo>
                  <a:cubicBezTo>
                    <a:pt x="39948" y="253371"/>
                    <a:pt x="39948" y="392793"/>
                    <a:pt x="126109" y="478820"/>
                  </a:cubicBezTo>
                  <a:cubicBezTo>
                    <a:pt x="212271" y="564846"/>
                    <a:pt x="351912" y="564846"/>
                    <a:pt x="438073" y="478820"/>
                  </a:cubicBezTo>
                  <a:cubicBezTo>
                    <a:pt x="505944" y="411055"/>
                    <a:pt x="520428" y="310382"/>
                    <a:pt x="481432" y="228527"/>
                  </a:cubicBezTo>
                  <a:lnTo>
                    <a:pt x="526741" y="183011"/>
                  </a:lnTo>
                  <a:cubicBezTo>
                    <a:pt x="588484" y="290544"/>
                    <a:pt x="573350" y="430244"/>
                    <a:pt x="481432" y="522111"/>
                  </a:cubicBezTo>
                  <a:cubicBezTo>
                    <a:pt x="371316" y="632054"/>
                    <a:pt x="192866" y="632054"/>
                    <a:pt x="82657" y="522111"/>
                  </a:cubicBezTo>
                  <a:cubicBezTo>
                    <a:pt x="-27552" y="412168"/>
                    <a:pt x="-27552" y="233997"/>
                    <a:pt x="82657" y="123961"/>
                  </a:cubicBezTo>
                  <a:cubicBezTo>
                    <a:pt x="128662" y="78028"/>
                    <a:pt x="186622" y="51307"/>
                    <a:pt x="246542" y="43775"/>
                  </a:cubicBezTo>
                  <a:close/>
                  <a:moveTo>
                    <a:pt x="536061" y="0"/>
                  </a:moveTo>
                  <a:lnTo>
                    <a:pt x="544232" y="61368"/>
                  </a:lnTo>
                  <a:lnTo>
                    <a:pt x="605702" y="69526"/>
                  </a:lnTo>
                  <a:lnTo>
                    <a:pt x="524361" y="150732"/>
                  </a:lnTo>
                  <a:lnTo>
                    <a:pt x="498361" y="147302"/>
                  </a:lnTo>
                  <a:lnTo>
                    <a:pt x="337721" y="307767"/>
                  </a:lnTo>
                  <a:cubicBezTo>
                    <a:pt x="339021" y="312588"/>
                    <a:pt x="339764" y="317779"/>
                    <a:pt x="339764" y="323063"/>
                  </a:cubicBezTo>
                  <a:cubicBezTo>
                    <a:pt x="339764" y="354859"/>
                    <a:pt x="313950" y="380630"/>
                    <a:pt x="282101" y="380630"/>
                  </a:cubicBezTo>
                  <a:cubicBezTo>
                    <a:pt x="250251" y="380630"/>
                    <a:pt x="224437" y="354859"/>
                    <a:pt x="224437" y="323063"/>
                  </a:cubicBezTo>
                  <a:cubicBezTo>
                    <a:pt x="224437" y="291266"/>
                    <a:pt x="250251" y="265495"/>
                    <a:pt x="282101" y="265495"/>
                  </a:cubicBezTo>
                  <a:cubicBezTo>
                    <a:pt x="287393" y="265495"/>
                    <a:pt x="292500" y="266237"/>
                    <a:pt x="297422" y="267535"/>
                  </a:cubicBezTo>
                  <a:lnTo>
                    <a:pt x="458155" y="107162"/>
                  </a:lnTo>
                  <a:lnTo>
                    <a:pt x="454719" y="81206"/>
                  </a:lnTo>
                  <a:close/>
                </a:path>
              </a:pathLst>
            </a:custGeom>
            <a:solidFill>
              <a:schemeClr val="bg1"/>
            </a:solidFill>
            <a:ln>
              <a:noFill/>
            </a:ln>
          </p:spPr>
        </p:sp>
        <p:sp>
          <p:nvSpPr>
            <p:cNvPr id="69" name="target_126420"/>
            <p:cNvSpPr>
              <a:spLocks noChangeAspect="1"/>
            </p:cNvSpPr>
            <p:nvPr>
              <p:custDataLst>
                <p:tags r:id="rId13"/>
              </p:custDataLst>
            </p:nvPr>
          </p:nvSpPr>
          <p:spPr bwMode="auto">
            <a:xfrm>
              <a:off x="12954" y="5762"/>
              <a:ext cx="621" cy="617"/>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a:lstStyle/>
            <a:p>
              <a:endParaRPr lang="zh-CN" altLang="en-US">
                <a:cs typeface="思源宋体" panose="02020700000000000000" charset="-122"/>
              </a:endParaRPr>
            </a:p>
          </p:txBody>
        </p:sp>
        <p:sp>
          <p:nvSpPr>
            <p:cNvPr id="70" name="target_126420"/>
            <p:cNvSpPr>
              <a:spLocks noChangeAspect="1"/>
            </p:cNvSpPr>
            <p:nvPr>
              <p:custDataLst>
                <p:tags r:id="rId14"/>
              </p:custDataLst>
            </p:nvPr>
          </p:nvSpPr>
          <p:spPr bwMode="auto">
            <a:xfrm>
              <a:off x="12954" y="8400"/>
              <a:ext cx="621" cy="400"/>
            </a:xfrm>
            <a:custGeom>
              <a:avLst/>
              <a:gdLst>
                <a:gd name="connsiteX0" fmla="*/ 143953 w 607639"/>
                <a:gd name="connsiteY0" fmla="*/ 239428 h 391144"/>
                <a:gd name="connsiteX1" fmla="*/ 223838 w 607639"/>
                <a:gd name="connsiteY1" fmla="*/ 239428 h 391144"/>
                <a:gd name="connsiteX2" fmla="*/ 239851 w 607639"/>
                <a:gd name="connsiteY2" fmla="*/ 239428 h 391144"/>
                <a:gd name="connsiteX3" fmla="*/ 239851 w 607639"/>
                <a:gd name="connsiteY3" fmla="*/ 287271 h 391144"/>
                <a:gd name="connsiteX4" fmla="*/ 223838 w 607639"/>
                <a:gd name="connsiteY4" fmla="*/ 287271 h 391144"/>
                <a:gd name="connsiteX5" fmla="*/ 143953 w 607639"/>
                <a:gd name="connsiteY5" fmla="*/ 287271 h 391144"/>
                <a:gd name="connsiteX6" fmla="*/ 143953 w 607639"/>
                <a:gd name="connsiteY6" fmla="*/ 167593 h 391144"/>
                <a:gd name="connsiteX7" fmla="*/ 239851 w 607639"/>
                <a:gd name="connsiteY7" fmla="*/ 167593 h 391144"/>
                <a:gd name="connsiteX8" fmla="*/ 239851 w 607639"/>
                <a:gd name="connsiteY8" fmla="*/ 215507 h 391144"/>
                <a:gd name="connsiteX9" fmla="*/ 143953 w 607639"/>
                <a:gd name="connsiteY9" fmla="*/ 215507 h 391144"/>
                <a:gd name="connsiteX10" fmla="*/ 415772 w 607639"/>
                <a:gd name="connsiteY10" fmla="*/ 143601 h 391144"/>
                <a:gd name="connsiteX11" fmla="*/ 463686 w 607639"/>
                <a:gd name="connsiteY11" fmla="*/ 143601 h 391144"/>
                <a:gd name="connsiteX12" fmla="*/ 463686 w 607639"/>
                <a:gd name="connsiteY12" fmla="*/ 287272 h 391144"/>
                <a:gd name="connsiteX13" fmla="*/ 415772 w 607639"/>
                <a:gd name="connsiteY13" fmla="*/ 287272 h 391144"/>
                <a:gd name="connsiteX14" fmla="*/ 287836 w 607639"/>
                <a:gd name="connsiteY14" fmla="*/ 143601 h 391144"/>
                <a:gd name="connsiteX15" fmla="*/ 335820 w 607639"/>
                <a:gd name="connsiteY15" fmla="*/ 143601 h 391144"/>
                <a:gd name="connsiteX16" fmla="*/ 335820 w 607639"/>
                <a:gd name="connsiteY16" fmla="*/ 287272 h 391144"/>
                <a:gd name="connsiteX17" fmla="*/ 287836 w 607639"/>
                <a:gd name="connsiteY17" fmla="*/ 287272 h 391144"/>
                <a:gd name="connsiteX18" fmla="*/ 351769 w 607639"/>
                <a:gd name="connsiteY18" fmla="*/ 95757 h 391144"/>
                <a:gd name="connsiteX19" fmla="*/ 399683 w 607639"/>
                <a:gd name="connsiteY19" fmla="*/ 95757 h 391144"/>
                <a:gd name="connsiteX20" fmla="*/ 399683 w 607639"/>
                <a:gd name="connsiteY20" fmla="*/ 287271 h 391144"/>
                <a:gd name="connsiteX21" fmla="*/ 351769 w 607639"/>
                <a:gd name="connsiteY21" fmla="*/ 287271 h 391144"/>
                <a:gd name="connsiteX22" fmla="*/ 95948 w 607639"/>
                <a:gd name="connsiteY22" fmla="*/ 47904 h 391144"/>
                <a:gd name="connsiteX23" fmla="*/ 95948 w 607639"/>
                <a:gd name="connsiteY23" fmla="*/ 343240 h 391144"/>
                <a:gd name="connsiteX24" fmla="*/ 511691 w 607639"/>
                <a:gd name="connsiteY24" fmla="*/ 343240 h 391144"/>
                <a:gd name="connsiteX25" fmla="*/ 511691 w 607639"/>
                <a:gd name="connsiteY25" fmla="*/ 47904 h 391144"/>
                <a:gd name="connsiteX26" fmla="*/ 47974 w 607639"/>
                <a:gd name="connsiteY26" fmla="*/ 0 h 391144"/>
                <a:gd name="connsiteX27" fmla="*/ 559665 w 607639"/>
                <a:gd name="connsiteY27" fmla="*/ 0 h 391144"/>
                <a:gd name="connsiteX28" fmla="*/ 559665 w 607639"/>
                <a:gd name="connsiteY28" fmla="*/ 343240 h 391144"/>
                <a:gd name="connsiteX29" fmla="*/ 607639 w 607639"/>
                <a:gd name="connsiteY29" fmla="*/ 343240 h 391144"/>
                <a:gd name="connsiteX30" fmla="*/ 607639 w 607639"/>
                <a:gd name="connsiteY30" fmla="*/ 391144 h 391144"/>
                <a:gd name="connsiteX31" fmla="*/ 0 w 607639"/>
                <a:gd name="connsiteY31" fmla="*/ 391144 h 391144"/>
                <a:gd name="connsiteX32" fmla="*/ 0 w 607639"/>
                <a:gd name="connsiteY32" fmla="*/ 343240 h 391144"/>
                <a:gd name="connsiteX33" fmla="*/ 47974 w 607639"/>
                <a:gd name="connsiteY33" fmla="*/ 343240 h 39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7639" h="391144">
                  <a:moveTo>
                    <a:pt x="143953" y="239428"/>
                  </a:moveTo>
                  <a:lnTo>
                    <a:pt x="223838" y="239428"/>
                  </a:lnTo>
                  <a:lnTo>
                    <a:pt x="239851" y="239428"/>
                  </a:lnTo>
                  <a:lnTo>
                    <a:pt x="239851" y="287271"/>
                  </a:lnTo>
                  <a:lnTo>
                    <a:pt x="223838" y="287271"/>
                  </a:lnTo>
                  <a:lnTo>
                    <a:pt x="143953" y="287271"/>
                  </a:lnTo>
                  <a:close/>
                  <a:moveTo>
                    <a:pt x="143953" y="167593"/>
                  </a:moveTo>
                  <a:lnTo>
                    <a:pt x="239851" y="167593"/>
                  </a:lnTo>
                  <a:lnTo>
                    <a:pt x="239851" y="215507"/>
                  </a:lnTo>
                  <a:lnTo>
                    <a:pt x="143953" y="215507"/>
                  </a:lnTo>
                  <a:close/>
                  <a:moveTo>
                    <a:pt x="415772" y="143601"/>
                  </a:moveTo>
                  <a:lnTo>
                    <a:pt x="463686" y="143601"/>
                  </a:lnTo>
                  <a:lnTo>
                    <a:pt x="463686" y="287272"/>
                  </a:lnTo>
                  <a:lnTo>
                    <a:pt x="415772" y="287272"/>
                  </a:lnTo>
                  <a:close/>
                  <a:moveTo>
                    <a:pt x="287836" y="143601"/>
                  </a:moveTo>
                  <a:lnTo>
                    <a:pt x="335820" y="143601"/>
                  </a:lnTo>
                  <a:lnTo>
                    <a:pt x="335820" y="287272"/>
                  </a:lnTo>
                  <a:lnTo>
                    <a:pt x="287836" y="287272"/>
                  </a:lnTo>
                  <a:close/>
                  <a:moveTo>
                    <a:pt x="351769" y="95757"/>
                  </a:moveTo>
                  <a:lnTo>
                    <a:pt x="399683" y="95757"/>
                  </a:lnTo>
                  <a:lnTo>
                    <a:pt x="399683" y="287271"/>
                  </a:lnTo>
                  <a:lnTo>
                    <a:pt x="351769" y="287271"/>
                  </a:lnTo>
                  <a:close/>
                  <a:moveTo>
                    <a:pt x="95948" y="47904"/>
                  </a:moveTo>
                  <a:lnTo>
                    <a:pt x="95948" y="343240"/>
                  </a:lnTo>
                  <a:lnTo>
                    <a:pt x="511691" y="343240"/>
                  </a:lnTo>
                  <a:lnTo>
                    <a:pt x="511691" y="47904"/>
                  </a:lnTo>
                  <a:close/>
                  <a:moveTo>
                    <a:pt x="47974" y="0"/>
                  </a:moveTo>
                  <a:lnTo>
                    <a:pt x="559665" y="0"/>
                  </a:lnTo>
                  <a:lnTo>
                    <a:pt x="559665" y="343240"/>
                  </a:lnTo>
                  <a:lnTo>
                    <a:pt x="607639" y="343240"/>
                  </a:lnTo>
                  <a:lnTo>
                    <a:pt x="607639" y="391144"/>
                  </a:lnTo>
                  <a:lnTo>
                    <a:pt x="0" y="391144"/>
                  </a:lnTo>
                  <a:lnTo>
                    <a:pt x="0" y="343240"/>
                  </a:lnTo>
                  <a:lnTo>
                    <a:pt x="47974" y="343240"/>
                  </a:lnTo>
                  <a:close/>
                </a:path>
              </a:pathLst>
            </a:custGeom>
            <a:solidFill>
              <a:schemeClr val="bg1"/>
            </a:solidFill>
            <a:ln>
              <a:noFill/>
            </a:ln>
          </p:spPr>
          <p:txBody>
            <a:bodyPr/>
            <a:lstStyle/>
            <a:p>
              <a:endParaRPr lang="zh-CN" altLang="en-US">
                <a:cs typeface="思源宋体" panose="02020700000000000000" charset="-122"/>
              </a:endParaRPr>
            </a:p>
          </p:txBody>
        </p:sp>
        <p:sp>
          <p:nvSpPr>
            <p:cNvPr id="15" name="文本框 330"/>
            <p:cNvSpPr txBox="1"/>
            <p:nvPr>
              <p:custDataLst>
                <p:tags r:id="rId15"/>
              </p:custDataLst>
            </p:nvPr>
          </p:nvSpPr>
          <p:spPr>
            <a:xfrm>
              <a:off x="8915" y="2689"/>
              <a:ext cx="3115" cy="8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000" b="1" dirty="0">
                  <a:solidFill>
                    <a:srgbClr val="404040"/>
                  </a:solidFill>
                  <a:effectLst/>
                  <a:latin typeface="Times New Roman" panose="02020603050405020304" pitchFamily="18" charset="0"/>
                  <a:cs typeface="Times New Roman" panose="02020603050405020304" pitchFamily="18" charset="0"/>
                  <a:sym typeface="+mn-ea"/>
                </a:rPr>
                <a:t>信息检索与推荐</a:t>
              </a:r>
              <a:endParaRPr kumimoji="1" lang="zh-CN" sz="2000">
                <a:solidFill>
                  <a:schemeClr val="tx1">
                    <a:lumMod val="75000"/>
                    <a:lumOff val="25000"/>
                  </a:schemeClr>
                </a:solidFill>
                <a:effectLst/>
                <a:latin typeface="思源宋体 Heavy" panose="02020900000000000000" charset="-122"/>
                <a:ea typeface="思源宋体 Heavy" panose="02020900000000000000" charset="-122"/>
                <a:cs typeface="思源宋体" panose="02020700000000000000" charset="-122"/>
              </a:endParaRPr>
            </a:p>
          </p:txBody>
        </p:sp>
        <p:sp>
          <p:nvSpPr>
            <p:cNvPr id="4" name="矩形 3"/>
            <p:cNvSpPr/>
            <p:nvPr>
              <p:custDataLst>
                <p:tags r:id="rId16"/>
              </p:custDataLst>
            </p:nvPr>
          </p:nvSpPr>
          <p:spPr>
            <a:xfrm>
              <a:off x="8915" y="3379"/>
              <a:ext cx="3647" cy="1161"/>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400" dirty="0">
                  <a:solidFill>
                    <a:srgbClr val="404040"/>
                  </a:solidFill>
                  <a:effectLst/>
                  <a:latin typeface="Times New Roman" panose="02020603050405020304" pitchFamily="18" charset="0"/>
                  <a:cs typeface="Times New Roman" panose="02020603050405020304" pitchFamily="18" charset="0"/>
                  <a:sym typeface="+mn-ea"/>
                </a:rPr>
                <a:t>提升搜索引擎准确性，支持个性化推荐</a:t>
              </a:r>
              <a:endParaRPr lang="zh-CN" altLang="en-US" sz="1400" dirty="0">
                <a:solidFill>
                  <a:srgbClr val="404040"/>
                </a:solidFill>
                <a:effectLst/>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3" name="文本框 330"/>
            <p:cNvSpPr txBox="1"/>
            <p:nvPr>
              <p:custDataLst>
                <p:tags r:id="rId17"/>
              </p:custDataLst>
            </p:nvPr>
          </p:nvSpPr>
          <p:spPr>
            <a:xfrm>
              <a:off x="8915" y="5273"/>
              <a:ext cx="2701" cy="8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000" b="1" dirty="0">
                  <a:solidFill>
                    <a:srgbClr val="404040"/>
                  </a:solidFill>
                  <a:effectLst/>
                  <a:latin typeface="Times New Roman" panose="02020603050405020304" pitchFamily="18" charset="0"/>
                  <a:cs typeface="Times New Roman" panose="02020603050405020304" pitchFamily="18" charset="0"/>
                  <a:sym typeface="+mn-ea"/>
                </a:rPr>
                <a:t>商业与金融</a:t>
              </a:r>
              <a:endParaRPr kumimoji="1" lang="zh-CN" sz="2000">
                <a:solidFill>
                  <a:schemeClr val="tx1">
                    <a:lumMod val="75000"/>
                    <a:lumOff val="25000"/>
                  </a:schemeClr>
                </a:solidFill>
                <a:effectLst/>
                <a:latin typeface="思源宋体 Heavy" panose="02020900000000000000" charset="-122"/>
                <a:ea typeface="思源宋体 Heavy" panose="02020900000000000000" charset="-122"/>
                <a:cs typeface="思源宋体" panose="02020700000000000000" charset="-122"/>
              </a:endParaRPr>
            </a:p>
          </p:txBody>
        </p:sp>
        <p:sp>
          <p:nvSpPr>
            <p:cNvPr id="5" name="矩形 4"/>
            <p:cNvSpPr/>
            <p:nvPr>
              <p:custDataLst>
                <p:tags r:id="rId18"/>
              </p:custDataLst>
            </p:nvPr>
          </p:nvSpPr>
          <p:spPr>
            <a:xfrm>
              <a:off x="8915" y="5963"/>
              <a:ext cx="3647" cy="1161"/>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400" dirty="0">
                  <a:solidFill>
                    <a:srgbClr val="404040"/>
                  </a:solidFill>
                  <a:effectLst/>
                  <a:latin typeface="Times New Roman" panose="02020603050405020304" pitchFamily="18" charset="0"/>
                  <a:cs typeface="Times New Roman" panose="02020603050405020304" pitchFamily="18" charset="0"/>
                  <a:sym typeface="+mn-ea"/>
                </a:rPr>
                <a:t>分析财报、舆情，辅助投资决策</a:t>
              </a:r>
              <a:endParaRPr lang="zh-CN" altLang="en-US" sz="1400" dirty="0">
                <a:solidFill>
                  <a:srgbClr val="404040"/>
                </a:solidFill>
                <a:effectLst/>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6" name="文本框 330"/>
            <p:cNvSpPr txBox="1"/>
            <p:nvPr>
              <p:custDataLst>
                <p:tags r:id="rId19"/>
              </p:custDataLst>
            </p:nvPr>
          </p:nvSpPr>
          <p:spPr>
            <a:xfrm>
              <a:off x="13975" y="2689"/>
              <a:ext cx="2701" cy="8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000" b="1" dirty="0">
                  <a:solidFill>
                    <a:srgbClr val="404040"/>
                  </a:solidFill>
                  <a:effectLst/>
                  <a:latin typeface="Times New Roman" panose="02020603050405020304" pitchFamily="18" charset="0"/>
                  <a:cs typeface="Times New Roman" panose="02020603050405020304" pitchFamily="18" charset="0"/>
                  <a:sym typeface="+mn-ea"/>
                </a:rPr>
                <a:t>法律合规</a:t>
              </a:r>
              <a:endParaRPr kumimoji="1" lang="zh-CN" sz="2000">
                <a:solidFill>
                  <a:schemeClr val="tx1">
                    <a:lumMod val="75000"/>
                    <a:lumOff val="25000"/>
                  </a:schemeClr>
                </a:solidFill>
                <a:effectLst/>
                <a:latin typeface="思源宋体 Heavy" panose="02020900000000000000" charset="-122"/>
                <a:ea typeface="思源宋体 Heavy" panose="02020900000000000000" charset="-122"/>
                <a:cs typeface="思源宋体" panose="02020700000000000000" charset="-122"/>
              </a:endParaRPr>
            </a:p>
          </p:txBody>
        </p:sp>
        <p:sp>
          <p:nvSpPr>
            <p:cNvPr id="7" name="矩形 6"/>
            <p:cNvSpPr/>
            <p:nvPr>
              <p:custDataLst>
                <p:tags r:id="rId20"/>
              </p:custDataLst>
            </p:nvPr>
          </p:nvSpPr>
          <p:spPr>
            <a:xfrm>
              <a:off x="13975" y="3379"/>
              <a:ext cx="3647" cy="1161"/>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400" dirty="0">
                  <a:solidFill>
                    <a:srgbClr val="404040"/>
                  </a:solidFill>
                  <a:effectLst/>
                  <a:latin typeface="Times New Roman" panose="02020603050405020304" pitchFamily="18" charset="0"/>
                  <a:cs typeface="Times New Roman" panose="02020603050405020304" pitchFamily="18" charset="0"/>
                  <a:sym typeface="+mn-ea"/>
                </a:rPr>
                <a:t>解析法律文件，强化风控与反洗钱</a:t>
              </a:r>
              <a:endParaRPr lang="zh-CN" altLang="en-US" sz="1400" dirty="0">
                <a:solidFill>
                  <a:srgbClr val="404040"/>
                </a:solidFill>
                <a:effectLst/>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8" name="文本框 330"/>
            <p:cNvSpPr txBox="1"/>
            <p:nvPr>
              <p:custDataLst>
                <p:tags r:id="rId21"/>
              </p:custDataLst>
            </p:nvPr>
          </p:nvSpPr>
          <p:spPr>
            <a:xfrm>
              <a:off x="13975" y="5273"/>
              <a:ext cx="2701" cy="8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000" b="1" dirty="0">
                  <a:solidFill>
                    <a:srgbClr val="404040"/>
                  </a:solidFill>
                  <a:effectLst/>
                  <a:latin typeface="Times New Roman" panose="02020603050405020304" pitchFamily="18" charset="0"/>
                  <a:cs typeface="Times New Roman" panose="02020603050405020304" pitchFamily="18" charset="0"/>
                  <a:sym typeface="+mn-ea"/>
                </a:rPr>
                <a:t>社交媒体</a:t>
              </a:r>
              <a:endParaRPr kumimoji="1" lang="zh-CN" sz="2000">
                <a:solidFill>
                  <a:schemeClr val="tx1">
                    <a:lumMod val="75000"/>
                    <a:lumOff val="25000"/>
                  </a:schemeClr>
                </a:solidFill>
                <a:effectLst/>
                <a:latin typeface="思源宋体 Heavy" panose="02020900000000000000" charset="-122"/>
                <a:ea typeface="思源宋体 Heavy" panose="02020900000000000000" charset="-122"/>
                <a:cs typeface="思源宋体" panose="02020700000000000000" charset="-122"/>
              </a:endParaRPr>
            </a:p>
          </p:txBody>
        </p:sp>
        <p:sp>
          <p:nvSpPr>
            <p:cNvPr id="9" name="矩形 8"/>
            <p:cNvSpPr/>
            <p:nvPr>
              <p:custDataLst>
                <p:tags r:id="rId22"/>
              </p:custDataLst>
            </p:nvPr>
          </p:nvSpPr>
          <p:spPr>
            <a:xfrm>
              <a:off x="13975" y="5963"/>
              <a:ext cx="3647" cy="1161"/>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400" dirty="0">
                  <a:solidFill>
                    <a:srgbClr val="404040"/>
                  </a:solidFill>
                  <a:effectLst/>
                  <a:latin typeface="Times New Roman" panose="02020603050405020304" pitchFamily="18" charset="0"/>
                  <a:cs typeface="Times New Roman" panose="02020603050405020304" pitchFamily="18" charset="0"/>
                  <a:sym typeface="+mn-ea"/>
                </a:rPr>
                <a:t>监控品牌、产品提及，优化客户反馈</a:t>
              </a:r>
              <a:endParaRPr lang="zh-CN" altLang="en-US" sz="1400" dirty="0">
                <a:solidFill>
                  <a:srgbClr val="404040"/>
                </a:solidFill>
                <a:effectLst/>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10" name="文本框 330"/>
            <p:cNvSpPr txBox="1"/>
            <p:nvPr>
              <p:custDataLst>
                <p:tags r:id="rId23"/>
              </p:custDataLst>
            </p:nvPr>
          </p:nvSpPr>
          <p:spPr>
            <a:xfrm>
              <a:off x="8915" y="7707"/>
              <a:ext cx="2701" cy="8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000" b="1" dirty="0">
                  <a:solidFill>
                    <a:srgbClr val="404040"/>
                  </a:solidFill>
                  <a:effectLst/>
                  <a:latin typeface="Times New Roman" panose="02020603050405020304" pitchFamily="18" charset="0"/>
                  <a:cs typeface="Times New Roman" panose="02020603050405020304" pitchFamily="18" charset="0"/>
                  <a:sym typeface="+mn-ea"/>
                </a:rPr>
                <a:t>医疗健康</a:t>
              </a:r>
              <a:endParaRPr kumimoji="1" lang="zh-CN" sz="2000">
                <a:solidFill>
                  <a:schemeClr val="tx1">
                    <a:lumMod val="75000"/>
                    <a:lumOff val="25000"/>
                  </a:schemeClr>
                </a:solidFill>
                <a:effectLst/>
                <a:latin typeface="思源宋体 Heavy" panose="02020900000000000000" charset="-122"/>
                <a:ea typeface="思源宋体 Heavy" panose="02020900000000000000" charset="-122"/>
                <a:cs typeface="思源宋体" panose="02020700000000000000" charset="-122"/>
              </a:endParaRPr>
            </a:p>
          </p:txBody>
        </p:sp>
        <p:sp>
          <p:nvSpPr>
            <p:cNvPr id="11" name="矩形 10"/>
            <p:cNvSpPr/>
            <p:nvPr>
              <p:custDataLst>
                <p:tags r:id="rId24"/>
              </p:custDataLst>
            </p:nvPr>
          </p:nvSpPr>
          <p:spPr>
            <a:xfrm>
              <a:off x="8915" y="8397"/>
              <a:ext cx="3881" cy="1161"/>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400" dirty="0">
                  <a:solidFill>
                    <a:srgbClr val="404040"/>
                  </a:solidFill>
                  <a:effectLst/>
                  <a:latin typeface="Times New Roman" panose="02020603050405020304" pitchFamily="18" charset="0"/>
                  <a:cs typeface="Times New Roman" panose="02020603050405020304" pitchFamily="18" charset="0"/>
                  <a:sym typeface="+mn-ea"/>
                </a:rPr>
                <a:t>识别病历中的疾病、药物，助力科研与诊断</a:t>
              </a:r>
              <a:endParaRPr lang="zh-CN" altLang="en-US" sz="1400" dirty="0">
                <a:solidFill>
                  <a:srgbClr val="404040"/>
                </a:solidFill>
                <a:effectLst/>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12" name="文本框 330"/>
            <p:cNvSpPr txBox="1"/>
            <p:nvPr>
              <p:custDataLst>
                <p:tags r:id="rId25"/>
              </p:custDataLst>
            </p:nvPr>
          </p:nvSpPr>
          <p:spPr>
            <a:xfrm>
              <a:off x="13975" y="7707"/>
              <a:ext cx="2701" cy="871"/>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pPr>
              <a:r>
                <a:rPr lang="zh-CN" altLang="en-US" sz="2000" b="1" dirty="0">
                  <a:solidFill>
                    <a:srgbClr val="404040"/>
                  </a:solidFill>
                  <a:effectLst/>
                  <a:latin typeface="Times New Roman" panose="02020603050405020304" pitchFamily="18" charset="0"/>
                  <a:cs typeface="Times New Roman" panose="02020603050405020304" pitchFamily="18" charset="0"/>
                  <a:sym typeface="+mn-ea"/>
                </a:rPr>
                <a:t>语音助手</a:t>
              </a:r>
              <a:endParaRPr kumimoji="1" lang="zh-CN" sz="2000">
                <a:solidFill>
                  <a:schemeClr val="tx1">
                    <a:lumMod val="75000"/>
                    <a:lumOff val="25000"/>
                  </a:schemeClr>
                </a:solidFill>
                <a:effectLst/>
                <a:latin typeface="思源宋体 Heavy" panose="02020900000000000000" charset="-122"/>
                <a:ea typeface="思源宋体 Heavy" panose="02020900000000000000" charset="-122"/>
                <a:cs typeface="思源宋体" panose="02020700000000000000" charset="-122"/>
              </a:endParaRPr>
            </a:p>
          </p:txBody>
        </p:sp>
        <p:sp>
          <p:nvSpPr>
            <p:cNvPr id="13" name="矩形 12"/>
            <p:cNvSpPr/>
            <p:nvPr>
              <p:custDataLst>
                <p:tags r:id="rId26"/>
              </p:custDataLst>
            </p:nvPr>
          </p:nvSpPr>
          <p:spPr>
            <a:xfrm>
              <a:off x="13975" y="8397"/>
              <a:ext cx="3647" cy="1161"/>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400" dirty="0">
                  <a:solidFill>
                    <a:srgbClr val="404040"/>
                  </a:solidFill>
                  <a:effectLst/>
                  <a:latin typeface="Times New Roman" panose="02020603050405020304" pitchFamily="18" charset="0"/>
                  <a:cs typeface="Times New Roman" panose="02020603050405020304" pitchFamily="18" charset="0"/>
                  <a:sym typeface="+mn-ea"/>
                </a:rPr>
                <a:t>精准理解用户指令中的实体（如时间、地点）</a:t>
              </a:r>
              <a:endParaRPr lang="zh-CN" altLang="en-US" sz="1400" dirty="0">
                <a:solidFill>
                  <a:srgbClr val="404040"/>
                </a:solidFill>
                <a:effectLst/>
                <a:latin typeface="Times New Roman" panose="02020603050405020304" pitchFamily="18" charset="0"/>
                <a:ea typeface="思源宋体" panose="02020700000000000000" charset="-122"/>
                <a:cs typeface="Times New Roman" panose="02020603050405020304" pitchFamily="18" charset="0"/>
                <a:sym typeface="+mn-ea"/>
              </a:endParaRPr>
            </a:p>
          </p:txBody>
        </p:sp>
      </p:grpSp>
      <p:grpSp>
        <p:nvGrpSpPr>
          <p:cNvPr id="2" name="组合 1"/>
          <p:cNvGrpSpPr/>
          <p:nvPr/>
        </p:nvGrpSpPr>
        <p:grpSpPr>
          <a:xfrm>
            <a:off x="-558165" y="386715"/>
            <a:ext cx="4529455" cy="1273810"/>
            <a:chOff x="-879" y="609"/>
            <a:chExt cx="7133" cy="2006"/>
          </a:xfrm>
        </p:grpSpPr>
        <p:sp>
          <p:nvSpPr>
            <p:cNvPr id="17" name="文本框 16"/>
            <p:cNvSpPr txBox="1"/>
            <p:nvPr/>
          </p:nvSpPr>
          <p:spPr>
            <a:xfrm>
              <a:off x="1518" y="1105"/>
              <a:ext cx="4736" cy="1016"/>
            </a:xfrm>
            <a:prstGeom prst="rect">
              <a:avLst/>
            </a:prstGeom>
            <a:noFill/>
          </p:spPr>
          <p:txBody>
            <a:bodyPr wrap="square" rtlCol="0">
              <a:spAutoFit/>
            </a:bodyPr>
            <a:lstStyle/>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应用</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领域</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9" name="椭圆 18"/>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0" name="椭圆 19"/>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ustDataLst>
      <p:tags r:id="rId27"/>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500" fill="hold">
                                          <p:stCondLst>
                                            <p:cond delay="0"/>
                                          </p:stCondLst>
                                        </p:cTn>
                                        <p:tgtEl>
                                          <p:spTgt spid="16"/>
                                        </p:tgtEl>
                                        <p:attrNameLst>
                                          <p:attrName>style.visibility</p:attrName>
                                        </p:attrNameLst>
                                      </p:cBhvr>
                                      <p:to>
                                        <p:strVal val="visible"/>
                                      </p:to>
                                    </p:set>
                                    <p:animEffect transition="in" filter="wheel(2)">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58165" y="386715"/>
            <a:ext cx="1273175" cy="1273810"/>
            <a:chOff x="-879" y="609"/>
            <a:chExt cx="2005" cy="2006"/>
          </a:xfrm>
        </p:grpSpPr>
        <p:sp>
          <p:nvSpPr>
            <p:cNvPr id="12" name="椭圆 11"/>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3" name="椭圆 12"/>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37" name="文本框 36"/>
          <p:cNvSpPr txBox="1"/>
          <p:nvPr/>
        </p:nvSpPr>
        <p:spPr>
          <a:xfrm>
            <a:off x="683260" y="1517015"/>
            <a:ext cx="10825480" cy="4732020"/>
          </a:xfrm>
          <a:prstGeom prst="rect">
            <a:avLst/>
          </a:prstGeom>
          <a:noFill/>
          <a:ln>
            <a:gradFill>
              <a:gsLst>
                <a:gs pos="0">
                  <a:schemeClr val="accent4">
                    <a:lumMod val="40000"/>
                    <a:lumOff val="60000"/>
                  </a:schemeClr>
                </a:gs>
                <a:gs pos="100000">
                  <a:schemeClr val="accent4">
                    <a:lumMod val="75000"/>
                  </a:schemeClr>
                </a:gs>
              </a:gsLst>
              <a:lin ang="5400000" scaled="1"/>
            </a:gradFill>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fontAlgn="auto">
              <a:lnSpc>
                <a:spcPct val="150000"/>
              </a:lnSpc>
              <a:buFont typeface="Arial" panose="020B0604020202020204" pitchFamily="34" charset="0"/>
              <a:buChar char="•"/>
            </a:pPr>
            <a:endParaRPr lang="zh-CN" altLang="en-US" sz="8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地址（</a:t>
            </a:r>
            <a:r>
              <a:rPr lang="en-US" altLang="zh-CN" sz="1400" dirty="0">
                <a:latin typeface="Times New Roman" panose="02020603050405020304" pitchFamily="18" charset="0"/>
                <a:cs typeface="Times New Roman" panose="02020603050405020304" pitchFamily="18" charset="0"/>
              </a:rPr>
              <a:t>address</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省</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市</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区</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街</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号，</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路，</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街道，</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村等（如单独出现也标记），注意：地址需要标记完全</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标记到最细。</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书名（</a:t>
            </a:r>
            <a:r>
              <a:rPr lang="en-US" altLang="zh-CN" sz="1400" dirty="0">
                <a:latin typeface="Times New Roman" panose="02020603050405020304" pitchFamily="18" charset="0"/>
                <a:cs typeface="Times New Roman" panose="02020603050405020304" pitchFamily="18" charset="0"/>
              </a:rPr>
              <a:t>book</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小说，杂志，习题集，教科书，教辅，地图册，食谱，书店里能买到的一类书籍，包含电子书。</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公司（</a:t>
            </a:r>
            <a:r>
              <a:rPr lang="en-US" altLang="zh-CN" sz="1400" dirty="0">
                <a:latin typeface="Times New Roman" panose="02020603050405020304" pitchFamily="18" charset="0"/>
                <a:cs typeface="Times New Roman" panose="02020603050405020304" pitchFamily="18" charset="0"/>
              </a:rPr>
              <a:t>company</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公司，</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集团，</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银行（央行，中国人民银行除外，二者属于政府机构）</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如：新东方，包含新华网</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中国军网等。</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游戏（</a:t>
            </a:r>
            <a:r>
              <a:rPr lang="en-US" altLang="zh-CN" sz="1400" dirty="0">
                <a:latin typeface="Times New Roman" panose="02020603050405020304" pitchFamily="18" charset="0"/>
                <a:cs typeface="Times New Roman" panose="02020603050405020304" pitchFamily="18" charset="0"/>
              </a:rPr>
              <a:t>game</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常见的游戏，注意有一些从小说，电视剧改编的游戏，要分析具体场景到底是不是游戏。</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政府（</a:t>
            </a:r>
            <a:r>
              <a:rPr lang="en-US" altLang="zh-CN" sz="1400" dirty="0" err="1">
                <a:latin typeface="Times New Roman" panose="02020603050405020304" pitchFamily="18" charset="0"/>
                <a:cs typeface="Times New Roman" panose="02020603050405020304" pitchFamily="18" charset="0"/>
              </a:rPr>
              <a:t>goverment</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包括中央行政机关和地方行政机关两级。</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中央行政机关有国务院、国务院组成部门（包括各部、委员会、中国人民银行和审计署）、国务院直属机构（如海关、税务、工商、环保总局等），军队等。</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电影（</a:t>
            </a:r>
            <a:r>
              <a:rPr lang="en-US" altLang="zh-CN" sz="1400" dirty="0">
                <a:latin typeface="Times New Roman" panose="02020603050405020304" pitchFamily="18" charset="0"/>
                <a:cs typeface="Times New Roman" panose="02020603050405020304" pitchFamily="18" charset="0"/>
              </a:rPr>
              <a:t>movie</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电影，也包括拍的一些在电影院上映的纪录片，如果是根据书名改编成电影，要根据场景上下文着重区分下是电影名字还是书名。</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姓名（</a:t>
            </a:r>
            <a:r>
              <a:rPr lang="en-US" altLang="zh-CN" sz="1400" dirty="0">
                <a:latin typeface="Times New Roman" panose="02020603050405020304" pitchFamily="18" charset="0"/>
                <a:cs typeface="Times New Roman" panose="02020603050405020304" pitchFamily="18" charset="0"/>
              </a:rPr>
              <a:t>name</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一般指人名，也包括小说里面的人物，宋江，武松，郭靖，小说里面的人物绰号：及时雨，花和尚，著名人物的别称，通过这个别称能对应到某个具体人物。</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组织机构（</a:t>
            </a:r>
            <a:r>
              <a:rPr lang="en-US" altLang="zh-CN" sz="1400" dirty="0">
                <a:latin typeface="Times New Roman" panose="02020603050405020304" pitchFamily="18" charset="0"/>
                <a:cs typeface="Times New Roman" panose="02020603050405020304" pitchFamily="18" charset="0"/>
              </a:rPr>
              <a:t>organization</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篮球队，足球队，乐团，社团等，另外包含小说里面的帮派如：少林寺，丐帮，铁掌帮，武当，峨眉等。</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职位（</a:t>
            </a:r>
            <a:r>
              <a:rPr lang="en-US" altLang="zh-CN" sz="1400" dirty="0">
                <a:latin typeface="Times New Roman" panose="02020603050405020304" pitchFamily="18" charset="0"/>
                <a:cs typeface="Times New Roman" panose="02020603050405020304" pitchFamily="18" charset="0"/>
              </a:rPr>
              <a:t>position</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古时候的职称：巡抚，知州，国师等。现代的总经理，记者，总裁，艺术家，收藏家等。</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景点（</a:t>
            </a:r>
            <a:r>
              <a:rPr lang="en-US" altLang="zh-CN" sz="1400" dirty="0">
                <a:latin typeface="Times New Roman" panose="02020603050405020304" pitchFamily="18" charset="0"/>
                <a:cs typeface="Times New Roman" panose="02020603050405020304" pitchFamily="18" charset="0"/>
              </a:rPr>
              <a:t>scene</a:t>
            </a:r>
            <a:r>
              <a:rPr lang="zh-CN" altLang="en-US"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常见旅游景点如：长沙公园，深圳动物园，海洋馆，植物园，黄河，长江等。</a:t>
            </a:r>
            <a:endParaRPr lang="zh-CN" altLang="en-US" sz="1400" dirty="0">
              <a:latin typeface="Times New Roman" panose="02020603050405020304" pitchFamily="18" charset="0"/>
              <a:cs typeface="Times New Roman" panose="02020603050405020304" pitchFamily="18" charset="0"/>
            </a:endParaRPr>
          </a:p>
          <a:p>
            <a:pPr marL="285750" indent="-285750" fontAlgn="auto">
              <a:lnSpc>
                <a:spcPct val="150000"/>
              </a:lnSpc>
              <a:buFont typeface="Arial" panose="020B0604020202020204" pitchFamily="34" charset="0"/>
              <a:buChar char="•"/>
            </a:pPr>
            <a:endParaRPr lang="zh-CN" altLang="en-US" sz="800" dirty="0">
              <a:latin typeface="Times New Roman" panose="02020603050405020304" pitchFamily="18" charset="0"/>
              <a:cs typeface="Times New Roman" panose="02020603050405020304" pitchFamily="18" charset="0"/>
            </a:endParaRPr>
          </a:p>
        </p:txBody>
      </p:sp>
      <p:sp>
        <p:nvSpPr>
          <p:cNvPr id="38" name="文本框 37"/>
          <p:cNvSpPr txBox="1"/>
          <p:nvPr/>
        </p:nvSpPr>
        <p:spPr>
          <a:xfrm>
            <a:off x="963930" y="701040"/>
            <a:ext cx="3007360" cy="645160"/>
          </a:xfrm>
          <a:prstGeom prst="rect">
            <a:avLst/>
          </a:prstGeom>
          <a:noFill/>
        </p:spPr>
        <p:txBody>
          <a:bodyPr wrap="square" rtlCol="0">
            <a:spAutoFit/>
          </a:bodyPr>
          <a:p>
            <a:pPr algn="l">
              <a:buClrTx/>
              <a:buSzTx/>
              <a:buFontTx/>
            </a:pP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标签类别</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Tree>
    <p:custDataLst>
      <p:tags r:id="rId1"/>
    </p:custDataLst>
  </p:cSld>
  <p:clrMapOvr>
    <a:masterClrMapping/>
  </p:clrMapOvr>
  <p:transition>
    <p:blinds/>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custDataLst>
              <p:tags r:id="rId1"/>
            </p:custDataLst>
          </p:nvPr>
        </p:nvGrpSpPr>
        <p:grpSpPr>
          <a:xfrm>
            <a:off x="895350" y="2038985"/>
            <a:ext cx="10088880" cy="3957955"/>
            <a:chOff x="1410" y="3211"/>
            <a:chExt cx="15888" cy="6233"/>
          </a:xfrm>
        </p:grpSpPr>
        <p:sp>
          <p:nvSpPr>
            <p:cNvPr id="10247" name="直接连接符 26"/>
            <p:cNvSpPr/>
            <p:nvPr>
              <p:custDataLst>
                <p:tags r:id="rId2"/>
              </p:custDataLst>
            </p:nvPr>
          </p:nvSpPr>
          <p:spPr>
            <a:xfrm>
              <a:off x="8616" y="3577"/>
              <a:ext cx="1" cy="5092"/>
            </a:xfrm>
            <a:prstGeom prst="line">
              <a:avLst/>
            </a:prstGeom>
            <a:ln w="9525" cap="flat" cmpd="sng">
              <a:solidFill>
                <a:srgbClr val="A5A5A5"/>
              </a:solidFill>
              <a:prstDash val="solid"/>
              <a:bevel/>
              <a:headEnd type="none" w="med" len="med"/>
              <a:tailEnd type="none" w="med" len="med"/>
            </a:ln>
          </p:spPr>
        </p:sp>
        <p:grpSp>
          <p:nvGrpSpPr>
            <p:cNvPr id="10248" name="组合 27"/>
            <p:cNvGrpSpPr/>
            <p:nvPr/>
          </p:nvGrpSpPr>
          <p:grpSpPr>
            <a:xfrm>
              <a:off x="7718" y="3211"/>
              <a:ext cx="1796" cy="1268"/>
              <a:chOff x="-997738" y="0"/>
              <a:chExt cx="893048" cy="612068"/>
            </a:xfrm>
            <a:gradFill>
              <a:gsLst>
                <a:gs pos="0">
                  <a:srgbClr val="6E3DA8"/>
                </a:gs>
                <a:gs pos="100000">
                  <a:srgbClr val="0070C0"/>
                </a:gs>
              </a:gsLst>
              <a:lin ang="5400000" scaled="0"/>
            </a:gradFill>
          </p:grpSpPr>
          <p:sp>
            <p:nvSpPr>
              <p:cNvPr id="10266" name="椭圆 31"/>
              <p:cNvSpPr/>
              <p:nvPr>
                <p:custDataLst>
                  <p:tags r:id="rId3"/>
                </p:custDataLst>
              </p:nvPr>
            </p:nvSpPr>
            <p:spPr>
              <a:xfrm>
                <a:off x="-857247" y="0"/>
                <a:ext cx="612068" cy="612068"/>
              </a:xfrm>
              <a:prstGeom prst="ellipse">
                <a:avLst/>
              </a:prstGeom>
              <a:gradFill>
                <a:gsLst>
                  <a:gs pos="0">
                    <a:srgbClr val="F1BD59"/>
                  </a:gs>
                  <a:gs pos="100000">
                    <a:schemeClr val="accent4">
                      <a:lumMod val="75000"/>
                    </a:schemeClr>
                  </a:gs>
                </a:gsLst>
                <a:lin ang="5400000" scaled="0"/>
              </a:gradFill>
              <a:ln w="25400">
                <a:noFill/>
              </a:ln>
            </p:spPr>
            <p:txBody>
              <a:bodyPr anchor="ctr"/>
              <a:lstStyle/>
              <a:p>
                <a:pPr algn="ctr" eaLnBrk="1" hangingPunct="1">
                  <a:buFont typeface="Arial" panose="020B0604020202020204" pitchFamily="34" charset="0"/>
                </a:pPr>
                <a:endParaRPr lang="zh-CN" altLang="zh-CN" dirty="0">
                  <a:solidFill>
                    <a:srgbClr val="FFFFFF"/>
                  </a:solidFill>
                  <a:latin typeface="思源宋体 Heavy" panose="02020900000000000000" charset="-122"/>
                  <a:ea typeface="思源宋体 Heavy" panose="02020900000000000000" charset="-122"/>
                  <a:cs typeface="思源宋体" panose="02020700000000000000" charset="-122"/>
                </a:endParaRPr>
              </a:p>
            </p:txBody>
          </p:sp>
          <p:sp>
            <p:nvSpPr>
              <p:cNvPr id="10267" name="TextBox 32"/>
              <p:cNvSpPr/>
              <p:nvPr>
                <p:custDataLst>
                  <p:tags r:id="rId4"/>
                </p:custDataLst>
              </p:nvPr>
            </p:nvSpPr>
            <p:spPr>
              <a:xfrm>
                <a:off x="-997738" y="167591"/>
                <a:ext cx="893048" cy="233146"/>
              </a:xfrm>
              <a:prstGeom prst="rect">
                <a:avLst/>
              </a:prstGeom>
              <a:gradFill>
                <a:gsLst>
                  <a:gs pos="0">
                    <a:srgbClr val="F1BD59"/>
                  </a:gs>
                  <a:gs pos="100000">
                    <a:schemeClr val="accent4">
                      <a:lumMod val="75000"/>
                    </a:schemeClr>
                  </a:gs>
                </a:gsLst>
                <a:lin ang="5400000" scaled="0"/>
              </a:gradFill>
              <a:ln w="9525">
                <a:noFill/>
              </a:ln>
            </p:spPr>
            <p:txBody>
              <a:bodyPr wrap="square">
                <a:spAutoFit/>
              </a:bodyPr>
              <a:lstStyle/>
              <a:p>
                <a:pPr algn="ctr" eaLnBrk="1" hangingPunct="1">
                  <a:buFont typeface="Arial" panose="020B0604020202020204" pitchFamily="34" charset="0"/>
                </a:pPr>
                <a:r>
                  <a:rPr lang="en-US" altLang="zh-CN"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rPr>
                  <a:t> </a:t>
                </a:r>
                <a:r>
                  <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rPr>
                  <a:t>轻量</a:t>
                </a:r>
                <a:r>
                  <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rPr>
                  <a:t>高效</a:t>
                </a:r>
                <a:endPar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endParaRPr>
              </a:p>
            </p:txBody>
          </p:sp>
        </p:grpSp>
        <p:grpSp>
          <p:nvGrpSpPr>
            <p:cNvPr id="10249" name="组合 33"/>
            <p:cNvGrpSpPr/>
            <p:nvPr/>
          </p:nvGrpSpPr>
          <p:grpSpPr>
            <a:xfrm>
              <a:off x="7696" y="5466"/>
              <a:ext cx="1818" cy="1279"/>
              <a:chOff x="-987362" y="0"/>
              <a:chExt cx="893048" cy="612068"/>
            </a:xfrm>
            <a:gradFill>
              <a:gsLst>
                <a:gs pos="0">
                  <a:srgbClr val="6E3DA8"/>
                </a:gs>
                <a:gs pos="100000">
                  <a:srgbClr val="0070C0"/>
                </a:gs>
              </a:gsLst>
              <a:lin ang="5400000" scaled="0"/>
            </a:gradFill>
          </p:grpSpPr>
          <p:sp>
            <p:nvSpPr>
              <p:cNvPr id="10264" name="椭圆 34"/>
              <p:cNvSpPr/>
              <p:nvPr>
                <p:custDataLst>
                  <p:tags r:id="rId5"/>
                </p:custDataLst>
              </p:nvPr>
            </p:nvSpPr>
            <p:spPr>
              <a:xfrm>
                <a:off x="-845399" y="0"/>
                <a:ext cx="612068" cy="612068"/>
              </a:xfrm>
              <a:prstGeom prst="ellipse">
                <a:avLst/>
              </a:prstGeom>
              <a:gradFill>
                <a:gsLst>
                  <a:gs pos="0">
                    <a:srgbClr val="F1BD59"/>
                  </a:gs>
                  <a:gs pos="100000">
                    <a:schemeClr val="accent4">
                      <a:lumMod val="75000"/>
                    </a:schemeClr>
                  </a:gs>
                </a:gsLst>
                <a:lin ang="5400000" scaled="0"/>
              </a:gradFill>
              <a:ln w="25400">
                <a:noFill/>
              </a:ln>
            </p:spPr>
            <p:txBody>
              <a:bodyPr anchor="ctr"/>
              <a:lstStyle/>
              <a:p>
                <a:pPr algn="ctr" eaLnBrk="1" hangingPunct="1">
                  <a:buFont typeface="Arial" panose="020B0604020202020204" pitchFamily="34" charset="0"/>
                </a:pPr>
                <a:endParaRPr lang="zh-CN" altLang="zh-CN" dirty="0">
                  <a:solidFill>
                    <a:srgbClr val="FFFFFF"/>
                  </a:solidFill>
                  <a:latin typeface="思源宋体 Heavy" panose="02020900000000000000" charset="-122"/>
                  <a:ea typeface="思源宋体 Heavy" panose="02020900000000000000" charset="-122"/>
                  <a:cs typeface="思源宋体" panose="02020700000000000000" charset="-122"/>
                </a:endParaRPr>
              </a:p>
            </p:txBody>
          </p:sp>
          <p:sp>
            <p:nvSpPr>
              <p:cNvPr id="10265" name="TextBox 35"/>
              <p:cNvSpPr/>
              <p:nvPr>
                <p:custDataLst>
                  <p:tags r:id="rId6"/>
                </p:custDataLst>
              </p:nvPr>
            </p:nvSpPr>
            <p:spPr>
              <a:xfrm>
                <a:off x="-987362" y="190429"/>
                <a:ext cx="893048" cy="231141"/>
              </a:xfrm>
              <a:prstGeom prst="rect">
                <a:avLst/>
              </a:prstGeom>
              <a:gradFill>
                <a:gsLst>
                  <a:gs pos="0">
                    <a:srgbClr val="F1BD59"/>
                  </a:gs>
                  <a:gs pos="100000">
                    <a:schemeClr val="accent4">
                      <a:lumMod val="75000"/>
                    </a:schemeClr>
                  </a:gs>
                </a:gsLst>
                <a:lin ang="5400000" scaled="0"/>
              </a:gradFill>
              <a:ln w="9525">
                <a:noFill/>
              </a:ln>
            </p:spPr>
            <p:txBody>
              <a:bodyPr wrap="square">
                <a:spAutoFit/>
              </a:bodyPr>
              <a:lstStyle/>
              <a:p>
                <a:pPr algn="ctr" eaLnBrk="1" hangingPunct="1">
                  <a:buFont typeface="Arial" panose="020B0604020202020204" pitchFamily="34" charset="0"/>
                </a:pPr>
                <a:r>
                  <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rPr>
                  <a:t>跨语言兼容</a:t>
                </a:r>
                <a:endPar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endParaRPr>
              </a:p>
            </p:txBody>
          </p:sp>
        </p:grpSp>
        <p:grpSp>
          <p:nvGrpSpPr>
            <p:cNvPr id="10250" name="组合 36"/>
            <p:cNvGrpSpPr/>
            <p:nvPr/>
          </p:nvGrpSpPr>
          <p:grpSpPr>
            <a:xfrm>
              <a:off x="7718" y="7576"/>
              <a:ext cx="1796" cy="1264"/>
              <a:chOff x="-1009173" y="0"/>
              <a:chExt cx="893048" cy="612068"/>
            </a:xfrm>
            <a:gradFill>
              <a:gsLst>
                <a:gs pos="0">
                  <a:srgbClr val="6E3DA8"/>
                </a:gs>
                <a:gs pos="100000">
                  <a:srgbClr val="0070C0"/>
                </a:gs>
              </a:gsLst>
              <a:lin ang="5400000" scaled="0"/>
            </a:gradFill>
          </p:grpSpPr>
          <p:sp>
            <p:nvSpPr>
              <p:cNvPr id="10262" name="椭圆 37"/>
              <p:cNvSpPr/>
              <p:nvPr>
                <p:custDataLst>
                  <p:tags r:id="rId7"/>
                </p:custDataLst>
              </p:nvPr>
            </p:nvSpPr>
            <p:spPr>
              <a:xfrm>
                <a:off x="-868683" y="0"/>
                <a:ext cx="612068" cy="612068"/>
              </a:xfrm>
              <a:prstGeom prst="ellipse">
                <a:avLst/>
              </a:prstGeom>
              <a:gradFill>
                <a:gsLst>
                  <a:gs pos="0">
                    <a:srgbClr val="F1BD59"/>
                  </a:gs>
                  <a:gs pos="100000">
                    <a:schemeClr val="accent4">
                      <a:lumMod val="75000"/>
                    </a:schemeClr>
                  </a:gs>
                </a:gsLst>
                <a:lin ang="5400000" scaled="0"/>
              </a:gradFill>
              <a:ln w="25400">
                <a:noFill/>
              </a:ln>
            </p:spPr>
            <p:txBody>
              <a:bodyPr anchor="ctr"/>
              <a:lstStyle/>
              <a:p>
                <a:pPr algn="ctr" eaLnBrk="1" hangingPunct="1">
                  <a:buFont typeface="Arial" panose="020B0604020202020204" pitchFamily="34" charset="0"/>
                </a:pPr>
                <a:endParaRPr lang="zh-CN" altLang="zh-CN" dirty="0">
                  <a:solidFill>
                    <a:srgbClr val="FFFFFF"/>
                  </a:solidFill>
                  <a:latin typeface="思源宋体 Heavy" panose="02020900000000000000" charset="-122"/>
                  <a:ea typeface="思源宋体 Heavy" panose="02020900000000000000" charset="-122"/>
                  <a:cs typeface="思源宋体" panose="02020700000000000000" charset="-122"/>
                </a:endParaRPr>
              </a:p>
            </p:txBody>
          </p:sp>
          <p:sp>
            <p:nvSpPr>
              <p:cNvPr id="10263" name="TextBox 38"/>
              <p:cNvSpPr/>
              <p:nvPr>
                <p:custDataLst>
                  <p:tags r:id="rId8"/>
                </p:custDataLst>
              </p:nvPr>
            </p:nvSpPr>
            <p:spPr>
              <a:xfrm>
                <a:off x="-1009173" y="167641"/>
                <a:ext cx="893048" cy="233884"/>
              </a:xfrm>
              <a:prstGeom prst="rect">
                <a:avLst/>
              </a:prstGeom>
              <a:gradFill>
                <a:gsLst>
                  <a:gs pos="0">
                    <a:srgbClr val="F1BD59"/>
                  </a:gs>
                  <a:gs pos="100000">
                    <a:schemeClr val="accent4">
                      <a:lumMod val="75000"/>
                    </a:schemeClr>
                  </a:gs>
                </a:gsLst>
                <a:lin ang="5400000" scaled="0"/>
              </a:gradFill>
              <a:ln w="9525">
                <a:noFill/>
              </a:ln>
            </p:spPr>
            <p:txBody>
              <a:bodyPr wrap="square">
                <a:spAutoFit/>
              </a:bodyPr>
              <a:lstStyle/>
              <a:p>
                <a:pPr algn="ctr" eaLnBrk="1" hangingPunct="1">
                  <a:buFont typeface="Arial" panose="020B0604020202020204" pitchFamily="34" charset="0"/>
                </a:pPr>
                <a:r>
                  <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rPr>
                  <a:t>灵活表达</a:t>
                </a:r>
                <a:endParaRPr lang="zh-CN" altLang="en-US" sz="1400" dirty="0">
                  <a:solidFill>
                    <a:schemeClr val="bg1"/>
                  </a:solidFill>
                  <a:latin typeface="思源宋体 Heavy" panose="02020900000000000000" charset="-122"/>
                  <a:ea typeface="思源宋体 Heavy" panose="02020900000000000000" charset="-122"/>
                  <a:cs typeface="思源宋体" panose="02020700000000000000" charset="-122"/>
                  <a:sym typeface="Arial" panose="020B0604020202020204" pitchFamily="34" charset="0"/>
                </a:endParaRPr>
              </a:p>
            </p:txBody>
          </p:sp>
        </p:grpSp>
        <p:sp>
          <p:nvSpPr>
            <p:cNvPr id="8" name="文本框 7"/>
            <p:cNvSpPr txBox="1"/>
            <p:nvPr>
              <p:custDataLst>
                <p:tags r:id="rId9"/>
              </p:custDataLst>
            </p:nvPr>
          </p:nvSpPr>
          <p:spPr>
            <a:xfrm>
              <a:off x="9708" y="3215"/>
              <a:ext cx="7205" cy="1307"/>
            </a:xfrm>
            <a:prstGeom prst="rect">
              <a:avLst/>
            </a:prstGeom>
            <a:noFill/>
          </p:spPr>
          <p:txBody>
            <a:bodyPr wrap="square" rtlCol="0">
              <a:spAutoFit/>
            </a:bodyPr>
            <a:lstStyle/>
            <a:p>
              <a:pPr indent="0" algn="l">
                <a:lnSpc>
                  <a:spcPct val="150000"/>
                </a:lnSpc>
                <a:buNone/>
              </a:pPr>
              <a:r>
                <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基于文本的轻量级格式，体积小、解析快，显著降低网络开销，同时易于人阅读和机器解析。</a:t>
              </a:r>
              <a:endPar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endParaRPr>
            </a:p>
          </p:txBody>
        </p:sp>
        <p:sp>
          <p:nvSpPr>
            <p:cNvPr id="9" name="文本框 8"/>
            <p:cNvSpPr txBox="1"/>
            <p:nvPr>
              <p:custDataLst>
                <p:tags r:id="rId10"/>
              </p:custDataLst>
            </p:nvPr>
          </p:nvSpPr>
          <p:spPr>
            <a:xfrm>
              <a:off x="9775" y="5403"/>
              <a:ext cx="7523" cy="1307"/>
            </a:xfrm>
            <a:prstGeom prst="rect">
              <a:avLst/>
            </a:prstGeom>
            <a:noFill/>
          </p:spPr>
          <p:txBody>
            <a:bodyPr wrap="square" rtlCol="0" anchor="t">
              <a:spAutoFit/>
            </a:bodyPr>
            <a:lstStyle/>
            <a:p>
              <a:pPr indent="0" algn="l">
                <a:lnSpc>
                  <a:spcPct val="150000"/>
                </a:lnSpc>
                <a:buNone/>
              </a:pPr>
              <a:r>
                <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独立于编程语言，</a:t>
              </a:r>
              <a:r>
                <a:rPr lang="en-US" altLang="zh-CN"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Python/Java/JavaScript</a:t>
              </a:r>
              <a:r>
                <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等主流语言原生支持，无缝集成异构系统。</a:t>
              </a:r>
              <a:endPar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endParaRPr>
            </a:p>
          </p:txBody>
        </p:sp>
        <p:sp>
          <p:nvSpPr>
            <p:cNvPr id="10" name="文本框 9"/>
            <p:cNvSpPr txBox="1"/>
            <p:nvPr>
              <p:custDataLst>
                <p:tags r:id="rId11"/>
              </p:custDataLst>
            </p:nvPr>
          </p:nvSpPr>
          <p:spPr>
            <a:xfrm>
              <a:off x="9773" y="7449"/>
              <a:ext cx="7026" cy="1307"/>
            </a:xfrm>
            <a:prstGeom prst="rect">
              <a:avLst/>
            </a:prstGeom>
            <a:noFill/>
          </p:spPr>
          <p:txBody>
            <a:bodyPr wrap="square" rtlCol="0" anchor="t">
              <a:spAutoFit/>
            </a:bodyPr>
            <a:lstStyle/>
            <a:p>
              <a:pPr indent="0" algn="l">
                <a:lnSpc>
                  <a:spcPct val="150000"/>
                </a:lnSpc>
                <a:buFont typeface="Arial" panose="020B0604020202020204" pitchFamily="34" charset="0"/>
                <a:buNone/>
              </a:pPr>
              <a:r>
                <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通过键值对（如</a:t>
              </a:r>
              <a:r>
                <a:rPr lang="en-US" altLang="zh-CN"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{"key":"value"}</a:t>
              </a:r>
              <a:r>
                <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rPr>
                <a:t>）和嵌套结构，支持字符串、数字、数组、对象等复杂数据类型。</a:t>
              </a:r>
              <a:endParaRPr lang="zh-CN" altLang="en-US" sz="1600" dirty="0">
                <a:solidFill>
                  <a:schemeClr val="tx1">
                    <a:lumMod val="75000"/>
                    <a:lumOff val="25000"/>
                  </a:schemeClr>
                </a:solidFill>
                <a:latin typeface="思源宋体" panose="02020700000000000000" charset="-122"/>
                <a:ea typeface="思源宋体" panose="02020700000000000000" charset="-122"/>
                <a:cs typeface="思源宋体" panose="02020700000000000000" charset="-122"/>
                <a:sym typeface="+mn-lt"/>
              </a:endParaRPr>
            </a:p>
          </p:txBody>
        </p:sp>
        <p:sp>
          <p:nvSpPr>
            <p:cNvPr id="12" name="椭圆 11"/>
            <p:cNvSpPr/>
            <p:nvPr/>
          </p:nvSpPr>
          <p:spPr>
            <a:xfrm>
              <a:off x="1595" y="7497"/>
              <a:ext cx="5864" cy="1659"/>
            </a:xfrm>
            <a:prstGeom prst="ellipse">
              <a:avLst/>
            </a:prstGeom>
            <a:gradFill>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pic>
          <p:nvPicPr>
            <p:cNvPr id="13" name="图片 12" descr="D:\AAAAA千库网\2.5D\千库网_立体教育培训直播课人物插画装饰_元素编号13073734.png千库网_立体教育培训直播课人物插画装饰_元素编号13073734"/>
            <p:cNvPicPr>
              <a:picLocks noChangeAspect="1"/>
            </p:cNvPicPr>
            <p:nvPr/>
          </p:nvPicPr>
          <p:blipFill>
            <a:blip r:embed="rId12"/>
            <a:srcRect/>
            <a:stretch>
              <a:fillRect/>
            </a:stretch>
          </p:blipFill>
          <p:spPr>
            <a:xfrm>
              <a:off x="1410" y="3211"/>
              <a:ext cx="6233" cy="6233"/>
            </a:xfrm>
            <a:prstGeom prst="rect">
              <a:avLst/>
            </a:prstGeom>
          </p:spPr>
        </p:pic>
      </p:grpSp>
      <p:grpSp>
        <p:nvGrpSpPr>
          <p:cNvPr id="3" name="组合 2"/>
          <p:cNvGrpSpPr/>
          <p:nvPr/>
        </p:nvGrpSpPr>
        <p:grpSpPr>
          <a:xfrm>
            <a:off x="-558165" y="386715"/>
            <a:ext cx="4529455" cy="1273810"/>
            <a:chOff x="-879" y="609"/>
            <a:chExt cx="7133" cy="2006"/>
          </a:xfrm>
        </p:grpSpPr>
        <p:sp>
          <p:nvSpPr>
            <p:cNvPr id="11" name="文本框 10"/>
            <p:cNvSpPr txBox="1"/>
            <p:nvPr/>
          </p:nvSpPr>
          <p:spPr>
            <a:xfrm>
              <a:off x="1518" y="1105"/>
              <a:ext cx="4736" cy="1016"/>
            </a:xfrm>
            <a:prstGeom prst="rect">
              <a:avLst/>
            </a:prstGeom>
            <a:noFill/>
          </p:spPr>
          <p:txBody>
            <a:bodyPr wrap="square" rtlCol="0">
              <a:spAutoFit/>
            </a:bodyPr>
            <a:lstStyle/>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JSON文件说明</a:t>
              </a:r>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ustDataLst>
      <p:tags r:id="rId13"/>
    </p:custDataLst>
  </p:cSld>
  <p:clrMapOvr>
    <a:masterClrMapping/>
  </p:clrMapOvr>
  <p:transition>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afterEffect">
                                  <p:stCondLst>
                                    <p:cond delay="0"/>
                                  </p:stCondLst>
                                  <p:childTnLst>
                                    <p:set>
                                      <p:cBhvr>
                                        <p:cTn id="6" dur="500" fill="hold">
                                          <p:stCondLst>
                                            <p:cond delay="0"/>
                                          </p:stCondLst>
                                        </p:cTn>
                                        <p:tgtEl>
                                          <p:spTgt spid="14"/>
                                        </p:tgtEl>
                                        <p:attrNameLst>
                                          <p:attrName>style.visibility</p:attrName>
                                        </p:attrNameLst>
                                      </p:cBhvr>
                                      <p:to>
                                        <p:strVal val="visible"/>
                                      </p:to>
                                    </p:set>
                                    <p:animEffect transition="in" filter="wedg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58165" y="386715"/>
            <a:ext cx="4529455" cy="1273810"/>
            <a:chOff x="-879" y="609"/>
            <a:chExt cx="7133" cy="2006"/>
          </a:xfrm>
        </p:grpSpPr>
        <p:sp>
          <p:nvSpPr>
            <p:cNvPr id="7" name="文本框 6"/>
            <p:cNvSpPr txBox="1"/>
            <p:nvPr/>
          </p:nvSpPr>
          <p:spPr>
            <a:xfrm>
              <a:off x="1518" y="1105"/>
              <a:ext cx="4736" cy="1016"/>
            </a:xfrm>
            <a:prstGeom prst="rect">
              <a:avLst/>
            </a:prstGeom>
            <a:noFill/>
          </p:spPr>
          <p:txBody>
            <a:bodyPr wrap="square" rtlCol="0">
              <a:spAutoFit/>
            </a:bodyPr>
            <a:lstStyle/>
            <a:p>
              <a:pPr algn="l"/>
              <a:r>
                <a:rPr lang="zh-CN" altLang="en-US" sz="3600" dirty="0">
                  <a:sym typeface="+mn-ea"/>
                </a:rPr>
                <a:t>部分数据展示</a:t>
              </a:r>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12" name="椭圆 11"/>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3" name="椭圆 12"/>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pic>
        <p:nvPicPr>
          <p:cNvPr id="5" name="图片 4"/>
          <p:cNvPicPr>
            <a:picLocks noChangeAspect="1"/>
          </p:cNvPicPr>
          <p:nvPr/>
        </p:nvPicPr>
        <p:blipFill>
          <a:blip r:embed="rId1"/>
          <a:stretch>
            <a:fillRect/>
          </a:stretch>
        </p:blipFill>
        <p:spPr>
          <a:xfrm>
            <a:off x="904240" y="1795145"/>
            <a:ext cx="10382885" cy="3928110"/>
          </a:xfrm>
          <a:prstGeom prst="rect">
            <a:avLst/>
          </a:prstGeom>
        </p:spPr>
      </p:pic>
    </p:spTree>
    <p:custDataLst>
      <p:tags r:id="rId2"/>
    </p:custDataLst>
  </p:cSld>
  <p:clrMapOvr>
    <a:masterClrMapping/>
  </p:clrMapOvr>
  <p:transition>
    <p:blinds/>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custDataLst>
              <p:tags r:id="rId1"/>
            </p:custDataLst>
          </p:nvPr>
        </p:nvGrpSpPr>
        <p:grpSpPr>
          <a:xfrm>
            <a:off x="1007745" y="321310"/>
            <a:ext cx="10180320" cy="5701665"/>
            <a:chOff x="1587" y="506"/>
            <a:chExt cx="16032" cy="8979"/>
          </a:xfrm>
        </p:grpSpPr>
        <p:sp>
          <p:nvSpPr>
            <p:cNvPr id="14" name="圆角矩形 13"/>
            <p:cNvSpPr/>
            <p:nvPr>
              <p:custDataLst>
                <p:tags r:id="rId2"/>
              </p:custDataLst>
            </p:nvPr>
          </p:nvSpPr>
          <p:spPr>
            <a:xfrm>
              <a:off x="1587" y="3327"/>
              <a:ext cx="7004" cy="6158"/>
            </a:xfrm>
            <a:prstGeom prst="roundRect">
              <a:avLst/>
            </a:prstGeom>
            <a:noFill/>
            <a:ln w="25400">
              <a:gradFill>
                <a:gsLst>
                  <a:gs pos="0">
                    <a:schemeClr val="accent4">
                      <a:lumMod val="75000"/>
                    </a:schemeClr>
                  </a:gs>
                  <a:gs pos="100000">
                    <a:srgbClr val="F1BD59"/>
                  </a:gs>
                </a:gsLst>
                <a:lin ang="5400000" scaled="1"/>
              </a:gra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3" name="圆角矩形 12"/>
            <p:cNvSpPr/>
            <p:nvPr>
              <p:custDataLst>
                <p:tags r:id="rId3"/>
              </p:custDataLst>
            </p:nvPr>
          </p:nvSpPr>
          <p:spPr>
            <a:xfrm>
              <a:off x="10962" y="3327"/>
              <a:ext cx="6657" cy="6158"/>
            </a:xfrm>
            <a:prstGeom prst="roundRect">
              <a:avLst/>
            </a:prstGeom>
            <a:gradFill>
              <a:gsLst>
                <a:gs pos="0">
                  <a:srgbClr val="F1BD59"/>
                </a:gs>
                <a:gs pos="100000">
                  <a:schemeClr val="accent4">
                    <a:lumMod val="75000"/>
                  </a:schemeClr>
                </a:gs>
              </a:gsLst>
              <a:lin ang="54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4" name="文本框 3"/>
            <p:cNvSpPr txBox="1"/>
            <p:nvPr>
              <p:custDataLst>
                <p:tags r:id="rId4"/>
              </p:custDataLst>
            </p:nvPr>
          </p:nvSpPr>
          <p:spPr>
            <a:xfrm>
              <a:off x="2065" y="5081"/>
              <a:ext cx="6237" cy="2649"/>
            </a:xfrm>
            <a:prstGeom prst="rect">
              <a:avLst/>
            </a:prstGeom>
            <a:noFill/>
          </p:spPr>
          <p:txBody>
            <a:bodyPr wrap="square" rtlCol="0">
              <a:noAutofit/>
            </a:bodyPr>
            <a:lstStyle/>
            <a:p>
              <a:pPr indent="0" fontAlgn="auto">
                <a:lnSpc>
                  <a:spcPct val="125000"/>
                </a:lnSpc>
              </a:pPr>
              <a:r>
                <a:rPr lang="en-US" altLang="zh-CN" sz="1600" dirty="0">
                  <a:latin typeface="Times New Roman" panose="02020603050405020304" pitchFamily="18" charset="0"/>
                  <a:cs typeface="Times New Roman" panose="02020603050405020304" pitchFamily="18" charset="0"/>
                  <a:sym typeface="+mn-ea"/>
                </a:rPr>
                <a:t>{'text': '</a:t>
              </a:r>
              <a:r>
                <a:rPr lang="zh-CN" altLang="en-US" sz="1600" dirty="0">
                  <a:latin typeface="Times New Roman" panose="02020603050405020304" pitchFamily="18" charset="0"/>
                  <a:cs typeface="Times New Roman" panose="02020603050405020304" pitchFamily="18" charset="0"/>
                  <a:sym typeface="+mn-ea"/>
                </a:rPr>
                <a:t>浙商银行企业信贷部叶老桂博士则从另一个角度对五道门槛进行了解读。叶老桂认为，对目前国内商业银行而言，</a:t>
              </a:r>
              <a:r>
                <a:rPr lang="en-US" altLang="zh-CN" sz="1600" dirty="0">
                  <a:latin typeface="Times New Roman" panose="02020603050405020304" pitchFamily="18" charset="0"/>
                  <a:cs typeface="Times New Roman" panose="02020603050405020304" pitchFamily="18" charset="0"/>
                  <a:sym typeface="+mn-ea"/>
                </a:rPr>
                <a:t>',</a:t>
              </a:r>
              <a:endParaRPr lang="en-US" altLang="zh-CN" sz="1600" dirty="0">
                <a:latin typeface="Times New Roman" panose="02020603050405020304" pitchFamily="18" charset="0"/>
                <a:cs typeface="Times New Roman" panose="02020603050405020304" pitchFamily="18" charset="0"/>
                <a:sym typeface="+mn-ea"/>
              </a:endParaRPr>
            </a:p>
            <a:p>
              <a:pPr indent="0" fontAlgn="auto">
                <a:lnSpc>
                  <a:spcPct val="125000"/>
                </a:lnSpc>
              </a:pPr>
              <a:r>
                <a:rPr lang="en-US" altLang="zh-CN" sz="1600" dirty="0">
                  <a:latin typeface="Times New Roman" panose="02020603050405020304" pitchFamily="18" charset="0"/>
                  <a:cs typeface="Times New Roman" panose="02020603050405020304" pitchFamily="18" charset="0"/>
                  <a:sym typeface="+mn-ea"/>
                </a:rPr>
                <a:t> 'label': {'name': {'</a:t>
              </a:r>
              <a:r>
                <a:rPr lang="zh-CN" altLang="en-US" sz="1600" dirty="0">
                  <a:latin typeface="Times New Roman" panose="02020603050405020304" pitchFamily="18" charset="0"/>
                  <a:cs typeface="Times New Roman" panose="02020603050405020304" pitchFamily="18" charset="0"/>
                  <a:sym typeface="+mn-ea"/>
                </a:rPr>
                <a:t>叶老桂</a:t>
              </a:r>
              <a:r>
                <a:rPr lang="en-US" altLang="zh-CN" sz="1600" dirty="0">
                  <a:latin typeface="Times New Roman" panose="02020603050405020304" pitchFamily="18" charset="0"/>
                  <a:cs typeface="Times New Roman" panose="02020603050405020304" pitchFamily="18" charset="0"/>
                  <a:sym typeface="+mn-ea"/>
                </a:rPr>
                <a:t>': [[9, 11]]}, 'company': {'</a:t>
              </a:r>
              <a:r>
                <a:rPr lang="zh-CN" altLang="en-US" sz="1600" dirty="0">
                  <a:latin typeface="Times New Roman" panose="02020603050405020304" pitchFamily="18" charset="0"/>
                  <a:cs typeface="Times New Roman" panose="02020603050405020304" pitchFamily="18" charset="0"/>
                  <a:sym typeface="+mn-ea"/>
                </a:rPr>
                <a:t>浙商银行</a:t>
              </a:r>
              <a:r>
                <a:rPr lang="en-US" altLang="zh-CN" sz="1600" dirty="0">
                  <a:latin typeface="Times New Roman" panose="02020603050405020304" pitchFamily="18" charset="0"/>
                  <a:cs typeface="Times New Roman" panose="02020603050405020304" pitchFamily="18" charset="0"/>
                  <a:sym typeface="+mn-ea"/>
                </a:rPr>
                <a:t>': [[0, 3]]}}}</a:t>
              </a:r>
              <a:endParaRPr lang="en-US" altLang="zh-CN" sz="1600" dirty="0">
                <a:solidFill>
                  <a:schemeClr val="tx1">
                    <a:lumMod val="50000"/>
                    <a:lumOff val="50000"/>
                  </a:schemeClr>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5" name="文本框 4"/>
            <p:cNvSpPr txBox="1"/>
            <p:nvPr>
              <p:custDataLst>
                <p:tags r:id="rId5"/>
              </p:custDataLst>
            </p:nvPr>
          </p:nvSpPr>
          <p:spPr>
            <a:xfrm>
              <a:off x="11176" y="3669"/>
              <a:ext cx="6358" cy="5475"/>
            </a:xfrm>
            <a:prstGeom prst="rect">
              <a:avLst/>
            </a:prstGeom>
            <a:noFill/>
          </p:spPr>
          <p:txBody>
            <a:bodyPr wrap="square" rtlCol="0">
              <a:spAutoFit/>
            </a:bodyPr>
            <a:lstStyle/>
            <a:p>
              <a:pPr indent="0" fontAlgn="auto">
                <a:lnSpc>
                  <a:spcPct val="125000"/>
                </a:lnSpc>
              </a:pPr>
              <a:r>
                <a:rPr lang="en-US" altLang="zh-CN" sz="1600" dirty="0">
                  <a:latin typeface="Times New Roman" panose="02020603050405020304" pitchFamily="18" charset="0"/>
                  <a:cs typeface="Times New Roman" panose="02020603050405020304" pitchFamily="18" charset="0"/>
                  <a:sym typeface="+mn-ea"/>
                </a:rPr>
                <a:t>[['</a:t>
              </a:r>
              <a:r>
                <a:rPr lang="zh-CN" altLang="en-US" sz="1600" dirty="0">
                  <a:latin typeface="Times New Roman" panose="02020603050405020304" pitchFamily="18" charset="0"/>
                  <a:cs typeface="Times New Roman" panose="02020603050405020304" pitchFamily="18" charset="0"/>
                  <a:sym typeface="+mn-ea"/>
                </a:rPr>
                <a:t>浙</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商</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银</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行</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企</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业</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信</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贷</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部</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叶</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老</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桂</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博</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士</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则</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从</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另</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一</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个</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角</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度</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对</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五</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道</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门</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槛</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进</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行</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了</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解</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读</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叶</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老</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桂</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认</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为</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对</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目</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前</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国</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内</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商</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业</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银</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行</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而</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言</a:t>
              </a:r>
              <a:r>
                <a:rPr lang="en-US" altLang="zh-CN" sz="1600" dirty="0">
                  <a:latin typeface="Times New Roman" panose="02020603050405020304" pitchFamily="18" charset="0"/>
                  <a:cs typeface="Times New Roman" panose="02020603050405020304" pitchFamily="18" charset="0"/>
                  <a:sym typeface="+mn-ea"/>
                </a:rPr>
                <a:t>', '</a:t>
              </a:r>
              <a:r>
                <a:rPr lang="zh-CN" altLang="en-US" sz="1600" dirty="0">
                  <a:latin typeface="Times New Roman" panose="02020603050405020304" pitchFamily="18" charset="0"/>
                  <a:cs typeface="Times New Roman" panose="02020603050405020304" pitchFamily="18" charset="0"/>
                  <a:sym typeface="+mn-ea"/>
                </a:rPr>
                <a:t>，</a:t>
              </a:r>
              <a:r>
                <a:rPr lang="en-US" altLang="zh-CN" sz="1600" dirty="0">
                  <a:latin typeface="Times New Roman" panose="02020603050405020304" pitchFamily="18" charset="0"/>
                  <a:cs typeface="Times New Roman" panose="02020603050405020304" pitchFamily="18" charset="0"/>
                  <a:sym typeface="+mn-ea"/>
                </a:rPr>
                <a:t>'], </a:t>
              </a:r>
              <a:endParaRPr lang="en-US" altLang="zh-CN" sz="1600" dirty="0">
                <a:latin typeface="Times New Roman" panose="02020603050405020304" pitchFamily="18" charset="0"/>
                <a:cs typeface="Times New Roman" panose="02020603050405020304" pitchFamily="18" charset="0"/>
                <a:sym typeface="+mn-ea"/>
              </a:endParaRPr>
            </a:p>
            <a:p>
              <a:pPr indent="0" fontAlgn="auto">
                <a:lnSpc>
                  <a:spcPct val="125000"/>
                </a:lnSpc>
              </a:pPr>
              <a:r>
                <a:rPr lang="en-US" altLang="zh-CN" sz="1600" dirty="0">
                  <a:latin typeface="Times New Roman" panose="02020603050405020304" pitchFamily="18" charset="0"/>
                  <a:cs typeface="Times New Roman" panose="02020603050405020304" pitchFamily="18" charset="0"/>
                  <a:sym typeface="+mn-ea"/>
                </a:rPr>
                <a:t>['B-company', 'I-company', 'I-company', 'I-company', 'O', 'O', 'O', 'O', 'O', 'B-name', 'I-name', 'I-name', 'O', 'O', 'O', 'O', 'O', 'O', 'O', 'O', 'O', 'O', 'O', 'O', 'O', 'O', 'O', 'O', 'O', 'O',  'O', 'O', 'O', 'O', 'O', 'O', 'O', 'O', 'O', 'O', 'O', 'O', 'O', 'O', 'O', 'O', 'O', 'O', 'O', 'O']]</a:t>
              </a:r>
              <a:endParaRPr lang="en-US" altLang="zh-CN" sz="1600" dirty="0">
                <a:solidFill>
                  <a:schemeClr val="bg1"/>
                </a:solidFill>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7" name="丁字箭头 6"/>
            <p:cNvSpPr/>
            <p:nvPr>
              <p:custDataLst>
                <p:tags r:id="rId6"/>
              </p:custDataLst>
            </p:nvPr>
          </p:nvSpPr>
          <p:spPr>
            <a:xfrm>
              <a:off x="8819" y="5736"/>
              <a:ext cx="1916" cy="1338"/>
            </a:xfrm>
            <a:prstGeom prst="leftRightUpArrow">
              <a:avLst/>
            </a:prstGeom>
            <a:gradFill>
              <a:gsLst>
                <a:gs pos="0">
                  <a:srgbClr val="F1BD59"/>
                </a:gs>
                <a:gs pos="10000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pic>
          <p:nvPicPr>
            <p:cNvPr id="8" name="图片 7" descr="303b343435303639373bb9a4d7f7bbe3b1a8"/>
            <p:cNvPicPr>
              <a:picLocks noChangeAspect="1"/>
            </p:cNvPicPr>
            <p:nvPr>
              <p:custDataLst>
                <p:tags r:id="rId7"/>
              </p:custDataLst>
            </p:nvPr>
          </p:nvPicPr>
          <p:blipFill>
            <a:blip r:embed="rId8"/>
            <a:stretch>
              <a:fillRect/>
            </a:stretch>
          </p:blipFill>
          <p:spPr>
            <a:xfrm>
              <a:off x="12337" y="506"/>
              <a:ext cx="1820" cy="1820"/>
            </a:xfrm>
            <a:prstGeom prst="rect">
              <a:avLst/>
            </a:prstGeom>
          </p:spPr>
        </p:pic>
      </p:grpSp>
      <p:grpSp>
        <p:nvGrpSpPr>
          <p:cNvPr id="3" name="组合 2"/>
          <p:cNvGrpSpPr/>
          <p:nvPr/>
        </p:nvGrpSpPr>
        <p:grpSpPr>
          <a:xfrm>
            <a:off x="-558165" y="386715"/>
            <a:ext cx="4529455" cy="1273810"/>
            <a:chOff x="-879" y="609"/>
            <a:chExt cx="7133" cy="2006"/>
          </a:xfrm>
        </p:grpSpPr>
        <p:sp>
          <p:nvSpPr>
            <p:cNvPr id="11" name="文本框 10"/>
            <p:cNvSpPr txBox="1"/>
            <p:nvPr/>
          </p:nvSpPr>
          <p:spPr>
            <a:xfrm>
              <a:off x="1518" y="1104"/>
              <a:ext cx="4736" cy="1016"/>
            </a:xfrm>
            <a:prstGeom prst="rect">
              <a:avLst/>
            </a:prstGeom>
            <a:noFill/>
          </p:spPr>
          <p:txBody>
            <a:bodyPr wrap="square" rtlCol="0">
              <a:spAutoFit/>
            </a:bodyPr>
            <a:lstStyle/>
            <a:p>
              <a:pPr algn="l">
                <a:buClrTx/>
                <a:buSzTx/>
                <a:buFontTx/>
              </a:pP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数据处理</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ustDataLst>
      <p:tags r:id="rId9"/>
    </p:custDataLst>
  </p:cSld>
  <p:clrMapOvr>
    <a:masterClrMapping/>
  </p:clrMapOvr>
  <p:transition>
    <p:wheel spokes="2"/>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out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14655" y="398780"/>
            <a:ext cx="11363325" cy="6061075"/>
            <a:chOff x="653" y="628"/>
            <a:chExt cx="17895" cy="9545"/>
          </a:xfrm>
        </p:grpSpPr>
        <p:pic>
          <p:nvPicPr>
            <p:cNvPr id="6" name="图片 5" descr="D:\AAAAA千库网\2.5D\千库网_世界读书日之拿放大镜看书的女孩免抠元素_元素编号11938896.png千库网_世界读书日之拿放大镜看书的女孩免抠元素_元素编号11938896"/>
            <p:cNvPicPr>
              <a:picLocks noChangeAspect="1"/>
            </p:cNvPicPr>
            <p:nvPr/>
          </p:nvPicPr>
          <p:blipFill>
            <a:blip r:embed="rId1"/>
            <a:srcRect/>
            <a:stretch>
              <a:fillRect/>
            </a:stretch>
          </p:blipFill>
          <p:spPr>
            <a:xfrm>
              <a:off x="11595" y="2245"/>
              <a:ext cx="6309" cy="6309"/>
            </a:xfrm>
            <a:prstGeom prst="rect">
              <a:avLst/>
            </a:prstGeom>
          </p:spPr>
        </p:pic>
        <p:grpSp>
          <p:nvGrpSpPr>
            <p:cNvPr id="5" name="组合 4"/>
            <p:cNvGrpSpPr/>
            <p:nvPr/>
          </p:nvGrpSpPr>
          <p:grpSpPr>
            <a:xfrm>
              <a:off x="1990" y="2330"/>
              <a:ext cx="8228" cy="4335"/>
              <a:chOff x="2104" y="2598"/>
              <a:chExt cx="8228" cy="4335"/>
            </a:xfrm>
          </p:grpSpPr>
          <p:sp>
            <p:nvSpPr>
              <p:cNvPr id="16" name="文本框 15"/>
              <p:cNvSpPr txBox="1"/>
              <p:nvPr/>
            </p:nvSpPr>
            <p:spPr>
              <a:xfrm>
                <a:off x="2104" y="5335"/>
                <a:ext cx="8228" cy="1598"/>
              </a:xfrm>
              <a:prstGeom prst="rect">
                <a:avLst/>
              </a:prstGeom>
              <a:noFill/>
            </p:spPr>
            <p:txBody>
              <a:bodyPr wrap="square" rtlCol="0">
                <a:spAutoFit/>
              </a:bodyPr>
              <a:lstStyle/>
              <a:p>
                <a:pPr algn="l"/>
                <a:r>
                  <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特征工程实现</a:t>
                </a:r>
                <a:endPar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36" name="文本框 35"/>
              <p:cNvSpPr txBox="1"/>
              <p:nvPr/>
            </p:nvSpPr>
            <p:spPr>
              <a:xfrm>
                <a:off x="2214" y="2598"/>
                <a:ext cx="7560" cy="2737"/>
              </a:xfrm>
              <a:prstGeom prst="rect">
                <a:avLst/>
              </a:prstGeom>
              <a:noFill/>
            </p:spPr>
            <p:txBody>
              <a:bodyPr wrap="square" rtlCol="0">
                <a:spAutoFit/>
              </a:bodyPr>
              <a:lstStyle/>
              <a:p>
                <a:pPr algn="l"/>
                <a:r>
                  <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rPr>
                  <a:t>03</a:t>
                </a:r>
                <a:endPar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3" name="文本框 2"/>
              <p:cNvSpPr txBox="1"/>
              <p:nvPr/>
            </p:nvSpPr>
            <p:spPr>
              <a:xfrm>
                <a:off x="5157" y="3677"/>
                <a:ext cx="2626" cy="580"/>
              </a:xfrm>
              <a:prstGeom prst="rect">
                <a:avLst/>
              </a:prstGeom>
              <a:noFill/>
            </p:spPr>
            <p:txBody>
              <a:bodyPr wrap="none" rtlCol="0">
                <a:spAutoFit/>
              </a:bodyPr>
              <a:lstStyle/>
              <a:p>
                <a:r>
                  <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STEP THREE</a:t>
                </a:r>
                <a:endPar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sp>
          <p:nvSpPr>
            <p:cNvPr id="4" name="矩形 3"/>
            <p:cNvSpPr/>
            <p:nvPr/>
          </p:nvSpPr>
          <p:spPr>
            <a:xfrm>
              <a:off x="653" y="628"/>
              <a:ext cx="17895" cy="954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grpSp>
    </p:spTree>
    <p:custDataLst>
      <p:tags r:id="rId2"/>
    </p:custDataLst>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nodeType="afterEffect">
                                  <p:stCondLst>
                                    <p:cond delay="0"/>
                                  </p:stCondLst>
                                  <p:childTnLst>
                                    <p:set>
                                      <p:cBhvr>
                                        <p:cTn id="6" dur="500" fill="hold">
                                          <p:stCondLst>
                                            <p:cond delay="0"/>
                                          </p:stCondLst>
                                        </p:cTn>
                                        <p:tgtEl>
                                          <p:spTgt spid="9"/>
                                        </p:tgtEl>
                                        <p:attrNameLst>
                                          <p:attrName>style.visibility</p:attrName>
                                        </p:attrNameLst>
                                      </p:cBhvr>
                                      <p:to>
                                        <p:strVal val="visible"/>
                                      </p:to>
                                    </p:set>
                                    <p:animEffect transition="in" filter="wheel(2)">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1096010" y="2258060"/>
            <a:ext cx="9998710" cy="3476625"/>
            <a:chOff x="1906" y="3613"/>
            <a:chExt cx="15746" cy="5475"/>
          </a:xfrm>
        </p:grpSpPr>
        <p:sp>
          <p:nvSpPr>
            <p:cNvPr id="12" name="椭圆 11"/>
            <p:cNvSpPr/>
            <p:nvPr>
              <p:custDataLst>
                <p:tags r:id="rId2"/>
              </p:custDataLst>
            </p:nvPr>
          </p:nvSpPr>
          <p:spPr>
            <a:xfrm rot="16200000">
              <a:off x="1886" y="3746"/>
              <a:ext cx="828" cy="789"/>
            </a:xfrm>
            <a:prstGeom prst="ellipse">
              <a:avLst/>
            </a:prstGeom>
            <a:gradFill>
              <a:gsLst>
                <a:gs pos="0">
                  <a:schemeClr val="accent1">
                    <a:lumMod val="5000"/>
                    <a:lumOff val="95000"/>
                  </a:schemeClr>
                </a:gs>
                <a:gs pos="100000">
                  <a:srgbClr val="F1BD59"/>
                </a:gs>
                <a:gs pos="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1" name="椭圆 20"/>
            <p:cNvSpPr/>
            <p:nvPr>
              <p:custDataLst>
                <p:tags r:id="rId3"/>
              </p:custDataLst>
            </p:nvPr>
          </p:nvSpPr>
          <p:spPr>
            <a:xfrm rot="16200000">
              <a:off x="1886" y="7028"/>
              <a:ext cx="828" cy="789"/>
            </a:xfrm>
            <a:prstGeom prst="ellipse">
              <a:avLst/>
            </a:prstGeom>
            <a:gradFill>
              <a:gsLst>
                <a:gs pos="0">
                  <a:schemeClr val="accent1">
                    <a:lumMod val="5000"/>
                    <a:lumOff val="95000"/>
                  </a:schemeClr>
                </a:gs>
                <a:gs pos="100000">
                  <a:srgbClr val="F1BD59"/>
                </a:gs>
                <a:gs pos="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4" name="椭圆 3"/>
            <p:cNvSpPr/>
            <p:nvPr>
              <p:custDataLst>
                <p:tags r:id="rId4"/>
              </p:custDataLst>
            </p:nvPr>
          </p:nvSpPr>
          <p:spPr>
            <a:xfrm rot="16200000">
              <a:off x="16843" y="3632"/>
              <a:ext cx="828" cy="789"/>
            </a:xfrm>
            <a:prstGeom prst="ellipse">
              <a:avLst/>
            </a:prstGeom>
            <a:gradFill>
              <a:gsLst>
                <a:gs pos="0">
                  <a:schemeClr val="accent1">
                    <a:lumMod val="5000"/>
                    <a:lumOff val="95000"/>
                  </a:schemeClr>
                </a:gs>
                <a:gs pos="100000">
                  <a:srgbClr val="F1BD59"/>
                </a:gs>
                <a:gs pos="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3" name="椭圆 22"/>
            <p:cNvSpPr/>
            <p:nvPr>
              <p:custDataLst>
                <p:tags r:id="rId5"/>
              </p:custDataLst>
            </p:nvPr>
          </p:nvSpPr>
          <p:spPr>
            <a:xfrm rot="16200000">
              <a:off x="16843" y="6914"/>
              <a:ext cx="828" cy="789"/>
            </a:xfrm>
            <a:prstGeom prst="ellipse">
              <a:avLst/>
            </a:prstGeom>
            <a:gradFill>
              <a:gsLst>
                <a:gs pos="0">
                  <a:schemeClr val="accent1">
                    <a:lumMod val="5000"/>
                    <a:lumOff val="95000"/>
                  </a:schemeClr>
                </a:gs>
                <a:gs pos="100000">
                  <a:srgbClr val="F1BD59"/>
                </a:gs>
                <a:gs pos="0">
                  <a:schemeClr val="accent4">
                    <a:lumMod val="7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8" name="Freeform 28"/>
            <p:cNvSpPr>
              <a:spLocks noEditPoints="1"/>
            </p:cNvSpPr>
            <p:nvPr>
              <p:custDataLst>
                <p:tags r:id="rId6"/>
              </p:custDataLst>
            </p:nvPr>
          </p:nvSpPr>
          <p:spPr bwMode="auto">
            <a:xfrm flipH="1">
              <a:off x="16948" y="7009"/>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29" name="Freeform 28"/>
            <p:cNvSpPr>
              <a:spLocks noEditPoints="1"/>
            </p:cNvSpPr>
            <p:nvPr>
              <p:custDataLst>
                <p:tags r:id="rId7"/>
              </p:custDataLst>
            </p:nvPr>
          </p:nvSpPr>
          <p:spPr bwMode="auto">
            <a:xfrm flipH="1">
              <a:off x="16948" y="3770"/>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30" name="Freeform 28"/>
            <p:cNvSpPr>
              <a:spLocks noEditPoints="1"/>
            </p:cNvSpPr>
            <p:nvPr>
              <p:custDataLst>
                <p:tags r:id="rId8"/>
              </p:custDataLst>
            </p:nvPr>
          </p:nvSpPr>
          <p:spPr bwMode="auto">
            <a:xfrm flipH="1">
              <a:off x="1991" y="3884"/>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31" name="Freeform 28"/>
            <p:cNvSpPr>
              <a:spLocks noEditPoints="1"/>
            </p:cNvSpPr>
            <p:nvPr>
              <p:custDataLst>
                <p:tags r:id="rId9"/>
              </p:custDataLst>
            </p:nvPr>
          </p:nvSpPr>
          <p:spPr bwMode="auto">
            <a:xfrm flipH="1">
              <a:off x="1991" y="7166"/>
              <a:ext cx="573" cy="512"/>
            </a:xfrm>
            <a:custGeom>
              <a:avLst/>
              <a:gdLst>
                <a:gd name="T0" fmla="*/ 90 w 733"/>
                <a:gd name="T1" fmla="*/ 204 h 654"/>
                <a:gd name="T2" fmla="*/ 110 w 733"/>
                <a:gd name="T3" fmla="*/ 188 h 654"/>
                <a:gd name="T4" fmla="*/ 334 w 733"/>
                <a:gd name="T5" fmla="*/ 317 h 654"/>
                <a:gd name="T6" fmla="*/ 340 w 733"/>
                <a:gd name="T7" fmla="*/ 318 h 654"/>
                <a:gd name="T8" fmla="*/ 350 w 733"/>
                <a:gd name="T9" fmla="*/ 308 h 654"/>
                <a:gd name="T10" fmla="*/ 350 w 733"/>
                <a:gd name="T11" fmla="*/ 305 h 654"/>
                <a:gd name="T12" fmla="*/ 283 w 733"/>
                <a:gd name="T13" fmla="*/ 58 h 654"/>
                <a:gd name="T14" fmla="*/ 295 w 733"/>
                <a:gd name="T15" fmla="*/ 46 h 654"/>
                <a:gd name="T16" fmla="*/ 408 w 733"/>
                <a:gd name="T17" fmla="*/ 593 h 654"/>
                <a:gd name="T18" fmla="*/ 90 w 733"/>
                <a:gd name="T19" fmla="*/ 204 h 654"/>
                <a:gd name="T20" fmla="*/ 235 w 733"/>
                <a:gd name="T21" fmla="*/ 12 h 654"/>
                <a:gd name="T22" fmla="*/ 244 w 733"/>
                <a:gd name="T23" fmla="*/ 9 h 654"/>
                <a:gd name="T24" fmla="*/ 255 w 733"/>
                <a:gd name="T25" fmla="*/ 17 h 654"/>
                <a:gd name="T26" fmla="*/ 321 w 733"/>
                <a:gd name="T27" fmla="*/ 264 h 654"/>
                <a:gd name="T28" fmla="*/ 305 w 733"/>
                <a:gd name="T29" fmla="*/ 276 h 654"/>
                <a:gd name="T30" fmla="*/ 81 w 733"/>
                <a:gd name="T31" fmla="*/ 147 h 654"/>
                <a:gd name="T32" fmla="*/ 78 w 733"/>
                <a:gd name="T33" fmla="*/ 132 h 654"/>
                <a:gd name="T34" fmla="*/ 235 w 733"/>
                <a:gd name="T35" fmla="*/ 12 h 654"/>
                <a:gd name="T36" fmla="*/ 110 w 733"/>
                <a:gd name="T37" fmla="*/ 138 h 654"/>
                <a:gd name="T38" fmla="*/ 276 w 733"/>
                <a:gd name="T39" fmla="*/ 234 h 654"/>
                <a:gd name="T40" fmla="*/ 288 w 733"/>
                <a:gd name="T41" fmla="*/ 225 h 654"/>
                <a:gd name="T42" fmla="*/ 239 w 733"/>
                <a:gd name="T43" fmla="*/ 42 h 654"/>
                <a:gd name="T44" fmla="*/ 228 w 733"/>
                <a:gd name="T45" fmla="*/ 36 h 654"/>
                <a:gd name="T46" fmla="*/ 107 w 733"/>
                <a:gd name="T47" fmla="*/ 126 h 654"/>
                <a:gd name="T48" fmla="*/ 110 w 733"/>
                <a:gd name="T49" fmla="*/ 138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3" h="654">
                  <a:moveTo>
                    <a:pt x="90" y="204"/>
                  </a:moveTo>
                  <a:cubicBezTo>
                    <a:pt x="99" y="183"/>
                    <a:pt x="104" y="184"/>
                    <a:pt x="110" y="188"/>
                  </a:cubicBezTo>
                  <a:cubicBezTo>
                    <a:pt x="334" y="317"/>
                    <a:pt x="334" y="317"/>
                    <a:pt x="334" y="317"/>
                  </a:cubicBezTo>
                  <a:cubicBezTo>
                    <a:pt x="336" y="318"/>
                    <a:pt x="338" y="318"/>
                    <a:pt x="340" y="318"/>
                  </a:cubicBezTo>
                  <a:cubicBezTo>
                    <a:pt x="345" y="318"/>
                    <a:pt x="350" y="314"/>
                    <a:pt x="350" y="308"/>
                  </a:cubicBezTo>
                  <a:cubicBezTo>
                    <a:pt x="350" y="307"/>
                    <a:pt x="350" y="306"/>
                    <a:pt x="350" y="305"/>
                  </a:cubicBezTo>
                  <a:cubicBezTo>
                    <a:pt x="283" y="58"/>
                    <a:pt x="283" y="58"/>
                    <a:pt x="283" y="58"/>
                  </a:cubicBezTo>
                  <a:cubicBezTo>
                    <a:pt x="281" y="49"/>
                    <a:pt x="282" y="48"/>
                    <a:pt x="295" y="46"/>
                  </a:cubicBezTo>
                  <a:cubicBezTo>
                    <a:pt x="623" y="0"/>
                    <a:pt x="733" y="506"/>
                    <a:pt x="408" y="593"/>
                  </a:cubicBezTo>
                  <a:cubicBezTo>
                    <a:pt x="183" y="654"/>
                    <a:pt x="0" y="410"/>
                    <a:pt x="90" y="204"/>
                  </a:cubicBezTo>
                  <a:close/>
                  <a:moveTo>
                    <a:pt x="235" y="12"/>
                  </a:moveTo>
                  <a:cubicBezTo>
                    <a:pt x="238" y="11"/>
                    <a:pt x="241" y="10"/>
                    <a:pt x="244" y="9"/>
                  </a:cubicBezTo>
                  <a:cubicBezTo>
                    <a:pt x="249" y="9"/>
                    <a:pt x="253" y="11"/>
                    <a:pt x="255" y="17"/>
                  </a:cubicBezTo>
                  <a:cubicBezTo>
                    <a:pt x="321" y="264"/>
                    <a:pt x="321" y="264"/>
                    <a:pt x="321" y="264"/>
                  </a:cubicBezTo>
                  <a:cubicBezTo>
                    <a:pt x="323" y="273"/>
                    <a:pt x="314" y="281"/>
                    <a:pt x="305" y="276"/>
                  </a:cubicBezTo>
                  <a:cubicBezTo>
                    <a:pt x="81" y="147"/>
                    <a:pt x="81" y="147"/>
                    <a:pt x="81" y="147"/>
                  </a:cubicBezTo>
                  <a:cubicBezTo>
                    <a:pt x="76" y="144"/>
                    <a:pt x="75" y="137"/>
                    <a:pt x="78" y="132"/>
                  </a:cubicBezTo>
                  <a:cubicBezTo>
                    <a:pt x="113" y="73"/>
                    <a:pt x="168" y="30"/>
                    <a:pt x="235" y="12"/>
                  </a:cubicBezTo>
                  <a:close/>
                  <a:moveTo>
                    <a:pt x="110" y="138"/>
                  </a:moveTo>
                  <a:cubicBezTo>
                    <a:pt x="276" y="234"/>
                    <a:pt x="276" y="234"/>
                    <a:pt x="276" y="234"/>
                  </a:cubicBezTo>
                  <a:cubicBezTo>
                    <a:pt x="288" y="242"/>
                    <a:pt x="292" y="240"/>
                    <a:pt x="288" y="225"/>
                  </a:cubicBezTo>
                  <a:cubicBezTo>
                    <a:pt x="239" y="42"/>
                    <a:pt x="239" y="42"/>
                    <a:pt x="239" y="42"/>
                  </a:cubicBezTo>
                  <a:cubicBezTo>
                    <a:pt x="237" y="36"/>
                    <a:pt x="235" y="34"/>
                    <a:pt x="228" y="36"/>
                  </a:cubicBezTo>
                  <a:cubicBezTo>
                    <a:pt x="179" y="52"/>
                    <a:pt x="137" y="84"/>
                    <a:pt x="107" y="126"/>
                  </a:cubicBezTo>
                  <a:cubicBezTo>
                    <a:pt x="103" y="132"/>
                    <a:pt x="104" y="135"/>
                    <a:pt x="110" y="13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sp>
          <p:nvSpPr>
            <p:cNvPr id="34" name="文本框 33"/>
            <p:cNvSpPr txBox="1"/>
            <p:nvPr>
              <p:custDataLst>
                <p:tags r:id="rId10"/>
              </p:custDataLst>
            </p:nvPr>
          </p:nvSpPr>
          <p:spPr>
            <a:xfrm>
              <a:off x="2834" y="3727"/>
              <a:ext cx="2121" cy="628"/>
            </a:xfrm>
            <a:prstGeom prst="rect">
              <a:avLst/>
            </a:prstGeom>
            <a:noFill/>
          </p:spPr>
          <p:txBody>
            <a:bodyPr wrap="none" rtlCol="0">
              <a:spAutoFit/>
            </a:bodyPr>
            <a:lstStyle/>
            <a:p>
              <a:pPr algn="l"/>
              <a:r>
                <a:rPr lang="en-US" altLang="zh-CN" sz="2000">
                  <a:solidFill>
                    <a:schemeClr val="tx1"/>
                  </a:solidFill>
                  <a:latin typeface="Times New Roman" panose="02020603050405020304" pitchFamily="18" charset="0"/>
                  <a:ea typeface="思源宋体 Heavy" panose="02020900000000000000" charset="-122"/>
                  <a:cs typeface="Times New Roman" panose="02020603050405020304" pitchFamily="18" charset="0"/>
                </a:rPr>
                <a:t>import json</a:t>
              </a:r>
              <a:endParaRPr lang="en-US" altLang="zh-CN" sz="2000">
                <a:solidFill>
                  <a:schemeClr val="tx1"/>
                </a:solidFill>
                <a:latin typeface="Times New Roman" panose="02020603050405020304" pitchFamily="18" charset="0"/>
                <a:ea typeface="思源宋体 Heavy" panose="02020900000000000000" charset="-122"/>
                <a:cs typeface="Times New Roman" panose="02020603050405020304" pitchFamily="18" charset="0"/>
              </a:endParaRPr>
            </a:p>
          </p:txBody>
        </p:sp>
        <p:sp>
          <p:nvSpPr>
            <p:cNvPr id="47" name="矩形 46"/>
            <p:cNvSpPr/>
            <p:nvPr>
              <p:custDataLst>
                <p:tags r:id="rId11"/>
              </p:custDataLst>
            </p:nvPr>
          </p:nvSpPr>
          <p:spPr>
            <a:xfrm>
              <a:off x="2834" y="4278"/>
              <a:ext cx="3719" cy="1307"/>
            </a:xfrm>
            <a:prstGeom prst="rect">
              <a:avLst/>
            </a:prstGeom>
          </p:spPr>
          <p:txBody>
            <a:bodyPr wrap="square">
              <a:spAutoFit/>
              <a:scene3d>
                <a:camera prst="orthographicFront"/>
                <a:lightRig rig="threePt" dir="t"/>
              </a:scene3d>
              <a:sp3d contourW="12700"/>
            </a:bodyPr>
            <a:lstStyle/>
            <a:p>
              <a:pPr algn="l">
                <a:lnSpc>
                  <a:spcPct val="150000"/>
                </a:lnSpc>
              </a:pP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用于处理</a:t>
              </a:r>
              <a:r>
                <a:rPr lang="en-US" altLang="zh-CN"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JSON</a:t>
              </a: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格式数据的编码与解码</a:t>
              </a:r>
              <a:endPar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endParaRPr>
            </a:p>
          </p:txBody>
        </p:sp>
        <p:sp>
          <p:nvSpPr>
            <p:cNvPr id="35" name="文本框 34"/>
            <p:cNvSpPr txBox="1"/>
            <p:nvPr>
              <p:custDataLst>
                <p:tags r:id="rId12"/>
              </p:custDataLst>
            </p:nvPr>
          </p:nvSpPr>
          <p:spPr>
            <a:xfrm>
              <a:off x="2777" y="7009"/>
              <a:ext cx="4010" cy="628"/>
            </a:xfrm>
            <a:prstGeom prst="rect">
              <a:avLst/>
            </a:prstGeom>
            <a:noFill/>
          </p:spPr>
          <p:txBody>
            <a:bodyPr wrap="none" rtlCol="0">
              <a:spAutoFit/>
            </a:bodyPr>
            <a:lstStyle/>
            <a:p>
              <a:pPr algn="l"/>
              <a:r>
                <a:rPr lang="en-US" altLang="zh-CN" sz="2000">
                  <a:latin typeface="Times New Roman" panose="02020603050405020304" pitchFamily="18" charset="0"/>
                  <a:ea typeface="思源宋体 Heavy" panose="02020900000000000000" charset="-122"/>
                  <a:cs typeface="Times New Roman" panose="02020603050405020304" pitchFamily="18" charset="0"/>
                </a:rPr>
                <a:t>import sklearn_crfsuite</a:t>
              </a:r>
              <a:endParaRPr lang="en-US" altLang="zh-CN" sz="2000">
                <a:gradFill>
                  <a:gsLst>
                    <a:gs pos="2800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36" name="矩形 35"/>
            <p:cNvSpPr/>
            <p:nvPr>
              <p:custDataLst>
                <p:tags r:id="rId13"/>
              </p:custDataLst>
            </p:nvPr>
          </p:nvSpPr>
          <p:spPr>
            <a:xfrm>
              <a:off x="2834" y="7517"/>
              <a:ext cx="3719" cy="1307"/>
            </a:xfrm>
            <a:prstGeom prst="rect">
              <a:avLst/>
            </a:prstGeom>
          </p:spPr>
          <p:txBody>
            <a:bodyPr wrap="square">
              <a:spAutoFit/>
              <a:scene3d>
                <a:camera prst="orthographicFront"/>
                <a:lightRig rig="threePt" dir="t"/>
              </a:scene3d>
              <a:sp3d contourW="12700"/>
            </a:bodyPr>
            <a:lstStyle/>
            <a:p>
              <a:pPr algn="l">
                <a:lnSpc>
                  <a:spcPct val="150000"/>
                </a:lnSpc>
              </a:pPr>
              <a:r>
                <a:rPr lang="zh-CN" altLang="en-US" sz="1600" dirty="0">
                  <a:solidFill>
                    <a:schemeClr val="tx1">
                      <a:lumMod val="65000"/>
                      <a:lumOff val="35000"/>
                    </a:schemeClr>
                  </a:solidFill>
                  <a:latin typeface="思源宋体" panose="02020700000000000000" charset="-122"/>
                  <a:ea typeface="思源宋体" panose="02020700000000000000" charset="-122"/>
                  <a:cs typeface="+mn-ea"/>
                  <a:sym typeface="+mn-lt"/>
                </a:rPr>
                <a:t>导入</a:t>
              </a:r>
              <a:r>
                <a:rPr lang="en-US" altLang="zh-CN" sz="1600" dirty="0">
                  <a:solidFill>
                    <a:schemeClr val="tx1">
                      <a:lumMod val="65000"/>
                      <a:lumOff val="35000"/>
                    </a:schemeClr>
                  </a:solidFill>
                  <a:latin typeface="思源宋体" panose="02020700000000000000" charset="-122"/>
                  <a:ea typeface="思源宋体" panose="02020700000000000000" charset="-122"/>
                  <a:cs typeface="+mn-ea"/>
                  <a:sym typeface="+mn-lt"/>
                </a:rPr>
                <a:t>scikit-learn</a:t>
              </a:r>
              <a:r>
                <a:rPr lang="zh-CN" altLang="en-US" sz="1600" dirty="0">
                  <a:solidFill>
                    <a:schemeClr val="tx1">
                      <a:lumMod val="65000"/>
                      <a:lumOff val="35000"/>
                    </a:schemeClr>
                  </a:solidFill>
                  <a:latin typeface="思源宋体" panose="02020700000000000000" charset="-122"/>
                  <a:ea typeface="思源宋体" panose="02020700000000000000" charset="-122"/>
                  <a:cs typeface="+mn-ea"/>
                  <a:sym typeface="+mn-lt"/>
                </a:rPr>
                <a:t>的</a:t>
              </a:r>
              <a:r>
                <a:rPr lang="en-US" altLang="zh-CN" sz="1600" dirty="0">
                  <a:solidFill>
                    <a:schemeClr val="tx1">
                      <a:lumMod val="65000"/>
                      <a:lumOff val="35000"/>
                    </a:schemeClr>
                  </a:solidFill>
                  <a:latin typeface="思源宋体" panose="02020700000000000000" charset="-122"/>
                  <a:ea typeface="思源宋体" panose="02020700000000000000" charset="-122"/>
                  <a:cs typeface="+mn-ea"/>
                  <a:sym typeface="+mn-lt"/>
                </a:rPr>
                <a:t>CRF</a:t>
              </a:r>
              <a:r>
                <a:rPr lang="zh-CN" altLang="en-US" sz="1600" dirty="0">
                  <a:solidFill>
                    <a:schemeClr val="tx1">
                      <a:lumMod val="65000"/>
                      <a:lumOff val="35000"/>
                    </a:schemeClr>
                  </a:solidFill>
                  <a:latin typeface="思源宋体" panose="02020700000000000000" charset="-122"/>
                  <a:ea typeface="思源宋体" panose="02020700000000000000" charset="-122"/>
                  <a:cs typeface="+mn-ea"/>
                  <a:sym typeface="+mn-lt"/>
                </a:rPr>
                <a:t>库，用于序列标注任务</a:t>
              </a:r>
              <a:endParaRPr lang="zh-CN" altLang="en-US" sz="1600" dirty="0">
                <a:solidFill>
                  <a:schemeClr val="tx1">
                    <a:lumMod val="65000"/>
                    <a:lumOff val="35000"/>
                  </a:schemeClr>
                </a:solidFill>
                <a:latin typeface="思源宋体" panose="02020700000000000000" charset="-122"/>
                <a:ea typeface="思源宋体" panose="02020700000000000000" charset="-122"/>
                <a:cs typeface="+mn-ea"/>
                <a:sym typeface="+mn-lt"/>
              </a:endParaRPr>
            </a:p>
          </p:txBody>
        </p:sp>
        <p:sp>
          <p:nvSpPr>
            <p:cNvPr id="37" name="文本框 36"/>
            <p:cNvSpPr txBox="1"/>
            <p:nvPr>
              <p:custDataLst>
                <p:tags r:id="rId14"/>
              </p:custDataLst>
            </p:nvPr>
          </p:nvSpPr>
          <p:spPr>
            <a:xfrm>
              <a:off x="12012" y="3768"/>
              <a:ext cx="4765" cy="628"/>
            </a:xfrm>
            <a:prstGeom prst="rect">
              <a:avLst/>
            </a:prstGeom>
            <a:noFill/>
          </p:spPr>
          <p:txBody>
            <a:bodyPr wrap="none" rtlCol="0">
              <a:spAutoFit/>
            </a:bodyPr>
            <a:lstStyle/>
            <a:p>
              <a:pPr algn="l">
                <a:buClrTx/>
                <a:buSzTx/>
                <a:buFontTx/>
              </a:pPr>
              <a:r>
                <a:rPr lang="en-US" altLang="zh-CN" sz="2000">
                  <a:latin typeface="Times New Roman" panose="02020603050405020304" pitchFamily="18" charset="0"/>
                  <a:ea typeface="思源宋体 Heavy" panose="02020900000000000000" charset="-122"/>
                  <a:cs typeface="Times New Roman" panose="02020603050405020304" pitchFamily="18" charset="0"/>
                </a:rPr>
                <a:t>from sklearn import metrics</a:t>
              </a:r>
              <a:endParaRPr lang="en-US" altLang="zh-CN" sz="2000">
                <a:latin typeface="Times New Roman" panose="02020603050405020304" pitchFamily="18" charset="0"/>
                <a:ea typeface="思源宋体 Heavy" panose="02020900000000000000" charset="-122"/>
                <a:cs typeface="Times New Roman" panose="02020603050405020304" pitchFamily="18" charset="0"/>
              </a:endParaRPr>
            </a:p>
          </p:txBody>
        </p:sp>
        <p:sp>
          <p:nvSpPr>
            <p:cNvPr id="38" name="矩形 37"/>
            <p:cNvSpPr/>
            <p:nvPr>
              <p:custDataLst>
                <p:tags r:id="rId15"/>
              </p:custDataLst>
            </p:nvPr>
          </p:nvSpPr>
          <p:spPr>
            <a:xfrm>
              <a:off x="12168" y="4278"/>
              <a:ext cx="4470" cy="1888"/>
            </a:xfrm>
            <a:prstGeom prst="rect">
              <a:avLst/>
            </a:prstGeom>
          </p:spPr>
          <p:txBody>
            <a:bodyPr wrap="square">
              <a:spAutoFit/>
              <a:scene3d>
                <a:camera prst="orthographicFront"/>
                <a:lightRig rig="threePt" dir="t"/>
              </a:scene3d>
              <a:sp3d contourW="12700"/>
            </a:bodyPr>
            <a:lstStyle/>
            <a:p>
              <a:pPr algn="l">
                <a:lnSpc>
                  <a:spcPct val="150000"/>
                </a:lnSpc>
              </a:pP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从</a:t>
              </a:r>
              <a:r>
                <a:rPr lang="en-US" altLang="zh-CN"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scikit-learn</a:t>
              </a: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中导入评估指标模块，提供分类</a:t>
              </a:r>
              <a:r>
                <a:rPr lang="en-US" altLang="zh-CN"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a:t>
              </a: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回归模型的性能评估工具（</a:t>
              </a:r>
              <a:r>
                <a:rPr lang="en-US" altLang="zh-CN"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F1</a:t>
              </a: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值）</a:t>
              </a:r>
              <a:endPar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endParaRPr>
            </a:p>
          </p:txBody>
        </p:sp>
        <p:sp>
          <p:nvSpPr>
            <p:cNvPr id="39" name="文本框 38"/>
            <p:cNvSpPr txBox="1"/>
            <p:nvPr>
              <p:custDataLst>
                <p:tags r:id="rId16"/>
              </p:custDataLst>
            </p:nvPr>
          </p:nvSpPr>
          <p:spPr>
            <a:xfrm>
              <a:off x="12168" y="6889"/>
              <a:ext cx="4609" cy="628"/>
            </a:xfrm>
            <a:prstGeom prst="rect">
              <a:avLst/>
            </a:prstGeom>
            <a:noFill/>
          </p:spPr>
          <p:txBody>
            <a:bodyPr wrap="none" rtlCol="0">
              <a:spAutoFit/>
            </a:bodyPr>
            <a:lstStyle/>
            <a:p>
              <a:pPr algn="l"/>
              <a:r>
                <a:rPr lang="en-US" altLang="zh-CN" sz="2000">
                  <a:latin typeface="Times New Roman" panose="02020603050405020304" pitchFamily="18" charset="0"/>
                  <a:ea typeface="思源宋体 Heavy" panose="02020900000000000000" charset="-122"/>
                  <a:cs typeface="Times New Roman" panose="02020603050405020304" pitchFamily="18" charset="0"/>
                </a:rPr>
                <a:t>from itertools import chain</a:t>
              </a:r>
              <a:endParaRPr lang="en-US" altLang="zh-CN" sz="2000">
                <a:gradFill>
                  <a:gsLst>
                    <a:gs pos="2800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40" name="矩形 39"/>
            <p:cNvSpPr/>
            <p:nvPr>
              <p:custDataLst>
                <p:tags r:id="rId17"/>
              </p:custDataLst>
            </p:nvPr>
          </p:nvSpPr>
          <p:spPr>
            <a:xfrm>
              <a:off x="12167" y="7517"/>
              <a:ext cx="4471" cy="1307"/>
            </a:xfrm>
            <a:prstGeom prst="rect">
              <a:avLst/>
            </a:prstGeom>
          </p:spPr>
          <p:txBody>
            <a:bodyPr wrap="square">
              <a:spAutoFit/>
              <a:scene3d>
                <a:camera prst="orthographicFront"/>
                <a:lightRig rig="threePt" dir="t"/>
              </a:scene3d>
              <a:sp3d contourW="12700"/>
            </a:bodyPr>
            <a:lstStyle/>
            <a:p>
              <a:pPr algn="l">
                <a:lnSpc>
                  <a:spcPct val="150000"/>
                </a:lnSpc>
              </a:pPr>
              <a:r>
                <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rPr>
                <a:t>用于将多个可迭代对象串联为单个迭代器</a:t>
              </a:r>
              <a:endParaRPr lang="zh-CN" altLang="en-US" sz="1600" dirty="0">
                <a:solidFill>
                  <a:schemeClr val="tx1">
                    <a:lumMod val="65000"/>
                    <a:lumOff val="35000"/>
                  </a:schemeClr>
                </a:solidFill>
                <a:latin typeface="思源宋体" panose="02020700000000000000" charset="-122"/>
                <a:ea typeface="思源宋体" panose="02020700000000000000" charset="-122"/>
                <a:cs typeface="思源宋体" panose="02020700000000000000" charset="-122"/>
                <a:sym typeface="+mn-lt"/>
              </a:endParaRPr>
            </a:p>
          </p:txBody>
        </p:sp>
        <p:pic>
          <p:nvPicPr>
            <p:cNvPr id="7" name="图片 6" descr="D:\AAAAA千库网\2.5D\千库网_立体教育培训直播课人物插画_元素编号13073728.png千库网_立体教育培训直播课人物插画_元素编号13073728"/>
            <p:cNvPicPr>
              <a:picLocks noChangeAspect="1"/>
            </p:cNvPicPr>
            <p:nvPr>
              <p:custDataLst>
                <p:tags r:id="rId18"/>
              </p:custDataLst>
            </p:nvPr>
          </p:nvPicPr>
          <p:blipFill>
            <a:blip r:embed="rId19"/>
            <a:srcRect/>
            <a:stretch>
              <a:fillRect/>
            </a:stretch>
          </p:blipFill>
          <p:spPr>
            <a:xfrm>
              <a:off x="7099" y="3727"/>
              <a:ext cx="4984" cy="5361"/>
            </a:xfrm>
            <a:prstGeom prst="rect">
              <a:avLst/>
            </a:prstGeom>
          </p:spPr>
        </p:pic>
      </p:grpSp>
      <p:grpSp>
        <p:nvGrpSpPr>
          <p:cNvPr id="3" name="组合 2"/>
          <p:cNvGrpSpPr/>
          <p:nvPr/>
        </p:nvGrpSpPr>
        <p:grpSpPr>
          <a:xfrm>
            <a:off x="-558165" y="386715"/>
            <a:ext cx="6062345" cy="1273810"/>
            <a:chOff x="-879" y="609"/>
            <a:chExt cx="9547" cy="2006"/>
          </a:xfrm>
        </p:grpSpPr>
        <p:sp>
          <p:nvSpPr>
            <p:cNvPr id="11" name="文本框 10"/>
            <p:cNvSpPr txBox="1"/>
            <p:nvPr/>
          </p:nvSpPr>
          <p:spPr>
            <a:xfrm>
              <a:off x="1518" y="1105"/>
              <a:ext cx="7150" cy="1016"/>
            </a:xfrm>
            <a:prstGeom prst="rect">
              <a:avLst/>
            </a:prstGeom>
            <a:noFill/>
          </p:spPr>
          <p:txBody>
            <a:bodyPr wrap="square" rtlCol="0">
              <a:spAutoFit/>
            </a:bodyPr>
            <a:lstStyle/>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关键库与模块导入</a:t>
              </a:r>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ustDataLst>
      <p:tags r:id="rId20"/>
    </p:custData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65435" y="1855787"/>
            <a:ext cx="5507809" cy="3146425"/>
          </a:xfrm>
          <a:prstGeom prst="rect">
            <a:avLst/>
          </a:prstGeom>
          <a:noFill/>
          <a:ln>
            <a:solidFill>
              <a:srgbClr val="FFC000"/>
            </a:solidFill>
          </a:ln>
        </p:spPr>
        <p:txBody>
          <a:bodyPr wrap="square" rtlCol="0">
            <a:noAutofit/>
          </a:bodyPr>
          <a:lstStyle/>
          <a:p>
            <a:pPr indent="0" fontAlgn="auto">
              <a:lnSpc>
                <a:spcPct val="125000"/>
              </a:lnSpc>
            </a:pPr>
            <a:r>
              <a:rPr lang="en-US" altLang="zh-CN" sz="2000" dirty="0">
                <a:latin typeface="Times New Roman" panose="02020603050405020304" pitchFamily="18" charset="0"/>
                <a:cs typeface="Times New Roman" panose="02020603050405020304" pitchFamily="18" charset="0"/>
              </a:rPr>
              <a:t># 1.</a:t>
            </a:r>
            <a:r>
              <a:rPr lang="zh-CN" altLang="en-US" sz="2000" dirty="0">
                <a:latin typeface="Times New Roman" panose="02020603050405020304" pitchFamily="18" charset="0"/>
                <a:cs typeface="Times New Roman" panose="02020603050405020304" pitchFamily="18" charset="0"/>
              </a:rPr>
              <a:t>判断字符是否是英文</a:t>
            </a:r>
            <a:endParaRPr lang="zh-CN" altLang="en-US" sz="2000" dirty="0">
              <a:latin typeface="Times New Roman" panose="02020603050405020304" pitchFamily="18" charset="0"/>
              <a:cs typeface="Times New Roman" panose="02020603050405020304" pitchFamily="18" charset="0"/>
            </a:endParaRPr>
          </a:p>
          <a:p>
            <a:pPr indent="0" fontAlgn="auto">
              <a:lnSpc>
                <a:spcPct val="125000"/>
              </a:lnSpc>
            </a:pPr>
            <a:r>
              <a:rPr lang="en-US" altLang="zh-CN" sz="2000" dirty="0">
                <a:latin typeface="Times New Roman" panose="02020603050405020304" pitchFamily="18" charset="0"/>
                <a:cs typeface="Times New Roman" panose="02020603050405020304" pitchFamily="18" charset="0"/>
              </a:rPr>
              <a:t>def </a:t>
            </a:r>
            <a:r>
              <a:rPr lang="en-US" altLang="zh-CN" sz="2000" dirty="0" err="1">
                <a:latin typeface="Times New Roman" panose="02020603050405020304" pitchFamily="18" charset="0"/>
                <a:cs typeface="Times New Roman" panose="02020603050405020304" pitchFamily="18" charset="0"/>
              </a:rPr>
              <a:t>is_english</a:t>
            </a:r>
            <a:r>
              <a:rPr lang="en-US" altLang="zh-CN" sz="2000" dirty="0">
                <a:latin typeface="Times New Roman" panose="02020603050405020304" pitchFamily="18" charset="0"/>
                <a:cs typeface="Times New Roman" panose="02020603050405020304" pitchFamily="18" charset="0"/>
              </a:rPr>
              <a:t>(c):</a:t>
            </a:r>
            <a:endParaRPr lang="en-US" altLang="zh-CN" sz="2000" dirty="0">
              <a:latin typeface="Times New Roman" panose="02020603050405020304" pitchFamily="18" charset="0"/>
              <a:cs typeface="Times New Roman" panose="02020603050405020304" pitchFamily="18" charset="0"/>
            </a:endParaRPr>
          </a:p>
          <a:p>
            <a:pPr indent="0" fontAlgn="auto">
              <a:lnSpc>
                <a:spcPct val="125000"/>
              </a:lnSpc>
            </a:pPr>
            <a:r>
              <a:rPr lang="en-US" altLang="zh-CN" sz="2000" dirty="0">
                <a:latin typeface="Times New Roman" panose="02020603050405020304" pitchFamily="18" charset="0"/>
                <a:cs typeface="Times New Roman" panose="02020603050405020304" pitchFamily="18" charset="0"/>
              </a:rPr>
              <a:t>    if </a:t>
            </a:r>
            <a:r>
              <a:rPr lang="en-US" altLang="zh-CN" sz="2000" dirty="0" err="1">
                <a:latin typeface="Times New Roman" panose="02020603050405020304" pitchFamily="18" charset="0"/>
                <a:cs typeface="Times New Roman" panose="02020603050405020304" pitchFamily="18" charset="0"/>
              </a:rPr>
              <a:t>ord</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c.lower</a:t>
            </a:r>
            <a:r>
              <a:rPr lang="en-US" altLang="zh-CN" sz="2000" dirty="0">
                <a:latin typeface="Times New Roman" panose="02020603050405020304" pitchFamily="18" charset="0"/>
                <a:cs typeface="Times New Roman" panose="02020603050405020304" pitchFamily="18" charset="0"/>
              </a:rPr>
              <a:t>()) &gt;= 97 and </a:t>
            </a:r>
            <a:r>
              <a:rPr lang="en-US" altLang="zh-CN" sz="2000" dirty="0" err="1">
                <a:latin typeface="Times New Roman" panose="02020603050405020304" pitchFamily="18" charset="0"/>
                <a:cs typeface="Times New Roman" panose="02020603050405020304" pitchFamily="18" charset="0"/>
              </a:rPr>
              <a:t>ord</a:t>
            </a:r>
            <a:r>
              <a:rPr lang="en-US" altLang="zh-CN" sz="2000" dirty="0">
                <a:latin typeface="Times New Roman" panose="02020603050405020304" pitchFamily="18" charset="0"/>
                <a:cs typeface="Times New Roman" panose="02020603050405020304" pitchFamily="18" charset="0"/>
              </a:rPr>
              <a:t>(</a:t>
            </a:r>
            <a:r>
              <a:rPr lang="en-US" altLang="zh-CN" sz="2000" dirty="0" err="1">
                <a:latin typeface="Times New Roman" panose="02020603050405020304" pitchFamily="18" charset="0"/>
                <a:cs typeface="Times New Roman" panose="02020603050405020304" pitchFamily="18" charset="0"/>
              </a:rPr>
              <a:t>c.lower</a:t>
            </a:r>
            <a:r>
              <a:rPr lang="en-US" altLang="zh-CN" sz="2000" dirty="0">
                <a:latin typeface="Times New Roman" panose="02020603050405020304" pitchFamily="18" charset="0"/>
                <a:cs typeface="Times New Roman" panose="02020603050405020304" pitchFamily="18" charset="0"/>
              </a:rPr>
              <a:t>()) &lt;= 122:  </a:t>
            </a:r>
            <a:endParaRPr lang="zh-CN" altLang="en-US" sz="2000" dirty="0">
              <a:latin typeface="Times New Roman" panose="02020603050405020304" pitchFamily="18" charset="0"/>
              <a:cs typeface="Times New Roman" panose="02020603050405020304" pitchFamily="18" charset="0"/>
            </a:endParaRPr>
          </a:p>
          <a:p>
            <a:pPr indent="0" fontAlgn="auto">
              <a:lnSpc>
                <a:spcPct val="125000"/>
              </a:lnSpc>
            </a:pPr>
            <a:r>
              <a:rPr lang="en-US" altLang="zh-CN" sz="2000" dirty="0">
                <a:latin typeface="Times New Roman" panose="02020603050405020304" pitchFamily="18" charset="0"/>
                <a:cs typeface="Times New Roman" panose="02020603050405020304" pitchFamily="18" charset="0"/>
              </a:rPr>
              <a:t>        return True</a:t>
            </a:r>
            <a:endParaRPr lang="en-US" altLang="zh-CN" sz="2000" dirty="0">
              <a:latin typeface="Times New Roman" panose="02020603050405020304" pitchFamily="18" charset="0"/>
              <a:cs typeface="Times New Roman" panose="02020603050405020304" pitchFamily="18" charset="0"/>
            </a:endParaRPr>
          </a:p>
          <a:p>
            <a:pPr indent="0" fontAlgn="auto">
              <a:lnSpc>
                <a:spcPct val="125000"/>
              </a:lnSpc>
            </a:pPr>
            <a:r>
              <a:rPr lang="en-US" altLang="zh-CN" sz="2000" dirty="0">
                <a:latin typeface="Times New Roman" panose="02020603050405020304" pitchFamily="18" charset="0"/>
                <a:cs typeface="Times New Roman" panose="02020603050405020304" pitchFamily="18" charset="0"/>
              </a:rPr>
              <a:t>    else:</a:t>
            </a:r>
            <a:endParaRPr lang="en-US" altLang="zh-CN" sz="2000" dirty="0">
              <a:latin typeface="Times New Roman" panose="02020603050405020304" pitchFamily="18" charset="0"/>
              <a:cs typeface="Times New Roman" panose="02020603050405020304" pitchFamily="18" charset="0"/>
            </a:endParaRPr>
          </a:p>
          <a:p>
            <a:pPr indent="0" fontAlgn="auto">
              <a:lnSpc>
                <a:spcPct val="125000"/>
              </a:lnSpc>
            </a:pPr>
            <a:r>
              <a:rPr lang="en-US" altLang="zh-CN" sz="2000" dirty="0">
                <a:latin typeface="Times New Roman" panose="02020603050405020304" pitchFamily="18" charset="0"/>
                <a:cs typeface="Times New Roman" panose="02020603050405020304" pitchFamily="18" charset="0"/>
              </a:rPr>
              <a:t>        return False</a:t>
            </a:r>
            <a:endParaRPr lang="en-US" altLang="zh-CN" sz="2000" dirty="0">
              <a:latin typeface="Times New Roman" panose="02020603050405020304" pitchFamily="18" charset="0"/>
              <a:cs typeface="Times New Roman" panose="02020603050405020304" pitchFamily="18" charset="0"/>
            </a:endParaRPr>
          </a:p>
          <a:p>
            <a:pPr indent="0" fontAlgn="auto">
              <a:lnSpc>
                <a:spcPct val="125000"/>
              </a:lnSpc>
            </a:pPr>
            <a:endParaRPr lang="en-US" altLang="zh-CN" sz="2000" dirty="0">
              <a:latin typeface="Times New Roman" panose="02020603050405020304" pitchFamily="18" charset="0"/>
              <a:cs typeface="Times New Roman" panose="02020603050405020304" pitchFamily="18" charset="0"/>
              <a:sym typeface="+mn-ea"/>
            </a:endParaRPr>
          </a:p>
          <a:p>
            <a:pPr indent="0" fontAlgn="auto">
              <a:lnSpc>
                <a:spcPct val="125000"/>
              </a:lnSpc>
            </a:pPr>
            <a:r>
              <a:rPr lang="en-US" altLang="zh-CN" sz="2000" dirty="0">
                <a:latin typeface="Times New Roman" panose="02020603050405020304" pitchFamily="18" charset="0"/>
                <a:cs typeface="Times New Roman" panose="02020603050405020304" pitchFamily="18" charset="0"/>
                <a:sym typeface="+mn-ea"/>
              </a:rPr>
              <a:t># </a:t>
            </a:r>
            <a:r>
              <a:rPr lang="en-US" altLang="zh-CN" sz="2000" dirty="0" err="1">
                <a:latin typeface="Times New Roman" panose="02020603050405020304" pitchFamily="18" charset="0"/>
                <a:cs typeface="Times New Roman" panose="02020603050405020304" pitchFamily="18" charset="0"/>
                <a:sym typeface="+mn-ea"/>
              </a:rPr>
              <a:t>ord</a:t>
            </a:r>
            <a:r>
              <a:rPr lang="en-US" altLang="zh-CN" sz="2000" dirty="0">
                <a:latin typeface="Times New Roman" panose="02020603050405020304" pitchFamily="18" charset="0"/>
                <a:cs typeface="Times New Roman" panose="02020603050405020304" pitchFamily="18" charset="0"/>
                <a:sym typeface="+mn-ea"/>
              </a:rPr>
              <a:t>()</a:t>
            </a:r>
            <a:r>
              <a:rPr lang="zh-CN" altLang="en-US" sz="2000" dirty="0">
                <a:latin typeface="Times New Roman" panose="02020603050405020304" pitchFamily="18" charset="0"/>
                <a:cs typeface="Times New Roman" panose="02020603050405020304" pitchFamily="18" charset="0"/>
                <a:sym typeface="+mn-ea"/>
              </a:rPr>
              <a:t>：获取字符的</a:t>
            </a:r>
            <a:r>
              <a:rPr lang="en-US" altLang="zh-CN" sz="2000" dirty="0">
                <a:latin typeface="Times New Roman" panose="02020603050405020304" pitchFamily="18" charset="0"/>
                <a:cs typeface="Times New Roman" panose="02020603050405020304" pitchFamily="18" charset="0"/>
                <a:sym typeface="+mn-ea"/>
              </a:rPr>
              <a:t>Unicode</a:t>
            </a:r>
            <a:r>
              <a:rPr lang="zh-CN" altLang="en-US" sz="2000" dirty="0">
                <a:latin typeface="Times New Roman" panose="02020603050405020304" pitchFamily="18" charset="0"/>
                <a:cs typeface="Times New Roman" panose="02020603050405020304" pitchFamily="18" charset="0"/>
                <a:sym typeface="+mn-ea"/>
              </a:rPr>
              <a:t>编码。</a:t>
            </a:r>
            <a:endParaRPr lang="zh-CN" altLang="en-US" sz="20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478191" y="1478817"/>
            <a:ext cx="4948374" cy="3900363"/>
          </a:xfrm>
          <a:prstGeom prst="rect">
            <a:avLst/>
          </a:prstGeom>
          <a:noFill/>
          <a:ln w="28575" cmpd="dbl">
            <a:solidFill>
              <a:srgbClr val="FFC000"/>
            </a:solidFill>
            <a:prstDash val="sysDot"/>
          </a:ln>
        </p:spPr>
        <p:txBody>
          <a:bodyPr wrap="square" rtlCol="0">
            <a:spAutoFit/>
          </a:bodyPr>
          <a:lstStyle/>
          <a:p>
            <a:pPr algn="l">
              <a:lnSpc>
                <a:spcPct val="125000"/>
              </a:lnSpc>
              <a:buClrTx/>
              <a:buSzTx/>
              <a:buFontTx/>
            </a:pPr>
            <a:r>
              <a:rPr lang="en-US" altLang="zh-CN" sz="2000" dirty="0" err="1">
                <a:latin typeface="Times New Roman" panose="02020603050405020304" pitchFamily="18" charset="0"/>
                <a:cs typeface="Times New Roman" panose="02020603050405020304" pitchFamily="18" charset="0"/>
              </a:rPr>
              <a:t>为什么需要判断英文？在中文NER任务中</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l">
              <a:lnSpc>
                <a:spcPct val="125000"/>
              </a:lnSpc>
              <a:buClrTx/>
              <a:buSzTx/>
              <a:buFontTx/>
            </a:pPr>
            <a:endParaRPr lang="en-US" altLang="zh-CN" sz="2000"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sz="2000" dirty="0">
                <a:latin typeface="Times New Roman" panose="02020603050405020304" pitchFamily="18" charset="0"/>
                <a:cs typeface="Times New Roman" panose="02020603050405020304" pitchFamily="18" charset="0"/>
              </a:rPr>
              <a:t>①</a:t>
            </a:r>
            <a:r>
              <a:rPr lang="en-US" altLang="zh-CN" sz="2000" dirty="0" err="1">
                <a:latin typeface="Times New Roman" panose="02020603050405020304" pitchFamily="18" charset="0"/>
                <a:cs typeface="Times New Roman" panose="02020603050405020304" pitchFamily="18" charset="0"/>
              </a:rPr>
              <a:t>混合文本：中文常夹杂英文（如品牌名</a:t>
            </a:r>
            <a:r>
              <a:rPr lang="en-US" altLang="zh-CN" sz="2000" dirty="0">
                <a:latin typeface="Times New Roman" panose="02020603050405020304" pitchFamily="18" charset="0"/>
                <a:cs typeface="Times New Roman" panose="02020603050405020304" pitchFamily="18" charset="0"/>
              </a:rPr>
              <a:t> "华为Mate50"）。</a:t>
            </a:r>
            <a:endParaRPr lang="en-US" altLang="zh-CN" sz="2000" dirty="0">
              <a:latin typeface="Times New Roman" panose="02020603050405020304" pitchFamily="18" charset="0"/>
              <a:cs typeface="Times New Roman" panose="02020603050405020304" pitchFamily="18" charset="0"/>
            </a:endParaRPr>
          </a:p>
          <a:p>
            <a:pPr algn="l">
              <a:lnSpc>
                <a:spcPct val="125000"/>
              </a:lnSpc>
              <a:buClrTx/>
              <a:buSzTx/>
              <a:buFontTx/>
            </a:pPr>
            <a:endParaRPr lang="en-US" altLang="zh-CN" sz="2000"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sz="2000" dirty="0">
                <a:latin typeface="Times New Roman" panose="02020603050405020304" pitchFamily="18" charset="0"/>
                <a:cs typeface="Times New Roman" panose="02020603050405020304" pitchFamily="18" charset="0"/>
              </a:rPr>
              <a:t>②</a:t>
            </a:r>
            <a:r>
              <a:rPr lang="en-US" altLang="zh-CN" sz="2000" dirty="0" err="1">
                <a:latin typeface="Times New Roman" panose="02020603050405020304" pitchFamily="18" charset="0"/>
                <a:cs typeface="Times New Roman" panose="02020603050405020304" pitchFamily="18" charset="0"/>
              </a:rPr>
              <a:t>特征增强：字母的出现可能是实体线索（例如公司名中的英文缩写</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l">
              <a:lnSpc>
                <a:spcPct val="125000"/>
              </a:lnSpc>
              <a:buClrTx/>
              <a:buSzTx/>
              <a:buFontTx/>
            </a:pPr>
            <a:endParaRPr lang="en-US" altLang="zh-CN" sz="2000" dirty="0">
              <a:latin typeface="Times New Roman" panose="02020603050405020304" pitchFamily="18" charset="0"/>
              <a:cs typeface="Times New Roman" panose="02020603050405020304" pitchFamily="18" charset="0"/>
            </a:endParaRPr>
          </a:p>
          <a:p>
            <a:pPr algn="l">
              <a:lnSpc>
                <a:spcPct val="125000"/>
              </a:lnSpc>
              <a:buClrTx/>
              <a:buSzTx/>
              <a:buFontTx/>
            </a:pPr>
            <a:r>
              <a:rPr lang="zh-CN" altLang="en-US" sz="2000" dirty="0">
                <a:latin typeface="Times New Roman" panose="02020603050405020304" pitchFamily="18" charset="0"/>
                <a:cs typeface="Times New Roman" panose="02020603050405020304" pitchFamily="18" charset="0"/>
              </a:rPr>
              <a:t>③</a:t>
            </a:r>
            <a:r>
              <a:rPr lang="en-US" altLang="zh-CN" sz="2000" dirty="0" err="1">
                <a:latin typeface="Times New Roman" panose="02020603050405020304" pitchFamily="18" charset="0"/>
                <a:cs typeface="Times New Roman" panose="02020603050405020304" pitchFamily="18" charset="0"/>
              </a:rPr>
              <a:t>模型泛化：帮助CRF学习到“英文字母更可能出现在特定实体中”的规律</a:t>
            </a: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558165" y="386715"/>
            <a:ext cx="4529455" cy="1273810"/>
            <a:chOff x="-879" y="609"/>
            <a:chExt cx="7133" cy="2006"/>
          </a:xfrm>
        </p:grpSpPr>
        <p:sp>
          <p:nvSpPr>
            <p:cNvPr id="11" name="文本框 10"/>
            <p:cNvSpPr txBox="1"/>
            <p:nvPr/>
          </p:nvSpPr>
          <p:spPr>
            <a:xfrm>
              <a:off x="1518" y="1104"/>
              <a:ext cx="4736" cy="1016"/>
            </a:xfrm>
            <a:prstGeom prst="rect">
              <a:avLst/>
            </a:prstGeom>
            <a:noFill/>
          </p:spPr>
          <p:txBody>
            <a:bodyPr wrap="square" rtlCol="0">
              <a:spAutoFit/>
            </a:bodyPr>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特征工程</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构建</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27700" y="1422763"/>
            <a:ext cx="10336601" cy="5181600"/>
          </a:xfrm>
          <a:prstGeom prst="rect">
            <a:avLst/>
          </a:prstGeom>
          <a:noFill/>
          <a:ln>
            <a:gradFill>
              <a:gsLst>
                <a:gs pos="0">
                  <a:srgbClr val="F4CF80"/>
                </a:gs>
                <a:gs pos="100000">
                  <a:schemeClr val="accent4">
                    <a:lumMod val="75000"/>
                  </a:schemeClr>
                </a:gs>
              </a:gsLst>
              <a:lin ang="5400000" scaled="1"/>
            </a:gradFill>
          </a:ln>
        </p:spPr>
        <p:txBody>
          <a:bodyPr wrap="square" rtlCol="0">
            <a:noAutofit/>
          </a:bodyPr>
          <a:lstStyle/>
          <a:p>
            <a:pPr indent="0" fontAlgn="auto">
              <a:lnSpc>
                <a:spcPct val="125000"/>
              </a:lnSpc>
            </a:pPr>
            <a:r>
              <a:rPr lang="en-US" altLang="zh-CN" dirty="0">
                <a:latin typeface="Times New Roman" panose="02020603050405020304" pitchFamily="18" charset="0"/>
                <a:cs typeface="Times New Roman" panose="02020603050405020304" pitchFamily="18" charset="0"/>
              </a:rPr>
              <a:t>def word2features(sent,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基础特征包括：当前字符、字符是否为数字、字符是否为英文</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word = sent[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features = {'bias': 1.0,   </a:t>
            </a:r>
            <a:r>
              <a:rPr lang="en-US" altLang="zh-CN" u="sng" dirty="0">
                <a:latin typeface="Times New Roman" panose="02020603050405020304" pitchFamily="18" charset="0"/>
                <a:cs typeface="Times New Roman" panose="02020603050405020304" pitchFamily="18" charset="0"/>
              </a:rPr>
              <a:t>'word':  </a:t>
            </a:r>
            <a:r>
              <a:rPr lang="en-US" altLang="zh-CN" u="sng" dirty="0">
                <a:solidFill>
                  <a:schemeClr val="bg1"/>
                </a:solidFill>
                <a:highlight>
                  <a:srgbClr val="C0C0C0"/>
                </a:highlight>
                <a:latin typeface="Times New Roman" panose="02020603050405020304" pitchFamily="18" charset="0"/>
                <a:cs typeface="Times New Roman" panose="02020603050405020304" pitchFamily="18" charset="0"/>
              </a:rPr>
              <a:t>word,</a:t>
            </a:r>
            <a:r>
              <a:rPr lang="en-US" altLang="zh-CN" u="sng" dirty="0">
                <a:latin typeface="Times New Roman" panose="02020603050405020304" pitchFamily="18" charset="0"/>
                <a:cs typeface="Times New Roman" panose="02020603050405020304" pitchFamily="18" charset="0"/>
              </a:rPr>
              <a:t>   '</a:t>
            </a:r>
            <a:r>
              <a:rPr lang="en-US" altLang="zh-CN" u="sng" dirty="0" err="1">
                <a:latin typeface="Times New Roman" panose="02020603050405020304" pitchFamily="18" charset="0"/>
                <a:cs typeface="Times New Roman" panose="02020603050405020304" pitchFamily="18" charset="0"/>
              </a:rPr>
              <a:t>word.isdigit</a:t>
            </a:r>
            <a:r>
              <a:rPr lang="en-US" altLang="zh-CN" u="sng" dirty="0">
                <a:latin typeface="Times New Roman" panose="02020603050405020304" pitchFamily="18" charset="0"/>
                <a:cs typeface="Times New Roman" panose="02020603050405020304" pitchFamily="18" charset="0"/>
              </a:rPr>
              <a:t>()': </a:t>
            </a:r>
            <a:r>
              <a:rPr lang="en-US" altLang="zh-CN" u="sng" dirty="0" err="1">
                <a:solidFill>
                  <a:schemeClr val="bg1"/>
                </a:solidFill>
                <a:highlight>
                  <a:srgbClr val="C0C0C0"/>
                </a:highlight>
                <a:latin typeface="Times New Roman" panose="02020603050405020304" pitchFamily="18" charset="0"/>
                <a:cs typeface="Times New Roman" panose="02020603050405020304" pitchFamily="18" charset="0"/>
              </a:rPr>
              <a:t>word.isdigit</a:t>
            </a:r>
            <a:r>
              <a:rPr lang="en-US" altLang="zh-CN" u="sng" dirty="0">
                <a:solidFill>
                  <a:schemeClr val="bg1"/>
                </a:solidFill>
                <a:highlight>
                  <a:srgbClr val="C0C0C0"/>
                </a:highlight>
                <a:latin typeface="Times New Roman" panose="02020603050405020304" pitchFamily="18" charset="0"/>
                <a:cs typeface="Times New Roman" panose="02020603050405020304" pitchFamily="18" charset="0"/>
              </a:rPr>
              <a:t>(), </a:t>
            </a:r>
            <a:r>
              <a:rPr lang="en-US" altLang="zh-CN" u="sng" dirty="0">
                <a:latin typeface="Times New Roman" panose="02020603050405020304" pitchFamily="18" charset="0"/>
                <a:cs typeface="Times New Roman" panose="02020603050405020304" pitchFamily="18" charset="0"/>
              </a:rPr>
              <a:t>  '</a:t>
            </a:r>
            <a:r>
              <a:rPr lang="en-US" altLang="zh-CN" u="sng" dirty="0" err="1">
                <a:latin typeface="Times New Roman" panose="02020603050405020304" pitchFamily="18" charset="0"/>
                <a:cs typeface="Times New Roman" panose="02020603050405020304" pitchFamily="18" charset="0"/>
              </a:rPr>
              <a:t>word.is_english</a:t>
            </a:r>
            <a:r>
              <a:rPr lang="en-US" altLang="zh-CN" u="sng" dirty="0">
                <a:latin typeface="Times New Roman" panose="02020603050405020304" pitchFamily="18" charset="0"/>
                <a:cs typeface="Times New Roman" panose="02020603050405020304" pitchFamily="18" charset="0"/>
              </a:rPr>
              <a:t>()': </a:t>
            </a:r>
            <a:r>
              <a:rPr lang="en-US" altLang="zh-CN" u="sng" dirty="0" err="1">
                <a:solidFill>
                  <a:schemeClr val="bg1"/>
                </a:solidFill>
                <a:highlight>
                  <a:srgbClr val="C0C0C0"/>
                </a:highlight>
                <a:latin typeface="Times New Roman" panose="02020603050405020304" pitchFamily="18" charset="0"/>
                <a:cs typeface="Times New Roman" panose="02020603050405020304" pitchFamily="18" charset="0"/>
              </a:rPr>
              <a:t>is_english</a:t>
            </a:r>
            <a:r>
              <a:rPr lang="en-US" altLang="zh-CN" u="sng" dirty="0">
                <a:solidFill>
                  <a:schemeClr val="bg1"/>
                </a:solidFill>
                <a:highlight>
                  <a:srgbClr val="C0C0C0"/>
                </a:highlight>
                <a:latin typeface="Times New Roman" panose="02020603050405020304" pitchFamily="18" charset="0"/>
                <a:cs typeface="Times New Roman" panose="02020603050405020304" pitchFamily="18" charset="0"/>
              </a:rPr>
              <a:t>(word)}</a:t>
            </a:r>
            <a:endParaRPr lang="en-US" altLang="zh-CN" u="sng" dirty="0">
              <a:solidFill>
                <a:schemeClr val="bg1"/>
              </a:solidFill>
              <a:highlight>
                <a:srgbClr val="C0C0C0"/>
              </a:highlight>
              <a:latin typeface="Times New Roman" panose="02020603050405020304" pitchFamily="18" charset="0"/>
              <a:cs typeface="Times New Roman" panose="02020603050405020304" pitchFamily="18" charset="0"/>
            </a:endParaRPr>
          </a:p>
          <a:p>
            <a:pPr indent="0" fontAlgn="auto">
              <a:lnSpc>
                <a:spcPct val="125000"/>
              </a:lnSpc>
            </a:pPr>
            <a:endParaRPr lang="en-US" altLang="zh-CN" sz="800"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添加上文特征</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if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&gt; 0:</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word = sent[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- 1][0]</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features.update</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en-US" altLang="zh-CN" u="sng" dirty="0">
                <a:latin typeface="Times New Roman" panose="02020603050405020304" pitchFamily="18" charset="0"/>
                <a:cs typeface="Times New Roman" panose="02020603050405020304" pitchFamily="18" charset="0"/>
              </a:rPr>
              <a:t>'-1:word': word,</a:t>
            </a:r>
            <a:endParaRPr lang="en-US" altLang="zh-CN" u="sng"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en-US" altLang="zh-CN" u="sng" dirty="0">
                <a:latin typeface="Times New Roman" panose="02020603050405020304" pitchFamily="18" charset="0"/>
                <a:cs typeface="Times New Roman" panose="02020603050405020304" pitchFamily="18" charset="0"/>
              </a:rPr>
              <a:t>'-1:word.isdigit()': </a:t>
            </a:r>
            <a:r>
              <a:rPr lang="en-US" altLang="zh-CN" u="sng" dirty="0" err="1">
                <a:latin typeface="Times New Roman" panose="02020603050405020304" pitchFamily="18" charset="0"/>
                <a:cs typeface="Times New Roman" panose="02020603050405020304" pitchFamily="18" charset="0"/>
              </a:rPr>
              <a:t>word.isdigit</a:t>
            </a:r>
            <a:r>
              <a:rPr lang="en-US" altLang="zh-CN" u="sng" dirty="0">
                <a:latin typeface="Times New Roman" panose="02020603050405020304" pitchFamily="18" charset="0"/>
                <a:cs typeface="Times New Roman" panose="02020603050405020304" pitchFamily="18" charset="0"/>
              </a:rPr>
              <a:t>(),</a:t>
            </a:r>
            <a:endParaRPr lang="en-US" altLang="zh-CN" u="sng"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en-US" altLang="zh-CN" u="sng" dirty="0">
                <a:latin typeface="Times New Roman" panose="02020603050405020304" pitchFamily="18" charset="0"/>
                <a:cs typeface="Times New Roman" panose="02020603050405020304" pitchFamily="18" charset="0"/>
              </a:rPr>
              <a:t>'-1:word.is_english()': </a:t>
            </a:r>
            <a:r>
              <a:rPr lang="en-US" altLang="zh-CN" u="sng" dirty="0" err="1">
                <a:latin typeface="Times New Roman" panose="02020603050405020304" pitchFamily="18" charset="0"/>
                <a:cs typeface="Times New Roman" panose="02020603050405020304" pitchFamily="18" charset="0"/>
              </a:rPr>
              <a:t>is_english</a:t>
            </a:r>
            <a:r>
              <a:rPr lang="en-US" altLang="zh-CN" u="sng" dirty="0">
                <a:latin typeface="Times New Roman" panose="02020603050405020304" pitchFamily="18" charset="0"/>
                <a:cs typeface="Times New Roman" panose="02020603050405020304" pitchFamily="18" charset="0"/>
              </a:rPr>
              <a:t>(word),</a:t>
            </a:r>
            <a:endParaRPr lang="en-US" altLang="zh-CN" u="sng"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else:</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features['BOS'] = True   # </a:t>
            </a:r>
            <a:r>
              <a:rPr lang="zh-CN" altLang="en-US" dirty="0">
                <a:latin typeface="Times New Roman" panose="02020603050405020304" pitchFamily="18" charset="0"/>
                <a:cs typeface="Times New Roman" panose="02020603050405020304" pitchFamily="18" charset="0"/>
              </a:rPr>
              <a:t>如果是句首词，添加</a:t>
            </a:r>
            <a:r>
              <a:rPr lang="en-US" altLang="zh-CN" dirty="0">
                <a:latin typeface="Times New Roman" panose="02020603050405020304" pitchFamily="18" charset="0"/>
                <a:cs typeface="Times New Roman" panose="02020603050405020304" pitchFamily="18" charset="0"/>
              </a:rPr>
              <a:t>BOS(Beginning of Sentence)</a:t>
            </a:r>
            <a:r>
              <a:rPr lang="zh-CN" altLang="en-US" dirty="0">
                <a:latin typeface="Times New Roman" panose="02020603050405020304" pitchFamily="18" charset="0"/>
                <a:cs typeface="Times New Roman" panose="02020603050405020304" pitchFamily="18" charset="0"/>
              </a:rPr>
              <a:t>特征</a:t>
            </a:r>
            <a:endParaRPr lang="zh-CN" altLang="en-US" dirty="0">
              <a:latin typeface="Times New Roman" panose="02020603050405020304" pitchFamily="18" charset="0"/>
              <a:cs typeface="Times New Roman" panose="02020603050405020304" pitchFamily="18" charset="0"/>
            </a:endParaRPr>
          </a:p>
        </p:txBody>
      </p:sp>
      <p:grpSp>
        <p:nvGrpSpPr>
          <p:cNvPr id="6" name="组合 5"/>
          <p:cNvGrpSpPr/>
          <p:nvPr/>
        </p:nvGrpSpPr>
        <p:grpSpPr>
          <a:xfrm>
            <a:off x="-558165" y="386715"/>
            <a:ext cx="4529455" cy="1273810"/>
            <a:chOff x="-879" y="609"/>
            <a:chExt cx="7133" cy="2006"/>
          </a:xfrm>
        </p:grpSpPr>
        <p:sp>
          <p:nvSpPr>
            <p:cNvPr id="11" name="文本框 10"/>
            <p:cNvSpPr txBox="1"/>
            <p:nvPr/>
          </p:nvSpPr>
          <p:spPr>
            <a:xfrm>
              <a:off x="1518" y="1104"/>
              <a:ext cx="4736" cy="1016"/>
            </a:xfrm>
            <a:prstGeom prst="rect">
              <a:avLst/>
            </a:prstGeom>
            <a:noFill/>
          </p:spPr>
          <p:txBody>
            <a:bodyPr wrap="square" rtlCol="0">
              <a:spAutoFit/>
            </a:bodyPr>
            <a:p>
              <a:pPr algn="l">
                <a:buClrTx/>
                <a:buSzTx/>
                <a:buFontTx/>
              </a:pP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特征工程构建</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33987" y="1746461"/>
            <a:ext cx="5478780" cy="3934039"/>
          </a:xfrm>
          <a:prstGeom prst="rect">
            <a:avLst/>
          </a:prstGeom>
          <a:noFill/>
          <a:ln>
            <a:gradFill>
              <a:gsLst>
                <a:gs pos="0">
                  <a:srgbClr val="F4CF80"/>
                </a:gs>
                <a:gs pos="100000">
                  <a:schemeClr val="accent4">
                    <a:lumMod val="75000"/>
                  </a:schemeClr>
                </a:gs>
              </a:gsLst>
              <a:lin ang="5400000" scaled="1"/>
            </a:gradFill>
          </a:ln>
        </p:spPr>
        <p:txBody>
          <a:bodyPr wrap="square" rtlCol="0">
            <a:noAutofit/>
          </a:bodyPr>
          <a:lstStyle/>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添加下文特征</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if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&lt; </a:t>
            </a:r>
            <a:r>
              <a:rPr lang="en-US" altLang="zh-CN" dirty="0" err="1">
                <a:latin typeface="Times New Roman" panose="02020603050405020304" pitchFamily="18" charset="0"/>
                <a:cs typeface="Times New Roman" panose="02020603050405020304" pitchFamily="18" charset="0"/>
              </a:rPr>
              <a:t>len</a:t>
            </a:r>
            <a:r>
              <a:rPr lang="en-US" altLang="zh-CN" dirty="0">
                <a:latin typeface="Times New Roman" panose="02020603050405020304" pitchFamily="18" charset="0"/>
                <a:cs typeface="Times New Roman" panose="02020603050405020304" pitchFamily="18" charset="0"/>
              </a:rPr>
              <a:t>(sent) - 1:</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word = sent[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+ 1][0]</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features.update</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'+1:word': word,</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'+1:word.isdigit()': </a:t>
            </a:r>
            <a:r>
              <a:rPr lang="en-US" altLang="zh-CN" dirty="0" err="1">
                <a:latin typeface="Times New Roman" panose="02020603050405020304" pitchFamily="18" charset="0"/>
                <a:cs typeface="Times New Roman" panose="02020603050405020304" pitchFamily="18" charset="0"/>
              </a:rPr>
              <a:t>word.isdigit</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'+1:word.is_english()': </a:t>
            </a:r>
            <a:r>
              <a:rPr lang="en-US" altLang="zh-CN" dirty="0" err="1">
                <a:latin typeface="Times New Roman" panose="02020603050405020304" pitchFamily="18" charset="0"/>
                <a:cs typeface="Times New Roman" panose="02020603050405020304" pitchFamily="18" charset="0"/>
              </a:rPr>
              <a:t>is_english</a:t>
            </a:r>
            <a:r>
              <a:rPr lang="en-US" altLang="zh-CN" dirty="0">
                <a:latin typeface="Times New Roman" panose="02020603050405020304" pitchFamily="18" charset="0"/>
                <a:cs typeface="Times New Roman" panose="02020603050405020304" pitchFamily="18" charset="0"/>
              </a:rPr>
              <a:t>(word),</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else:</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sym typeface="+mn-ea"/>
              </a:rPr>
              <a:t>        # </a:t>
            </a:r>
            <a:r>
              <a:rPr lang="zh-CN" altLang="en-US" dirty="0">
                <a:latin typeface="Times New Roman" panose="02020603050405020304" pitchFamily="18" charset="0"/>
                <a:cs typeface="Times New Roman" panose="02020603050405020304" pitchFamily="18" charset="0"/>
                <a:sym typeface="+mn-ea"/>
              </a:rPr>
              <a:t>如果是句末词，添加</a:t>
            </a:r>
            <a:r>
              <a:rPr lang="en-US" altLang="zh-CN" dirty="0">
                <a:latin typeface="Times New Roman" panose="02020603050405020304" pitchFamily="18" charset="0"/>
                <a:cs typeface="Times New Roman" panose="02020603050405020304" pitchFamily="18" charset="0"/>
                <a:sym typeface="+mn-ea"/>
              </a:rPr>
              <a:t>EOS(End of Sentence)</a:t>
            </a:r>
            <a:r>
              <a:rPr lang="zh-CN" altLang="en-US" dirty="0">
                <a:latin typeface="Times New Roman" panose="02020603050405020304" pitchFamily="18" charset="0"/>
                <a:cs typeface="Times New Roman" panose="02020603050405020304" pitchFamily="18" charset="0"/>
                <a:sym typeface="+mn-ea"/>
              </a:rPr>
              <a:t>特征</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        features['EOS'] = True       return features</a:t>
            </a:r>
            <a:endParaRPr lang="en-US" altLang="zh-CN"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885940" y="1746250"/>
            <a:ext cx="4311015" cy="3900170"/>
          </a:xfrm>
          <a:prstGeom prst="rect">
            <a:avLst/>
          </a:prstGeom>
          <a:noFill/>
          <a:ln w="28575" cmpd="dbl">
            <a:solidFill>
              <a:srgbClr val="FFC000"/>
            </a:solidFill>
            <a:prstDash val="sysDot"/>
          </a:ln>
        </p:spPr>
        <p:txBody>
          <a:bodyPr wrap="square" rtlCol="0">
            <a:spAutoFit/>
          </a:bodyPr>
          <a:lstStyle/>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序列中的每一个字符处理成如下格式</a:t>
            </a: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{'bias': 1.0,</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'word': '商',</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word.isdigit</a:t>
            </a:r>
            <a:r>
              <a:rPr lang="en-US" altLang="zh-CN" dirty="0">
                <a:latin typeface="Times New Roman" panose="02020603050405020304" pitchFamily="18" charset="0"/>
                <a:cs typeface="Times New Roman" panose="02020603050405020304" pitchFamily="18" charset="0"/>
              </a:rPr>
              <a:t>()': False,</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word.is_english</a:t>
            </a:r>
            <a:r>
              <a:rPr lang="en-US" altLang="zh-CN" dirty="0">
                <a:latin typeface="Times New Roman" panose="02020603050405020304" pitchFamily="18" charset="0"/>
                <a:cs typeface="Times New Roman" panose="02020603050405020304" pitchFamily="18" charset="0"/>
              </a:rPr>
              <a:t>()': False,</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'-1:word': '浙',</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'-1:word.isdigit()': False,</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'-1:word.is_english()': False,</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'+1:word': '银',</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'+1:word.isdigit()': False,</a:t>
            </a:r>
            <a:endParaRPr lang="en-US" altLang="zh-CN"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dirty="0">
                <a:latin typeface="Times New Roman" panose="02020603050405020304" pitchFamily="18" charset="0"/>
                <a:cs typeface="Times New Roman" panose="02020603050405020304" pitchFamily="18" charset="0"/>
              </a:rPr>
              <a:t>     '+1:word.is_english()': False}</a:t>
            </a:r>
            <a:endParaRPr lang="en-US" altLang="zh-CN" dirty="0">
              <a:latin typeface="Times New Roman" panose="02020603050405020304" pitchFamily="18" charset="0"/>
              <a:cs typeface="Times New Roman" panose="02020603050405020304" pitchFamily="18" charset="0"/>
            </a:endParaRPr>
          </a:p>
        </p:txBody>
      </p:sp>
      <p:grpSp>
        <p:nvGrpSpPr>
          <p:cNvPr id="6" name="组合 5"/>
          <p:cNvGrpSpPr/>
          <p:nvPr/>
        </p:nvGrpSpPr>
        <p:grpSpPr>
          <a:xfrm>
            <a:off x="-558165" y="386715"/>
            <a:ext cx="4529455" cy="1273810"/>
            <a:chOff x="-879" y="609"/>
            <a:chExt cx="7133" cy="2006"/>
          </a:xfrm>
        </p:grpSpPr>
        <p:sp>
          <p:nvSpPr>
            <p:cNvPr id="11" name="文本框 10"/>
            <p:cNvSpPr txBox="1"/>
            <p:nvPr/>
          </p:nvSpPr>
          <p:spPr>
            <a:xfrm>
              <a:off x="1518" y="1104"/>
              <a:ext cx="4736" cy="1016"/>
            </a:xfrm>
            <a:prstGeom prst="rect">
              <a:avLst/>
            </a:prstGeom>
            <a:noFill/>
          </p:spPr>
          <p:txBody>
            <a:bodyPr wrap="square" rtlCol="0">
              <a:spAutoFit/>
            </a:bodyPr>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特征工程</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构建</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custDataLst>
              <p:tags r:id="rId1"/>
            </p:custDataLst>
          </p:nvPr>
        </p:nvGrpSpPr>
        <p:grpSpPr>
          <a:xfrm>
            <a:off x="979805" y="1517650"/>
            <a:ext cx="11002010" cy="4476115"/>
            <a:chOff x="1543" y="2390"/>
            <a:chExt cx="17326" cy="7049"/>
          </a:xfrm>
        </p:grpSpPr>
        <p:pic>
          <p:nvPicPr>
            <p:cNvPr id="10" name="图片 9" descr="D:\AAAAA千库网\2.5D\千库网_教育培训直播课人物插画_元素编号13073738.png千库网_教育培训直播课人物插画_元素编号13073738"/>
            <p:cNvPicPr>
              <a:picLocks noChangeAspect="1"/>
            </p:cNvPicPr>
            <p:nvPr/>
          </p:nvPicPr>
          <p:blipFill>
            <a:blip r:embed="rId2"/>
            <a:srcRect/>
            <a:stretch>
              <a:fillRect/>
            </a:stretch>
          </p:blipFill>
          <p:spPr>
            <a:xfrm flipH="1">
              <a:off x="11821" y="2390"/>
              <a:ext cx="7048" cy="7049"/>
            </a:xfrm>
            <a:prstGeom prst="rect">
              <a:avLst/>
            </a:prstGeom>
          </p:spPr>
        </p:pic>
        <p:sp>
          <p:nvSpPr>
            <p:cNvPr id="12" name="矩形: 圆角 11"/>
            <p:cNvSpPr/>
            <p:nvPr>
              <p:custDataLst>
                <p:tags r:id="rId3"/>
              </p:custDataLst>
            </p:nvPr>
          </p:nvSpPr>
          <p:spPr>
            <a:xfrm>
              <a:off x="1543" y="2528"/>
              <a:ext cx="9497" cy="3262"/>
            </a:xfrm>
            <a:prstGeom prst="roundRect">
              <a:avLst/>
            </a:prstGeom>
            <a:solidFill>
              <a:schemeClr val="bg1"/>
            </a:solidFill>
            <a:ln>
              <a:noFill/>
            </a:ln>
            <a:effectLst>
              <a:outerShdw blurRad="266700" sx="103000" sy="103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宋体" panose="02020700000000000000" charset="-122"/>
                <a:ea typeface="思源宋体" panose="02020700000000000000" charset="-122"/>
                <a:cs typeface="思源宋体" panose="02020700000000000000" charset="-122"/>
              </a:endParaRPr>
            </a:p>
          </p:txBody>
        </p:sp>
        <p:grpSp>
          <p:nvGrpSpPr>
            <p:cNvPr id="13" name="组合 12"/>
            <p:cNvGrpSpPr/>
            <p:nvPr/>
          </p:nvGrpSpPr>
          <p:grpSpPr>
            <a:xfrm>
              <a:off x="2337" y="2734"/>
              <a:ext cx="8400" cy="3139"/>
              <a:chOff x="8339878" y="1801793"/>
              <a:chExt cx="5333866" cy="1993778"/>
            </a:xfrm>
          </p:grpSpPr>
          <p:sp>
            <p:nvSpPr>
              <p:cNvPr id="14" name="矩形: 圆角 13"/>
              <p:cNvSpPr/>
              <p:nvPr>
                <p:custDataLst>
                  <p:tags r:id="rId4"/>
                </p:custDataLst>
              </p:nvPr>
            </p:nvSpPr>
            <p:spPr>
              <a:xfrm>
                <a:off x="8339879" y="1930907"/>
                <a:ext cx="2376246" cy="491377"/>
              </a:xfrm>
              <a:prstGeom prst="roundRect">
                <a:avLst>
                  <a:gd name="adj" fmla="val 50000"/>
                </a:avLst>
              </a:prstGeom>
              <a:gradFill>
                <a:gsLst>
                  <a:gs pos="0">
                    <a:schemeClr val="accent4">
                      <a:lumMod val="75000"/>
                    </a:schemeClr>
                  </a:gs>
                  <a:gs pos="100000">
                    <a:srgbClr val="F1BD59"/>
                  </a:gs>
                </a:gsLst>
                <a:lin ang="5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5" name="文本框 330"/>
              <p:cNvSpPr txBox="1"/>
              <p:nvPr>
                <p:custDataLst>
                  <p:tags r:id="rId5"/>
                </p:custDataLst>
              </p:nvPr>
            </p:nvSpPr>
            <p:spPr>
              <a:xfrm>
                <a:off x="8339878" y="1801793"/>
                <a:ext cx="2314517" cy="64532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kumimoji="1" lang="zh-CN" sz="2400">
                    <a:solidFill>
                      <a:schemeClr val="bg1"/>
                    </a:solidFill>
                    <a:effectLst>
                      <a:outerShdw blurRad="38100" dist="38100" dir="2700000" algn="tl">
                        <a:srgbClr val="000000">
                          <a:alpha val="43137"/>
                        </a:srgbClr>
                      </a:outerShdw>
                    </a:effectLst>
                    <a:latin typeface="思源宋体 Heavy" panose="02020900000000000000" charset="-122"/>
                    <a:ea typeface="思源宋体 Heavy" panose="02020900000000000000" charset="-122"/>
                    <a:cs typeface="思源宋体" panose="02020700000000000000" charset="-122"/>
                  </a:rPr>
                  <a:t>状态</a:t>
                </a:r>
                <a:r>
                  <a:rPr kumimoji="1" lang="zh-CN" sz="2400">
                    <a:solidFill>
                      <a:schemeClr val="bg1"/>
                    </a:solidFill>
                    <a:effectLst>
                      <a:outerShdw blurRad="38100" dist="38100" dir="2700000" algn="tl">
                        <a:srgbClr val="000000">
                          <a:alpha val="43137"/>
                        </a:srgbClr>
                      </a:outerShdw>
                    </a:effectLst>
                    <a:latin typeface="思源宋体 Heavy" panose="02020900000000000000" charset="-122"/>
                    <a:ea typeface="思源宋体 Heavy" panose="02020900000000000000" charset="-122"/>
                    <a:cs typeface="思源宋体" panose="02020700000000000000" charset="-122"/>
                  </a:rPr>
                  <a:t>特征函数</a:t>
                </a:r>
                <a:endParaRPr kumimoji="1" lang="zh-CN" sz="2400">
                  <a:solidFill>
                    <a:schemeClr val="bg1"/>
                  </a:solidFill>
                  <a:effectLst>
                    <a:outerShdw blurRad="38100" dist="38100" dir="2700000" algn="tl">
                      <a:srgbClr val="000000">
                        <a:alpha val="43137"/>
                      </a:srgbClr>
                    </a:outerShdw>
                  </a:effectLst>
                  <a:latin typeface="思源宋体 Heavy" panose="02020900000000000000" charset="-122"/>
                  <a:ea typeface="思源宋体 Heavy" panose="02020900000000000000" charset="-122"/>
                  <a:cs typeface="思源宋体" panose="02020700000000000000" charset="-122"/>
                </a:endParaRPr>
              </a:p>
            </p:txBody>
          </p:sp>
          <p:sp>
            <p:nvSpPr>
              <p:cNvPr id="16" name="矩形 15"/>
              <p:cNvSpPr/>
              <p:nvPr>
                <p:custDataLst>
                  <p:tags r:id="rId6"/>
                </p:custDataLst>
              </p:nvPr>
            </p:nvSpPr>
            <p:spPr>
              <a:xfrm>
                <a:off x="8339878" y="2450930"/>
                <a:ext cx="5333866" cy="1344641"/>
              </a:xfrm>
              <a:prstGeom prst="rect">
                <a:avLst/>
              </a:prstGeom>
              <a:noFill/>
              <a:ln w="9525">
                <a:noFill/>
              </a:ln>
            </p:spPr>
            <p:txBody>
              <a:bodyPr wrap="square">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600">
                    <a:latin typeface="思源宋体" panose="02020700000000000000" charset="-122"/>
                    <a:ea typeface="思源宋体" panose="02020700000000000000" charset="-122"/>
                    <a:cs typeface="思源宋体" panose="02020700000000000000" charset="-122"/>
                  </a:rPr>
                  <a:t>描述</a:t>
                </a:r>
                <a:r>
                  <a:rPr lang="zh-CN" altLang="en-US" sz="1600" b="1">
                    <a:latin typeface="思源宋体" panose="02020700000000000000" charset="-122"/>
                    <a:ea typeface="思源宋体" panose="02020700000000000000" charset="-122"/>
                    <a:cs typeface="思源宋体" panose="02020700000000000000" charset="-122"/>
                  </a:rPr>
                  <a:t>观察序列与标签</a:t>
                </a:r>
                <a:r>
                  <a:rPr lang="zh-CN" altLang="en-US" sz="1600">
                    <a:latin typeface="思源宋体" panose="02020700000000000000" charset="-122"/>
                    <a:ea typeface="思源宋体" panose="02020700000000000000" charset="-122"/>
                    <a:cs typeface="思源宋体" panose="02020700000000000000" charset="-122"/>
                  </a:rPr>
                  <a:t>之间的关系</a:t>
                </a:r>
                <a:r>
                  <a:rPr lang="en-US" altLang="zh-CN" sz="1600">
                    <a:latin typeface="思源宋体" panose="02020700000000000000" charset="-122"/>
                    <a:ea typeface="思源宋体" panose="02020700000000000000" charset="-122"/>
                    <a:cs typeface="思源宋体" panose="02020700000000000000" charset="-122"/>
                  </a:rPr>
                  <a:t> </a:t>
                </a:r>
                <a:r>
                  <a:rPr lang="zh-CN" altLang="en-US" sz="1600">
                    <a:latin typeface="思源宋体" panose="02020700000000000000" charset="-122"/>
                    <a:ea typeface="思源宋体" panose="02020700000000000000" charset="-122"/>
                    <a:cs typeface="思源宋体" panose="02020700000000000000" charset="-122"/>
                  </a:rPr>
                  <a:t>。聚焦于单个观察对象和对应的标签，通过特征函数来刻画该对象具备某种标签的可能性或相关特性，</a:t>
                </a:r>
                <a:r>
                  <a:rPr lang="zh-CN" altLang="en-US" sz="1600">
                    <a:latin typeface="思源宋体" panose="02020700000000000000" charset="-122"/>
                    <a:ea typeface="思源宋体" panose="02020700000000000000" charset="-122"/>
                    <a:cs typeface="思源宋体" panose="02020700000000000000" charset="-122"/>
                  </a:rPr>
                  <a:t>如</a:t>
                </a:r>
                <a:endParaRPr lang="zh-CN" altLang="en-US" sz="1600">
                  <a:latin typeface="思源宋体" panose="02020700000000000000" charset="-122"/>
                  <a:ea typeface="思源宋体" panose="02020700000000000000" charset="-122"/>
                  <a:cs typeface="思源宋体" panose="02020700000000000000" charset="-122"/>
                </a:endParaRPr>
              </a:p>
            </p:txBody>
          </p:sp>
        </p:grpSp>
        <p:sp>
          <p:nvSpPr>
            <p:cNvPr id="18" name="矩形: 圆角 17"/>
            <p:cNvSpPr/>
            <p:nvPr>
              <p:custDataLst>
                <p:tags r:id="rId7"/>
              </p:custDataLst>
            </p:nvPr>
          </p:nvSpPr>
          <p:spPr>
            <a:xfrm>
              <a:off x="1543" y="6177"/>
              <a:ext cx="9497" cy="3262"/>
            </a:xfrm>
            <a:prstGeom prst="roundRect">
              <a:avLst/>
            </a:prstGeom>
            <a:solidFill>
              <a:schemeClr val="bg1"/>
            </a:solidFill>
            <a:ln>
              <a:noFill/>
            </a:ln>
            <a:effectLst>
              <a:outerShdw blurRad="266700" sx="103000" sy="103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宋体" panose="02020700000000000000" charset="-122"/>
                <a:ea typeface="思源宋体" panose="02020700000000000000" charset="-122"/>
                <a:cs typeface="思源宋体" panose="02020700000000000000" charset="-122"/>
              </a:endParaRPr>
            </a:p>
          </p:txBody>
        </p:sp>
        <p:grpSp>
          <p:nvGrpSpPr>
            <p:cNvPr id="19" name="组合 18"/>
            <p:cNvGrpSpPr/>
            <p:nvPr/>
          </p:nvGrpSpPr>
          <p:grpSpPr>
            <a:xfrm>
              <a:off x="2337" y="6384"/>
              <a:ext cx="8400" cy="2913"/>
              <a:chOff x="8339878" y="1801793"/>
              <a:chExt cx="5333866" cy="1850231"/>
            </a:xfrm>
          </p:grpSpPr>
          <p:sp>
            <p:nvSpPr>
              <p:cNvPr id="20" name="矩形: 圆角 19"/>
              <p:cNvSpPr/>
              <p:nvPr>
                <p:custDataLst>
                  <p:tags r:id="rId8"/>
                </p:custDataLst>
              </p:nvPr>
            </p:nvSpPr>
            <p:spPr>
              <a:xfrm>
                <a:off x="8339879" y="1930907"/>
                <a:ext cx="2376246" cy="491377"/>
              </a:xfrm>
              <a:prstGeom prst="roundRect">
                <a:avLst>
                  <a:gd name="adj" fmla="val 50000"/>
                </a:avLst>
              </a:prstGeom>
              <a:gradFill>
                <a:gsLst>
                  <a:gs pos="0">
                    <a:schemeClr val="accent4">
                      <a:lumMod val="75000"/>
                    </a:schemeClr>
                  </a:gs>
                  <a:gs pos="100000">
                    <a:srgbClr val="F1BD59"/>
                  </a:gs>
                </a:gsLst>
                <a:lin ang="5400000" scaled="0"/>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1" name="文本框 330"/>
              <p:cNvSpPr txBox="1"/>
              <p:nvPr>
                <p:custDataLst>
                  <p:tags r:id="rId9"/>
                </p:custDataLst>
              </p:nvPr>
            </p:nvSpPr>
            <p:spPr>
              <a:xfrm>
                <a:off x="8339878" y="1801793"/>
                <a:ext cx="2314517" cy="645326"/>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kumimoji="1" lang="zh-CN" altLang="en-US" sz="2400">
                    <a:solidFill>
                      <a:schemeClr val="bg1"/>
                    </a:solidFill>
                    <a:effectLst>
                      <a:outerShdw blurRad="38100" dist="38100" dir="2700000" algn="tl">
                        <a:srgbClr val="000000">
                          <a:alpha val="43137"/>
                        </a:srgbClr>
                      </a:outerShdw>
                    </a:effectLst>
                    <a:latin typeface="思源宋体" panose="02020700000000000000" charset="-122"/>
                    <a:ea typeface="思源宋体" panose="02020700000000000000" charset="-122"/>
                    <a:cs typeface="思源宋体" panose="02020700000000000000" charset="-122"/>
                  </a:rPr>
                  <a:t>转移</a:t>
                </a:r>
                <a:r>
                  <a:rPr kumimoji="1" lang="zh-CN" altLang="en-US" sz="2400">
                    <a:solidFill>
                      <a:schemeClr val="bg1"/>
                    </a:solidFill>
                    <a:effectLst>
                      <a:outerShdw blurRad="38100" dist="38100" dir="2700000" algn="tl">
                        <a:srgbClr val="000000">
                          <a:alpha val="43137"/>
                        </a:srgbClr>
                      </a:outerShdw>
                    </a:effectLst>
                    <a:latin typeface="思源宋体" panose="02020700000000000000" charset="-122"/>
                    <a:ea typeface="思源宋体" panose="02020700000000000000" charset="-122"/>
                    <a:cs typeface="思源宋体" panose="02020700000000000000" charset="-122"/>
                  </a:rPr>
                  <a:t>特征函数</a:t>
                </a:r>
                <a:endParaRPr kumimoji="1" lang="zh-CN" altLang="en-US" sz="2400">
                  <a:solidFill>
                    <a:schemeClr val="bg1"/>
                  </a:solidFill>
                  <a:effectLst>
                    <a:outerShdw blurRad="38100" dist="38100" dir="2700000" algn="tl">
                      <a:srgbClr val="000000">
                        <a:alpha val="43137"/>
                      </a:srgbClr>
                    </a:outerShdw>
                  </a:effectLst>
                  <a:latin typeface="思源宋体" panose="02020700000000000000" charset="-122"/>
                  <a:ea typeface="思源宋体" panose="02020700000000000000" charset="-122"/>
                  <a:cs typeface="思源宋体" panose="02020700000000000000" charset="-122"/>
                </a:endParaRPr>
              </a:p>
            </p:txBody>
          </p:sp>
          <p:sp>
            <p:nvSpPr>
              <p:cNvPr id="22" name="矩形 21"/>
              <p:cNvSpPr/>
              <p:nvPr>
                <p:custDataLst>
                  <p:tags r:id="rId10"/>
                </p:custDataLst>
              </p:nvPr>
            </p:nvSpPr>
            <p:spPr>
              <a:xfrm>
                <a:off x="8339878" y="2450930"/>
                <a:ext cx="5333866" cy="1201094"/>
              </a:xfrm>
              <a:prstGeom prst="rect">
                <a:avLst/>
              </a:prstGeom>
              <a:noFill/>
              <a:ln w="9525">
                <a:noFill/>
              </a:ln>
            </p:spPr>
            <p:txBody>
              <a:bodyPr wrap="square">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indent="0" algn="l">
                  <a:lnSpc>
                    <a:spcPct val="150000"/>
                  </a:lnSpc>
                  <a:spcBef>
                    <a:spcPts val="0"/>
                  </a:spcBef>
                  <a:spcAft>
                    <a:spcPts val="0"/>
                  </a:spcAft>
                  <a:buNone/>
                </a:pPr>
                <a:r>
                  <a:rPr lang="zh-CN" altLang="en-US" sz="1600">
                    <a:latin typeface="思源宋体" panose="02020700000000000000" charset="-122"/>
                    <a:ea typeface="思源宋体" panose="02020700000000000000" charset="-122"/>
                    <a:cs typeface="思源宋体" panose="02020700000000000000" charset="-122"/>
                  </a:rPr>
                  <a:t>描述</a:t>
                </a:r>
                <a:r>
                  <a:rPr lang="zh-CN" altLang="en-US" sz="1600" b="1">
                    <a:latin typeface="思源宋体" panose="02020700000000000000" charset="-122"/>
                    <a:ea typeface="思源宋体" panose="02020700000000000000" charset="-122"/>
                    <a:cs typeface="思源宋体" panose="02020700000000000000" charset="-122"/>
                  </a:rPr>
                  <a:t>标签之间的转移关系</a:t>
                </a:r>
                <a:r>
                  <a:rPr lang="en-US" altLang="zh-CN" sz="1600">
                    <a:latin typeface="思源宋体" panose="02020700000000000000" charset="-122"/>
                    <a:ea typeface="思源宋体" panose="02020700000000000000" charset="-122"/>
                    <a:cs typeface="思源宋体" panose="02020700000000000000" charset="-122"/>
                  </a:rPr>
                  <a:t> </a:t>
                </a:r>
                <a:r>
                  <a:rPr lang="zh-CN" altLang="en-US" sz="1600">
                    <a:latin typeface="思源宋体" panose="02020700000000000000" charset="-122"/>
                    <a:ea typeface="思源宋体" panose="02020700000000000000" charset="-122"/>
                    <a:cs typeface="思源宋体" panose="02020700000000000000" charset="-122"/>
                  </a:rPr>
                  <a:t>。它关注的是标签序列中相邻标签的衔接情况，判断从一个标签转移到另一个标签是否合理，如</a:t>
                </a:r>
                <a:r>
                  <a:rPr lang="en-US" altLang="zh-CN" sz="1600">
                    <a:latin typeface="思源宋体" panose="02020700000000000000" charset="-122"/>
                    <a:ea typeface="思源宋体" panose="02020700000000000000" charset="-122"/>
                    <a:cs typeface="思源宋体" panose="02020700000000000000" charset="-122"/>
                  </a:rPr>
                  <a:t> </a:t>
                </a:r>
                <a:endParaRPr lang="en-US" altLang="zh-CN" sz="1600">
                  <a:latin typeface="思源宋体" panose="02020700000000000000" charset="-122"/>
                  <a:ea typeface="思源宋体" panose="02020700000000000000" charset="-122"/>
                  <a:cs typeface="思源宋体" panose="02020700000000000000" charset="-122"/>
                </a:endParaRPr>
              </a:p>
            </p:txBody>
          </p:sp>
        </p:grpSp>
      </p:grpSp>
      <p:grpSp>
        <p:nvGrpSpPr>
          <p:cNvPr id="6" name="组合 5"/>
          <p:cNvGrpSpPr/>
          <p:nvPr/>
        </p:nvGrpSpPr>
        <p:grpSpPr>
          <a:xfrm>
            <a:off x="-558165" y="386715"/>
            <a:ext cx="4772025" cy="1273810"/>
            <a:chOff x="-879" y="609"/>
            <a:chExt cx="7515" cy="2006"/>
          </a:xfrm>
        </p:grpSpPr>
        <p:sp>
          <p:nvSpPr>
            <p:cNvPr id="17" name="文本框 16"/>
            <p:cNvSpPr txBox="1"/>
            <p:nvPr/>
          </p:nvSpPr>
          <p:spPr>
            <a:xfrm>
              <a:off x="1518" y="1104"/>
              <a:ext cx="5118" cy="1016"/>
            </a:xfrm>
            <a:prstGeom prst="rect">
              <a:avLst/>
            </a:prstGeom>
            <a:noFill/>
          </p:spPr>
          <p:txBody>
            <a:bodyPr wrap="square" rtlCol="0">
              <a:spAutoFit/>
            </a:bodyPr>
            <a:lstStyle/>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CRF的特征函数</a:t>
              </a:r>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24" name="椭圆 23"/>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25" name="椭圆 24"/>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graphicFrame>
        <p:nvGraphicFramePr>
          <p:cNvPr id="2" name="对象 1">
            <a:hlinkClick r:id="" action="ppaction://ole?verb="/>
          </p:cNvPr>
          <p:cNvGraphicFramePr>
            <a:graphicFrameLocks noChangeAspect="1"/>
          </p:cNvGraphicFramePr>
          <p:nvPr>
            <p:custDataLst>
              <p:tags r:id="rId11"/>
            </p:custDataLst>
          </p:nvPr>
        </p:nvGraphicFramePr>
        <p:xfrm>
          <a:off x="3859848" y="3232150"/>
          <a:ext cx="2335530" cy="327025"/>
        </p:xfrm>
        <a:graphic>
          <a:graphicData uri="http://schemas.openxmlformats.org/presentationml/2006/ole">
            <mc:AlternateContent xmlns:mc="http://schemas.openxmlformats.org/markup-compatibility/2006">
              <mc:Choice xmlns:v="urn:schemas-microsoft-com:vml" Requires="v">
                <p:oleObj spid="_x0000_s1025" name="" r:id="rId12" imgW="1536700" imgH="228600" progId="Equation.KSEE3">
                  <p:embed/>
                </p:oleObj>
              </mc:Choice>
              <mc:Fallback>
                <p:oleObj name="" r:id="rId12" imgW="1536700" imgH="228600" progId="Equation.KSEE3">
                  <p:embed/>
                  <p:pic>
                    <p:nvPicPr>
                      <p:cNvPr id="0" name="图片 1024"/>
                      <p:cNvPicPr/>
                      <p:nvPr/>
                    </p:nvPicPr>
                    <p:blipFill>
                      <a:blip r:embed="rId13"/>
                      <a:stretch>
                        <a:fillRect/>
                      </a:stretch>
                    </p:blipFill>
                    <p:spPr>
                      <a:xfrm>
                        <a:off x="3859848" y="3232150"/>
                        <a:ext cx="2335530" cy="32702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custDataLst>
              <p:tags r:id="rId14"/>
            </p:custDataLst>
          </p:nvPr>
        </p:nvGraphicFramePr>
        <p:xfrm>
          <a:off x="2483485" y="5534025"/>
          <a:ext cx="3948430" cy="339090"/>
        </p:xfrm>
        <a:graphic>
          <a:graphicData uri="http://schemas.openxmlformats.org/presentationml/2006/ole">
            <mc:AlternateContent xmlns:mc="http://schemas.openxmlformats.org/markup-compatibility/2006">
              <mc:Choice xmlns:v="urn:schemas-microsoft-com:vml" Requires="v">
                <p:oleObj spid="_x0000_s1026" name="" r:id="rId15" imgW="2234565" imgH="228600" progId="Equation.KSEE3">
                  <p:embed/>
                </p:oleObj>
              </mc:Choice>
              <mc:Fallback>
                <p:oleObj name="" r:id="rId15" imgW="2234565" imgH="228600" progId="Equation.KSEE3">
                  <p:embed/>
                  <p:pic>
                    <p:nvPicPr>
                      <p:cNvPr id="0" name="图片 1025"/>
                      <p:cNvPicPr/>
                      <p:nvPr/>
                    </p:nvPicPr>
                    <p:blipFill>
                      <a:blip r:embed="rId16"/>
                      <a:stretch>
                        <a:fillRect/>
                      </a:stretch>
                    </p:blipFill>
                    <p:spPr>
                      <a:xfrm>
                        <a:off x="2483485" y="5534025"/>
                        <a:ext cx="3948430" cy="339090"/>
                      </a:xfrm>
                      <a:prstGeom prst="rect">
                        <a:avLst/>
                      </a:prstGeom>
                    </p:spPr>
                  </p:pic>
                </p:oleObj>
              </mc:Fallback>
            </mc:AlternateContent>
          </a:graphicData>
        </a:graphic>
      </p:graphicFrame>
    </p:spTree>
    <p:custDataLst>
      <p:tags r:id="rId17"/>
    </p:custData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414655" y="398780"/>
            <a:ext cx="11363325" cy="6061075"/>
            <a:chOff x="653" y="628"/>
            <a:chExt cx="17895" cy="9545"/>
          </a:xfrm>
        </p:grpSpPr>
        <p:pic>
          <p:nvPicPr>
            <p:cNvPr id="6" name="图片 5" descr="D:\AAAAA千库网\2.5D\千库网_世界读书日之拿放大镜看书的女孩免抠元素_元素编号11938896.png千库网_世界读书日之拿放大镜看书的女孩免抠元素_元素编号11938896"/>
            <p:cNvPicPr>
              <a:picLocks noChangeAspect="1"/>
            </p:cNvPicPr>
            <p:nvPr/>
          </p:nvPicPr>
          <p:blipFill>
            <a:blip r:embed="rId1"/>
            <a:srcRect/>
            <a:stretch>
              <a:fillRect/>
            </a:stretch>
          </p:blipFill>
          <p:spPr>
            <a:xfrm>
              <a:off x="11595" y="2245"/>
              <a:ext cx="6309" cy="6309"/>
            </a:xfrm>
            <a:prstGeom prst="rect">
              <a:avLst/>
            </a:prstGeom>
          </p:spPr>
        </p:pic>
        <p:grpSp>
          <p:nvGrpSpPr>
            <p:cNvPr id="5" name="组合 4"/>
            <p:cNvGrpSpPr/>
            <p:nvPr/>
          </p:nvGrpSpPr>
          <p:grpSpPr>
            <a:xfrm>
              <a:off x="1990" y="2330"/>
              <a:ext cx="8910" cy="4196"/>
              <a:chOff x="2104" y="2598"/>
              <a:chExt cx="8910" cy="4196"/>
            </a:xfrm>
          </p:grpSpPr>
          <p:sp>
            <p:nvSpPr>
              <p:cNvPr id="16" name="文本框 15"/>
              <p:cNvSpPr txBox="1"/>
              <p:nvPr/>
            </p:nvSpPr>
            <p:spPr>
              <a:xfrm>
                <a:off x="2104" y="5335"/>
                <a:ext cx="8910" cy="1459"/>
              </a:xfrm>
              <a:prstGeom prst="rect">
                <a:avLst/>
              </a:prstGeom>
              <a:noFill/>
            </p:spPr>
            <p:txBody>
              <a:bodyPr wrap="square" rtlCol="0">
                <a:noAutofit/>
              </a:bodyPr>
              <a:lstStyle/>
              <a:p>
                <a:pPr algn="l"/>
                <a:r>
                  <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模型训练与评估</a:t>
                </a:r>
                <a:endParaRPr lang="zh-CN" altLang="en-US" sz="60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36" name="文本框 35"/>
              <p:cNvSpPr txBox="1"/>
              <p:nvPr/>
            </p:nvSpPr>
            <p:spPr>
              <a:xfrm>
                <a:off x="2214" y="2598"/>
                <a:ext cx="7560" cy="2737"/>
              </a:xfrm>
              <a:prstGeom prst="rect">
                <a:avLst/>
              </a:prstGeom>
              <a:noFill/>
            </p:spPr>
            <p:txBody>
              <a:bodyPr wrap="square" rtlCol="0">
                <a:spAutoFit/>
              </a:bodyPr>
              <a:lstStyle/>
              <a:p>
                <a:pPr algn="l"/>
                <a:r>
                  <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rPr>
                  <a:t>04</a:t>
                </a:r>
                <a:endParaRPr lang="en-US" altLang="zh-CN" sz="10700">
                  <a:ln w="25400">
                    <a:solidFill>
                      <a:schemeClr val="bg1"/>
                    </a:solidFill>
                  </a:ln>
                  <a:gradFill>
                    <a:gsLst>
                      <a:gs pos="0">
                        <a:srgbClr val="F1BD59"/>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3" name="文本框 2"/>
              <p:cNvSpPr txBox="1"/>
              <p:nvPr/>
            </p:nvSpPr>
            <p:spPr>
              <a:xfrm>
                <a:off x="5157" y="3677"/>
                <a:ext cx="2375" cy="580"/>
              </a:xfrm>
              <a:prstGeom prst="rect">
                <a:avLst/>
              </a:prstGeom>
              <a:noFill/>
            </p:spPr>
            <p:txBody>
              <a:bodyPr wrap="none" rtlCol="0">
                <a:spAutoFit/>
              </a:bodyPr>
              <a:lstStyle/>
              <a:p>
                <a:r>
                  <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rPr>
                  <a:t>STEP FOUR</a:t>
                </a:r>
                <a:endParaRPr lang="en-US" altLang="zh-CN" b="1">
                  <a:solidFill>
                    <a:schemeClr val="tx1">
                      <a:lumMod val="75000"/>
                      <a:lumOff val="25000"/>
                    </a:schemeClr>
                  </a:solidFill>
                  <a:latin typeface="思源宋体" panose="02020700000000000000" charset="-122"/>
                  <a:ea typeface="思源宋体" panose="02020700000000000000" charset="-122"/>
                  <a:cs typeface="思源宋体" panose="02020700000000000000" charset="-122"/>
                </a:endParaRPr>
              </a:p>
            </p:txBody>
          </p:sp>
        </p:grpSp>
        <p:sp>
          <p:nvSpPr>
            <p:cNvPr id="4" name="矩形 3"/>
            <p:cNvSpPr/>
            <p:nvPr/>
          </p:nvSpPr>
          <p:spPr>
            <a:xfrm>
              <a:off x="653" y="628"/>
              <a:ext cx="17895" cy="954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grpSp>
    </p:spTree>
    <p:custDataLst>
      <p:tags r:id="rId2"/>
    </p:custData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19480" y="1722120"/>
            <a:ext cx="10595610" cy="2614295"/>
          </a:xfrm>
          <a:prstGeom prst="rect">
            <a:avLst/>
          </a:prstGeom>
          <a:noFill/>
          <a:ln>
            <a:gradFill>
              <a:gsLst>
                <a:gs pos="0">
                  <a:schemeClr val="accent4">
                    <a:lumMod val="40000"/>
                    <a:lumOff val="60000"/>
                  </a:schemeClr>
                </a:gs>
                <a:gs pos="100000">
                  <a:schemeClr val="accent4">
                    <a:lumMod val="75000"/>
                  </a:schemeClr>
                </a:gs>
              </a:gsLst>
              <a:lin ang="5400000" scaled="1"/>
            </a:gradFill>
          </a:ln>
        </p:spPr>
        <p:txBody>
          <a:bodyPr wrap="square" rtlCol="0">
            <a:noAutofit/>
          </a:bodyPr>
          <a:lstStyle/>
          <a:p>
            <a:pPr indent="0" fontAlgn="auto">
              <a:lnSpc>
                <a:spcPct val="125000"/>
              </a:lnSpc>
            </a:pPr>
            <a:r>
              <a:rPr lang="en-US" altLang="zh-CN" dirty="0" err="1">
                <a:latin typeface="Times New Roman" panose="02020603050405020304" pitchFamily="18" charset="0"/>
                <a:cs typeface="Times New Roman" panose="02020603050405020304" pitchFamily="18" charset="0"/>
              </a:rPr>
              <a:t>crf_model</a:t>
            </a:r>
            <a:r>
              <a:rPr lang="en-US" altLang="zh-CN" dirty="0">
                <a:latin typeface="Times New Roman" panose="02020603050405020304" pitchFamily="18" charset="0"/>
                <a:cs typeface="Times New Roman" panose="02020603050405020304" pitchFamily="18" charset="0"/>
              </a:rPr>
              <a:t> = </a:t>
            </a:r>
            <a:r>
              <a:rPr lang="en-US" altLang="zh-CN" dirty="0" err="1">
                <a:latin typeface="Times New Roman" panose="02020603050405020304" pitchFamily="18" charset="0"/>
                <a:cs typeface="Times New Roman" panose="02020603050405020304" pitchFamily="18" charset="0"/>
              </a:rPr>
              <a:t>sklearn_crfsuite.CRF</a:t>
            </a:r>
            <a:r>
              <a:rPr lang="en-US" altLang="zh-CN"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pPr indent="385445" fontAlgn="auto">
              <a:lnSpc>
                <a:spcPct val="125000"/>
              </a:lnSpc>
            </a:pPr>
            <a:r>
              <a:rPr lang="en-US" altLang="zh-CN" dirty="0">
                <a:latin typeface="Times New Roman" panose="02020603050405020304" pitchFamily="18" charset="0"/>
                <a:cs typeface="Times New Roman" panose="02020603050405020304" pitchFamily="18" charset="0"/>
              </a:rPr>
              <a:t>algorithm='</a:t>
            </a:r>
            <a:r>
              <a:rPr lang="en-US" altLang="zh-CN" dirty="0" err="1">
                <a:latin typeface="Times New Roman" panose="02020603050405020304" pitchFamily="18" charset="0"/>
                <a:cs typeface="Times New Roman" panose="02020603050405020304" pitchFamily="18" charset="0"/>
              </a:rPr>
              <a:t>lbfgs</a:t>
            </a:r>
            <a:r>
              <a:rPr lang="en-US" altLang="zh-CN" dirty="0">
                <a:latin typeface="Times New Roman" panose="02020603050405020304" pitchFamily="18" charset="0"/>
                <a:cs typeface="Times New Roman" panose="02020603050405020304" pitchFamily="18" charset="0"/>
              </a:rPr>
              <a:t>',                     # L-BFGS</a:t>
            </a:r>
            <a:r>
              <a:rPr lang="zh-CN" altLang="en-US" dirty="0">
                <a:latin typeface="Times New Roman" panose="02020603050405020304" pitchFamily="18" charset="0"/>
                <a:cs typeface="Times New Roman" panose="02020603050405020304" pitchFamily="18" charset="0"/>
              </a:rPr>
              <a:t>（拟牛顿法优化）    </a:t>
            </a:r>
            <a:endParaRPr lang="en-US" altLang="zh-CN" dirty="0">
              <a:latin typeface="Times New Roman" panose="02020603050405020304" pitchFamily="18" charset="0"/>
              <a:cs typeface="Times New Roman" panose="02020603050405020304" pitchFamily="18" charset="0"/>
            </a:endParaRPr>
          </a:p>
          <a:p>
            <a:pPr indent="385445" fontAlgn="auto">
              <a:lnSpc>
                <a:spcPct val="125000"/>
              </a:lnSpc>
            </a:pPr>
            <a:r>
              <a:rPr lang="en-US" altLang="zh-CN" dirty="0">
                <a:latin typeface="Times New Roman" panose="02020603050405020304" pitchFamily="18" charset="0"/>
                <a:cs typeface="Times New Roman" panose="02020603050405020304" pitchFamily="18" charset="0"/>
              </a:rPr>
              <a:t>c1=0.1,                                     # L1</a:t>
            </a:r>
            <a:r>
              <a:rPr lang="zh-CN" altLang="en-US" dirty="0">
                <a:latin typeface="Times New Roman" panose="02020603050405020304" pitchFamily="18" charset="0"/>
                <a:cs typeface="Times New Roman" panose="02020603050405020304" pitchFamily="18" charset="0"/>
              </a:rPr>
              <a:t>正则系数，用于特征选择，可能会使一些不重要的特征的权重变为</a:t>
            </a:r>
            <a:r>
              <a:rPr lang="en-US" altLang="zh-CN" dirty="0">
                <a:latin typeface="Times New Roman" panose="02020603050405020304" pitchFamily="18" charset="0"/>
                <a:cs typeface="Times New Roman" panose="02020603050405020304" pitchFamily="18" charset="0"/>
              </a:rPr>
              <a:t>0    </a:t>
            </a:r>
            <a:endParaRPr lang="en-US" altLang="zh-CN" dirty="0">
              <a:latin typeface="Times New Roman" panose="02020603050405020304" pitchFamily="18" charset="0"/>
              <a:cs typeface="Times New Roman" panose="02020603050405020304" pitchFamily="18" charset="0"/>
            </a:endParaRPr>
          </a:p>
          <a:p>
            <a:pPr indent="385445" fontAlgn="auto">
              <a:lnSpc>
                <a:spcPct val="125000"/>
              </a:lnSpc>
            </a:pPr>
            <a:r>
              <a:rPr lang="en-US" altLang="zh-CN" dirty="0">
                <a:latin typeface="Times New Roman" panose="02020603050405020304" pitchFamily="18" charset="0"/>
                <a:cs typeface="Times New Roman" panose="02020603050405020304" pitchFamily="18" charset="0"/>
              </a:rPr>
              <a:t>c2=0.1,                                     # L2</a:t>
            </a:r>
            <a:r>
              <a:rPr lang="zh-CN" altLang="en-US" dirty="0">
                <a:latin typeface="Times New Roman" panose="02020603050405020304" pitchFamily="18" charset="0"/>
                <a:cs typeface="Times New Roman" panose="02020603050405020304" pitchFamily="18" charset="0"/>
              </a:rPr>
              <a:t>正则系数，用于权重平滑，防止某些特征权重过大导致过拟合    </a:t>
            </a:r>
            <a:endParaRPr lang="en-US" altLang="zh-CN" dirty="0">
              <a:latin typeface="Times New Roman" panose="02020603050405020304" pitchFamily="18" charset="0"/>
              <a:cs typeface="Times New Roman" panose="02020603050405020304" pitchFamily="18" charset="0"/>
            </a:endParaRPr>
          </a:p>
          <a:p>
            <a:pPr indent="385445" fontAlgn="auto">
              <a:lnSpc>
                <a:spcPct val="125000"/>
              </a:lnSpc>
            </a:pPr>
            <a:r>
              <a:rPr lang="en-US" altLang="zh-CN" dirty="0" err="1">
                <a:latin typeface="Times New Roman" panose="02020603050405020304" pitchFamily="18" charset="0"/>
                <a:cs typeface="Times New Roman" panose="02020603050405020304" pitchFamily="18" charset="0"/>
              </a:rPr>
              <a:t>max_iterations</a:t>
            </a:r>
            <a:r>
              <a:rPr lang="en-US" altLang="zh-CN" dirty="0">
                <a:latin typeface="Times New Roman" panose="02020603050405020304" pitchFamily="18" charset="0"/>
                <a:cs typeface="Times New Roman" panose="02020603050405020304" pitchFamily="18" charset="0"/>
              </a:rPr>
              <a:t>= 80,                 # </a:t>
            </a:r>
            <a:r>
              <a:rPr lang="zh-CN" altLang="en-US" dirty="0">
                <a:latin typeface="Times New Roman" panose="02020603050405020304" pitchFamily="18" charset="0"/>
                <a:cs typeface="Times New Roman" panose="02020603050405020304" pitchFamily="18" charset="0"/>
              </a:rPr>
              <a:t>最大迭代次数   </a:t>
            </a:r>
            <a:endParaRPr lang="en-US" altLang="zh-CN" dirty="0">
              <a:latin typeface="Times New Roman" panose="02020603050405020304" pitchFamily="18" charset="0"/>
              <a:cs typeface="Times New Roman" panose="02020603050405020304" pitchFamily="18" charset="0"/>
            </a:endParaRPr>
          </a:p>
          <a:p>
            <a:pPr indent="385445" fontAlgn="auto">
              <a:lnSpc>
                <a:spcPct val="125000"/>
              </a:lnSpc>
            </a:pPr>
            <a:r>
              <a:rPr lang="en-US" altLang="zh-CN" dirty="0" err="1">
                <a:latin typeface="Times New Roman" panose="02020603050405020304" pitchFamily="18" charset="0"/>
                <a:cs typeface="Times New Roman" panose="02020603050405020304" pitchFamily="18" charset="0"/>
              </a:rPr>
              <a:t>all_possible_transitions</a:t>
            </a:r>
            <a:r>
              <a:rPr lang="en-US" altLang="zh-CN" dirty="0">
                <a:latin typeface="Times New Roman" panose="02020603050405020304" pitchFamily="18" charset="0"/>
                <a:cs typeface="Times New Roman" panose="02020603050405020304" pitchFamily="18" charset="0"/>
              </a:rPr>
              <a:t>=True  # </a:t>
            </a:r>
            <a:r>
              <a:rPr lang="zh-CN" altLang="en-US" dirty="0">
                <a:latin typeface="Times New Roman" panose="02020603050405020304" pitchFamily="18" charset="0"/>
                <a:cs typeface="Times New Roman" panose="02020603050405020304" pitchFamily="18" charset="0"/>
              </a:rPr>
              <a:t>允许所有可能的标签转移</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如：允许</a:t>
            </a:r>
            <a:r>
              <a:rPr lang="en-US" altLang="zh-CN" dirty="0">
                <a:latin typeface="Times New Roman" panose="02020603050405020304" pitchFamily="18" charset="0"/>
                <a:cs typeface="Times New Roman" panose="02020603050405020304" pitchFamily="18" charset="0"/>
              </a:rPr>
              <a:t>"B-name"</a:t>
            </a:r>
            <a:r>
              <a:rPr lang="zh-CN" altLang="en-US" dirty="0">
                <a:latin typeface="Times New Roman" panose="02020603050405020304" pitchFamily="18" charset="0"/>
                <a:cs typeface="Times New Roman" panose="02020603050405020304" pitchFamily="18" charset="0"/>
              </a:rPr>
              <a:t>直接转移到</a:t>
            </a:r>
            <a:r>
              <a:rPr lang="en-US" altLang="zh-CN" dirty="0">
                <a:latin typeface="Times New Roman" panose="02020603050405020304" pitchFamily="18" charset="0"/>
                <a:cs typeface="Times New Roman" panose="02020603050405020304" pitchFamily="18" charset="0"/>
              </a:rPr>
              <a:t>"I-company"</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endParaRPr lang="en-US" altLang="zh-CN" dirty="0" err="1">
              <a:latin typeface="Times New Roman" panose="02020603050405020304" pitchFamily="18" charset="0"/>
              <a:cs typeface="Times New Roman" panose="02020603050405020304" pitchFamily="18" charset="0"/>
            </a:endParaRPr>
          </a:p>
        </p:txBody>
      </p:sp>
      <p:sp>
        <p:nvSpPr>
          <p:cNvPr id="4" name="文本框 3"/>
          <p:cNvSpPr txBox="1"/>
          <p:nvPr/>
        </p:nvSpPr>
        <p:spPr>
          <a:xfrm>
            <a:off x="919480" y="4674170"/>
            <a:ext cx="10595610" cy="1476375"/>
          </a:xfrm>
          <a:prstGeom prst="rect">
            <a:avLst/>
          </a:prstGeom>
          <a:ln w="28575" cmpd="dbl">
            <a:solidFill>
              <a:srgbClr val="FFC000"/>
            </a:solidFill>
            <a:prstDash val="sysDot"/>
          </a:ln>
        </p:spPr>
        <p:txBody>
          <a:bodyPr wrap="square">
            <a:spAutoFit/>
          </a:bodyPr>
          <a:lstStyle/>
          <a:p>
            <a:pPr algn="l">
              <a:lnSpc>
                <a:spcPct val="125000"/>
              </a:lnSpc>
              <a:buClrTx/>
              <a:buSzTx/>
              <a:buFontTx/>
            </a:pPr>
            <a:r>
              <a:rPr lang="en-US" altLang="zh-CN" sz="1800" dirty="0" err="1">
                <a:latin typeface="Times New Roman" panose="02020603050405020304" pitchFamily="18" charset="0"/>
                <a:cs typeface="Times New Roman" panose="02020603050405020304" pitchFamily="18" charset="0"/>
              </a:rPr>
              <a:t>训练过程中，CRF会：</a:t>
            </a:r>
            <a:endParaRPr lang="en-US" altLang="zh-CN" sz="1800" dirty="0" err="1">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sz="1800" dirty="0" err="1">
                <a:latin typeface="Times New Roman" panose="02020603050405020304" pitchFamily="18" charset="0"/>
                <a:cs typeface="Times New Roman" panose="02020603050405020304" pitchFamily="18" charset="0"/>
              </a:rPr>
              <a:t>1.计算特征函数的期望值—例如计算"当字符是数字时，标记为'O'"这种情况的频率</a:t>
            </a:r>
            <a:endParaRPr lang="en-US" altLang="zh-CN" sz="1800" dirty="0" err="1">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sz="1800" dirty="0" err="1">
                <a:latin typeface="Times New Roman" panose="02020603050405020304" pitchFamily="18" charset="0"/>
                <a:cs typeface="Times New Roman" panose="02020603050405020304" pitchFamily="18" charset="0"/>
              </a:rPr>
              <a:t>2.使用优化算法调整特征权重；</a:t>
            </a:r>
            <a:endParaRPr lang="en-US" altLang="zh-CN" sz="1800" dirty="0" err="1">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sz="1800" dirty="0" err="1">
                <a:latin typeface="Times New Roman" panose="02020603050405020304" pitchFamily="18" charset="0"/>
                <a:cs typeface="Times New Roman" panose="02020603050405020304" pitchFamily="18" charset="0"/>
              </a:rPr>
              <a:t>3.学习状态特征和转移特征的权重—学习哪些特征组合更可能对应特定标签，以及标签之间的转移概率</a:t>
            </a:r>
            <a:endParaRPr lang="en-US" altLang="zh-CN" sz="1800" dirty="0" err="1">
              <a:latin typeface="Times New Roman" panose="02020603050405020304" pitchFamily="18" charset="0"/>
              <a:cs typeface="Times New Roman" panose="02020603050405020304" pitchFamily="18" charset="0"/>
            </a:endParaRPr>
          </a:p>
        </p:txBody>
      </p:sp>
      <p:grpSp>
        <p:nvGrpSpPr>
          <p:cNvPr id="6" name="组合 5"/>
          <p:cNvGrpSpPr/>
          <p:nvPr/>
        </p:nvGrpSpPr>
        <p:grpSpPr>
          <a:xfrm>
            <a:off x="-558165" y="386715"/>
            <a:ext cx="4772025" cy="1273810"/>
            <a:chOff x="-879" y="609"/>
            <a:chExt cx="7515" cy="2006"/>
          </a:xfrm>
        </p:grpSpPr>
        <p:sp>
          <p:nvSpPr>
            <p:cNvPr id="17" name="文本框 16"/>
            <p:cNvSpPr txBox="1"/>
            <p:nvPr/>
          </p:nvSpPr>
          <p:spPr>
            <a:xfrm>
              <a:off x="1518" y="1104"/>
              <a:ext cx="5118" cy="1016"/>
            </a:xfrm>
            <a:prstGeom prst="rect">
              <a:avLst/>
            </a:prstGeom>
            <a:noFill/>
          </p:spPr>
          <p:txBody>
            <a:bodyPr wrap="square" rtlCol="0">
              <a:spAutoFit/>
            </a:bodyPr>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模型训练</a:t>
              </a:r>
              <a:endParaRPr lang="zh-CN" altLang="en-US" sz="3600" b="1">
                <a:gradFill>
                  <a:gsLst>
                    <a:gs pos="0">
                      <a:srgbClr val="6E3DA8"/>
                    </a:gs>
                    <a:gs pos="100000">
                      <a:srgbClr val="0070C0"/>
                    </a:gs>
                  </a:gsLst>
                  <a:lin ang="5400000" scaled="0"/>
                </a:gradFill>
                <a:latin typeface="思源宋体 Heavy" panose="02020900000000000000" charset="-122"/>
                <a:ea typeface="思源宋体 Heavy" panose="02020900000000000000" charset="-122"/>
                <a:cs typeface="思源宋体" panose="02020700000000000000" charset="-122"/>
                <a:sym typeface="+mn-ea"/>
              </a:endParaRPr>
            </a:p>
          </p:txBody>
        </p:sp>
        <p:sp>
          <p:nvSpPr>
            <p:cNvPr id="24" name="椭圆 23"/>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25" name="椭圆 24"/>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932031" y="1607730"/>
            <a:ext cx="10472719" cy="4500351"/>
            <a:chOff x="1003935" y="1304200"/>
            <a:chExt cx="10472719" cy="4500351"/>
          </a:xfrm>
        </p:grpSpPr>
        <p:sp>
          <p:nvSpPr>
            <p:cNvPr id="3" name="文本框 2"/>
            <p:cNvSpPr txBox="1"/>
            <p:nvPr/>
          </p:nvSpPr>
          <p:spPr>
            <a:xfrm>
              <a:off x="1775267" y="1304200"/>
              <a:ext cx="8270694" cy="490596"/>
            </a:xfrm>
            <a:prstGeom prst="rect">
              <a:avLst/>
            </a:prstGeom>
            <a:noFill/>
            <a:ln>
              <a:gradFill>
                <a:gsLst>
                  <a:gs pos="0">
                    <a:schemeClr val="accent4">
                      <a:lumMod val="40000"/>
                      <a:lumOff val="60000"/>
                    </a:schemeClr>
                  </a:gs>
                  <a:gs pos="100000">
                    <a:schemeClr val="accent4">
                      <a:lumMod val="75000"/>
                    </a:schemeClr>
                  </a:gs>
                </a:gsLst>
                <a:lin ang="5400000" scaled="1"/>
              </a:gradFill>
            </a:ln>
          </p:spPr>
          <p:txBody>
            <a:bodyPr wrap="square" rtlCol="0">
              <a:noAutofit/>
            </a:bodyPr>
            <a:lstStyle/>
            <a:p>
              <a:pPr indent="0" fontAlgn="auto">
                <a:lnSpc>
                  <a:spcPct val="125000"/>
                </a:lnSpc>
              </a:pPr>
              <a:r>
                <a:rPr lang="en-US" altLang="zh-CN" dirty="0">
                  <a:latin typeface="Times New Roman" panose="02020603050405020304" pitchFamily="18" charset="0"/>
                  <a:cs typeface="Times New Roman" panose="02020603050405020304" pitchFamily="18" charset="0"/>
                </a:rPr>
                <a:t>print(X_train[0][1], end="\n")            </a:t>
              </a:r>
              <a:r>
                <a:rPr lang="en-US" altLang="zh-CN" dirty="0">
                  <a:latin typeface="Times New Roman" panose="02020603050405020304" pitchFamily="18" charset="0"/>
                  <a:cs typeface="Times New Roman" panose="02020603050405020304" pitchFamily="18" charset="0"/>
                  <a:sym typeface="+mn-ea"/>
                </a:rPr>
                <a:t> # </a:t>
              </a:r>
              <a:r>
                <a:rPr lang="zh-CN" altLang="en-US" dirty="0">
                  <a:latin typeface="Times New Roman" panose="02020603050405020304" pitchFamily="18" charset="0"/>
                  <a:cs typeface="Times New Roman" panose="02020603050405020304" pitchFamily="18" charset="0"/>
                  <a:sym typeface="+mn-ea"/>
                </a:rPr>
                <a:t>打印训练集第一个样本的第二个字符的特征</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1775268" y="2958986"/>
              <a:ext cx="8270693" cy="1180038"/>
            </a:xfrm>
            <a:prstGeom prst="rect">
              <a:avLst/>
            </a:prstGeom>
            <a:noFill/>
            <a:ln>
              <a:gradFill>
                <a:gsLst>
                  <a:gs pos="0">
                    <a:schemeClr val="accent4">
                      <a:lumMod val="40000"/>
                      <a:lumOff val="60000"/>
                    </a:schemeClr>
                  </a:gs>
                  <a:gs pos="100000">
                    <a:schemeClr val="accent4">
                      <a:lumMod val="75000"/>
                    </a:schemeClr>
                  </a:gs>
                </a:gsLst>
                <a:lin ang="5400000" scaled="1"/>
              </a:gradFill>
            </a:ln>
          </p:spPr>
          <p:txBody>
            <a:bodyPr wrap="square" rtlCol="0">
              <a:noAutofit/>
            </a:bodyPr>
            <a:lstStyle/>
            <a:p>
              <a:pPr indent="0" fontAlgn="auto">
                <a:lnSpc>
                  <a:spcPct val="125000"/>
                </a:lnSpc>
              </a:pP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查看转移概率和发射概率</a:t>
              </a:r>
              <a:endParaRPr lang="zh-CN" altLang="en-US"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print('CRF</a:t>
              </a:r>
              <a:r>
                <a:rPr lang="zh-CN" altLang="en-US" dirty="0">
                  <a:latin typeface="Times New Roman" panose="02020603050405020304" pitchFamily="18" charset="0"/>
                  <a:cs typeface="Times New Roman" panose="02020603050405020304" pitchFamily="18" charset="0"/>
                </a:rPr>
                <a:t>转移概率（前</a:t>
              </a: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个）：</a:t>
              </a:r>
              <a:r>
                <a:rPr lang="en-US" altLang="zh-CN" dirty="0">
                  <a:latin typeface="Times New Roman" panose="02020603050405020304" pitchFamily="18" charset="0"/>
                  <a:cs typeface="Times New Roman" panose="02020603050405020304" pitchFamily="18" charset="0"/>
                </a:rPr>
                <a:t>', list(crf_model.transition_features_.items())[:5])</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print('CRF</a:t>
              </a:r>
              <a:r>
                <a:rPr lang="zh-CN" altLang="en-US" dirty="0">
                  <a:latin typeface="Times New Roman" panose="02020603050405020304" pitchFamily="18" charset="0"/>
                  <a:cs typeface="Times New Roman" panose="02020603050405020304" pitchFamily="18" charset="0"/>
                </a:rPr>
                <a:t>发射概率（前</a:t>
              </a: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个）：</a:t>
              </a:r>
              <a:r>
                <a:rPr lang="en-US" altLang="zh-CN" dirty="0">
                  <a:latin typeface="Times New Roman" panose="02020603050405020304" pitchFamily="18" charset="0"/>
                  <a:cs typeface="Times New Roman" panose="02020603050405020304" pitchFamily="18" charset="0"/>
                </a:rPr>
                <a:t>', list(crf_model.state_features_.items())[:5])              </a:t>
              </a:r>
              <a:endParaRPr lang="zh-CN" altLang="en-US"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1003936" y="1915263"/>
              <a:ext cx="10472718" cy="778174"/>
            </a:xfrm>
            <a:prstGeom prst="rect">
              <a:avLst/>
            </a:prstGeom>
            <a:noFill/>
            <a:ln w="28575" cmpd="dbl">
              <a:solidFill>
                <a:srgbClr val="FFC000"/>
              </a:solidFill>
              <a:prstDash val="sysDot"/>
            </a:ln>
          </p:spPr>
          <p:txBody>
            <a:bodyPr wrap="square" rtlCol="0">
              <a:noAutofit/>
            </a:bodyPr>
            <a:lstStyle/>
            <a:p>
              <a:pPr indent="0" fontAlgn="auto">
                <a:lnSpc>
                  <a:spcPct val="125000"/>
                </a:lnSpc>
              </a:pPr>
              <a:r>
                <a:rPr lang="en-US" altLang="zh-CN" dirty="0">
                  <a:latin typeface="Times New Roman" panose="02020603050405020304" pitchFamily="18" charset="0"/>
                  <a:cs typeface="Times New Roman" panose="02020603050405020304" pitchFamily="18" charset="0"/>
                </a:rPr>
                <a:t>{'bias': 1.0, 'word': '</a:t>
              </a:r>
              <a:r>
                <a:rPr lang="zh-CN" altLang="en-US" dirty="0">
                  <a:latin typeface="Times New Roman" panose="02020603050405020304" pitchFamily="18" charset="0"/>
                  <a:cs typeface="Times New Roman" panose="02020603050405020304" pitchFamily="18" charset="0"/>
                </a:rPr>
                <a:t>商</a:t>
              </a:r>
              <a:r>
                <a:rPr lang="en-US" altLang="zh-CN" dirty="0">
                  <a:latin typeface="Times New Roman" panose="02020603050405020304" pitchFamily="18" charset="0"/>
                  <a:cs typeface="Times New Roman" panose="02020603050405020304" pitchFamily="18" charset="0"/>
                </a:rPr>
                <a:t>', 'word.isdigit()': False, 'word.is_english()': False, '-1:word': '</a:t>
              </a:r>
              <a:r>
                <a:rPr lang="zh-CN" altLang="en-US" dirty="0">
                  <a:latin typeface="Times New Roman" panose="02020603050405020304" pitchFamily="18" charset="0"/>
                  <a:cs typeface="Times New Roman" panose="02020603050405020304" pitchFamily="18" charset="0"/>
                </a:rPr>
                <a:t>浙</a:t>
              </a:r>
              <a:r>
                <a:rPr lang="en-US" altLang="zh-CN" dirty="0">
                  <a:latin typeface="Times New Roman" panose="02020603050405020304" pitchFamily="18" charset="0"/>
                  <a:cs typeface="Times New Roman" panose="02020603050405020304" pitchFamily="18" charset="0"/>
                </a:rPr>
                <a:t>', '-1:word.isdigit()': False, '-1:word.is_english()': False, '+1:word': '</a:t>
              </a:r>
              <a:r>
                <a:rPr lang="zh-CN" altLang="en-US" dirty="0">
                  <a:latin typeface="Times New Roman" panose="02020603050405020304" pitchFamily="18" charset="0"/>
                  <a:cs typeface="Times New Roman" panose="02020603050405020304" pitchFamily="18" charset="0"/>
                </a:rPr>
                <a:t>银</a:t>
              </a:r>
              <a:r>
                <a:rPr lang="en-US" altLang="zh-CN" dirty="0">
                  <a:latin typeface="Times New Roman" panose="02020603050405020304" pitchFamily="18" charset="0"/>
                  <a:cs typeface="Times New Roman" panose="02020603050405020304" pitchFamily="18" charset="0"/>
                </a:rPr>
                <a:t>', '+1:word.isdigit()': False, '+1:word.is_english()': False}         </a:t>
              </a:r>
              <a:endParaRPr lang="zh-CN" altLang="en-US"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1003935" y="4270286"/>
              <a:ext cx="10472718" cy="1534265"/>
            </a:xfrm>
            <a:prstGeom prst="rect">
              <a:avLst/>
            </a:prstGeom>
            <a:noFill/>
            <a:ln w="28575" cmpd="dbl">
              <a:solidFill>
                <a:srgbClr val="FFC000"/>
              </a:solidFill>
              <a:prstDash val="sysDot"/>
            </a:ln>
          </p:spPr>
          <p:txBody>
            <a:bodyPr wrap="square" rtlCol="0">
              <a:noAutofit/>
            </a:bodyPr>
            <a:lstStyle/>
            <a:p>
              <a:pPr indent="0" fontAlgn="auto">
                <a:lnSpc>
                  <a:spcPct val="125000"/>
                </a:lnSpc>
              </a:pPr>
              <a:r>
                <a:rPr lang="en-US" altLang="zh-CN" dirty="0">
                  <a:latin typeface="Times New Roman" panose="02020603050405020304" pitchFamily="18" charset="0"/>
                  <a:cs typeface="Times New Roman" panose="02020603050405020304" pitchFamily="18" charset="0"/>
                </a:rPr>
                <a:t>CRF</a:t>
              </a:r>
              <a:r>
                <a:rPr lang="zh-CN" altLang="en-US" dirty="0">
                  <a:latin typeface="Times New Roman" panose="02020603050405020304" pitchFamily="18" charset="0"/>
                  <a:cs typeface="Times New Roman" panose="02020603050405020304" pitchFamily="18" charset="0"/>
                </a:rPr>
                <a:t>转移概率（前</a:t>
              </a: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个）：</a:t>
              </a:r>
              <a:r>
                <a:rPr lang="en-US" altLang="zh-CN" dirty="0">
                  <a:latin typeface="Times New Roman" panose="02020603050405020304" pitchFamily="18" charset="0"/>
                  <a:cs typeface="Times New Roman" panose="02020603050405020304" pitchFamily="18" charset="0"/>
                </a:rPr>
                <a:t> [(('B-company', 'B-company'), -1.436515), (('B-company', 'I-company'), 6.091643), (('B-company', 'O'), -1.133566), (('B-company', 'B-name'), -1.063592), (('B-company', 'I-name'), -2.145088)]</a:t>
              </a:r>
              <a:endParaRPr lang="en-US" altLang="zh-CN" dirty="0">
                <a:latin typeface="Times New Roman" panose="02020603050405020304" pitchFamily="18" charset="0"/>
                <a:cs typeface="Times New Roman" panose="02020603050405020304" pitchFamily="18" charset="0"/>
              </a:endParaRPr>
            </a:p>
            <a:p>
              <a:pPr indent="0" fontAlgn="auto">
                <a:lnSpc>
                  <a:spcPct val="125000"/>
                </a:lnSpc>
              </a:pPr>
              <a:r>
                <a:rPr lang="en-US" altLang="zh-CN" dirty="0">
                  <a:latin typeface="Times New Roman" panose="02020603050405020304" pitchFamily="18" charset="0"/>
                  <a:cs typeface="Times New Roman" panose="02020603050405020304" pitchFamily="18" charset="0"/>
                </a:rPr>
                <a:t>CRF</a:t>
              </a:r>
              <a:r>
                <a:rPr lang="zh-CN" altLang="en-US" dirty="0">
                  <a:latin typeface="Times New Roman" panose="02020603050405020304" pitchFamily="18" charset="0"/>
                  <a:cs typeface="Times New Roman" panose="02020603050405020304" pitchFamily="18" charset="0"/>
                </a:rPr>
                <a:t>发射概率（前</a:t>
              </a:r>
              <a:r>
                <a:rPr lang="en-US" altLang="zh-CN" dirty="0">
                  <a:latin typeface="Times New Roman" panose="02020603050405020304" pitchFamily="18" charset="0"/>
                  <a:cs typeface="Times New Roman" panose="02020603050405020304" pitchFamily="18" charset="0"/>
                </a:rPr>
                <a:t>5</a:t>
              </a:r>
              <a:r>
                <a:rPr lang="zh-CN" altLang="en-US" dirty="0">
                  <a:latin typeface="Times New Roman" panose="02020603050405020304" pitchFamily="18" charset="0"/>
                  <a:cs typeface="Times New Roman" panose="02020603050405020304" pitchFamily="18" charset="0"/>
                </a:rPr>
                <a:t>个）：</a:t>
              </a:r>
              <a:r>
                <a:rPr lang="en-US" altLang="zh-CN" dirty="0">
                  <a:latin typeface="Times New Roman" panose="02020603050405020304" pitchFamily="18" charset="0"/>
                  <a:cs typeface="Times New Roman" panose="02020603050405020304" pitchFamily="18" charset="0"/>
                </a:rPr>
                <a:t> [(('bias', 'B-company'), -0.381125), (('bias', 'I-company'), 0.763059), (('bias', 'O'), 1.505824), (('bias', 'B-name'), -0.446022), (('bias', 'I-name'), 0.582749)]</a:t>
              </a:r>
              <a:endParaRPr lang="en-US" altLang="zh-CN" dirty="0">
                <a:latin typeface="Times New Roman" panose="02020603050405020304" pitchFamily="18" charset="0"/>
                <a:cs typeface="Times New Roman" panose="02020603050405020304" pitchFamily="18" charset="0"/>
              </a:endParaRPr>
            </a:p>
          </p:txBody>
        </p:sp>
      </p:grpSp>
      <p:grpSp>
        <p:nvGrpSpPr>
          <p:cNvPr id="9" name="组合 8"/>
          <p:cNvGrpSpPr/>
          <p:nvPr/>
        </p:nvGrpSpPr>
        <p:grpSpPr>
          <a:xfrm>
            <a:off x="-558165" y="386715"/>
            <a:ext cx="4772025" cy="1273810"/>
            <a:chOff x="-879" y="609"/>
            <a:chExt cx="7515" cy="2006"/>
          </a:xfrm>
        </p:grpSpPr>
        <p:sp>
          <p:nvSpPr>
            <p:cNvPr id="17" name="文本框 16"/>
            <p:cNvSpPr txBox="1"/>
            <p:nvPr/>
          </p:nvSpPr>
          <p:spPr>
            <a:xfrm>
              <a:off x="1518" y="1104"/>
              <a:ext cx="5118" cy="1016"/>
            </a:xfrm>
            <a:prstGeom prst="rect">
              <a:avLst/>
            </a:prstGeom>
            <a:noFill/>
          </p:spPr>
          <p:txBody>
            <a:bodyPr wrap="square" rtlCol="0">
              <a:spAutoFit/>
            </a:bodyPr>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输出结果</a:t>
              </a:r>
              <a:r>
                <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1</a:t>
              </a:r>
              <a:endPar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24" name="椭圆 23"/>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25" name="椭圆 24"/>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1090930" y="1848485"/>
            <a:ext cx="10059670" cy="3605530"/>
            <a:chOff x="1718" y="2911"/>
            <a:chExt cx="15842" cy="5678"/>
          </a:xfrm>
        </p:grpSpPr>
        <p:sp>
          <p:nvSpPr>
            <p:cNvPr id="93" name="Rounded Rectangle 36"/>
            <p:cNvSpPr/>
            <p:nvPr>
              <p:custDataLst>
                <p:tags r:id="rId2"/>
              </p:custDataLst>
            </p:nvPr>
          </p:nvSpPr>
          <p:spPr>
            <a:xfrm>
              <a:off x="13987" y="3430"/>
              <a:ext cx="3573" cy="5159"/>
            </a:xfrm>
            <a:prstGeom prst="roundRect">
              <a:avLst>
                <a:gd name="adj" fmla="val 4016"/>
              </a:avLst>
            </a:prstGeom>
            <a:solidFill>
              <a:srgbClr val="FFFFFF"/>
            </a:solidFill>
            <a:ln w="3175" cap="flat" cmpd="sng" algn="ctr">
              <a:solidFill>
                <a:srgbClr val="FFFFFF">
                  <a:lumMod val="85000"/>
                </a:srgbClr>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74" name="Rounded Rectangle 3"/>
            <p:cNvSpPr/>
            <p:nvPr>
              <p:custDataLst>
                <p:tags r:id="rId3"/>
              </p:custDataLst>
            </p:nvPr>
          </p:nvSpPr>
          <p:spPr>
            <a:xfrm>
              <a:off x="1719" y="3430"/>
              <a:ext cx="3573" cy="5159"/>
            </a:xfrm>
            <a:prstGeom prst="roundRect">
              <a:avLst>
                <a:gd name="adj" fmla="val 4016"/>
              </a:avLst>
            </a:prstGeom>
            <a:solidFill>
              <a:srgbClr val="FFFFFF"/>
            </a:solidFill>
            <a:ln w="3175" cap="flat" cmpd="sng" algn="ctr">
              <a:solidFill>
                <a:srgbClr val="FFFFFF">
                  <a:lumMod val="85000"/>
                </a:srgbClr>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75" name="Rectangle 11"/>
            <p:cNvSpPr/>
            <p:nvPr>
              <p:custDataLst>
                <p:tags r:id="rId4"/>
              </p:custDataLst>
            </p:nvPr>
          </p:nvSpPr>
          <p:spPr>
            <a:xfrm>
              <a:off x="1718" y="4116"/>
              <a:ext cx="3573" cy="720"/>
            </a:xfrm>
            <a:prstGeom prst="rect">
              <a:avLst/>
            </a:prstGeom>
            <a:gradFill>
              <a:gsLst>
                <a:gs pos="0">
                  <a:srgbClr val="F1BD59"/>
                </a:gs>
                <a:gs pos="100000">
                  <a:schemeClr val="accent4">
                    <a:lumMod val="75000"/>
                  </a:schemeClr>
                </a:gs>
              </a:gsLst>
              <a:lin ang="5400000" scaled="0"/>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76" name="TextBox 4"/>
            <p:cNvSpPr txBox="1"/>
            <p:nvPr/>
          </p:nvSpPr>
          <p:spPr>
            <a:xfrm>
              <a:off x="3360" y="3690"/>
              <a:ext cx="291" cy="364"/>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900" b="1" i="0" u="none" strike="noStrike" kern="0" cap="none" spc="0" normalizeH="0" baseline="0" noProof="0" dirty="0">
                <a:ln>
                  <a:noFill/>
                </a:ln>
                <a:solidFill>
                  <a:srgbClr val="000000">
                    <a:lumMod val="85000"/>
                    <a:lumOff val="15000"/>
                  </a:srgbClr>
                </a:solidFill>
                <a:effectLst/>
                <a:uLnTx/>
                <a:uFillTx/>
                <a:latin typeface="思源宋体" panose="02020700000000000000" charset="-122"/>
                <a:ea typeface="思源宋体" panose="02020700000000000000" charset="-122"/>
                <a:cs typeface="+mn-ea"/>
                <a:sym typeface="+mn-lt"/>
              </a:endParaRPr>
            </a:p>
          </p:txBody>
        </p:sp>
        <p:sp>
          <p:nvSpPr>
            <p:cNvPr id="77" name="Rectangle 19"/>
            <p:cNvSpPr/>
            <p:nvPr>
              <p:custDataLst>
                <p:tags r:id="rId5"/>
              </p:custDataLst>
            </p:nvPr>
          </p:nvSpPr>
          <p:spPr>
            <a:xfrm>
              <a:off x="1779" y="5065"/>
              <a:ext cx="3511" cy="30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5000"/>
                </a:lnSpc>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认为在没有其他特征时，标记为</a:t>
              </a:r>
              <a:r>
                <a:rPr lang="en-US" altLang="zh-CN" sz="1600" dirty="0">
                  <a:latin typeface="Times New Roman" panose="02020603050405020304" pitchFamily="18" charset="0"/>
                  <a:cs typeface="Times New Roman" panose="02020603050405020304" pitchFamily="18" charset="0"/>
                  <a:sym typeface="+mn-ea"/>
                </a:rPr>
                <a:t>B-company</a:t>
              </a:r>
              <a:r>
                <a:rPr lang="zh-CN" altLang="en-US" sz="1600" dirty="0">
                  <a:latin typeface="Times New Roman" panose="02020603050405020304" pitchFamily="18" charset="0"/>
                  <a:cs typeface="Times New Roman" panose="02020603050405020304" pitchFamily="18" charset="0"/>
                  <a:sym typeface="+mn-ea"/>
                </a:rPr>
                <a:t>的倾向性为负；</a:t>
              </a:r>
              <a:endParaRPr lang="en-US" altLang="zh-CN" sz="1600" dirty="0">
                <a:latin typeface="Times New Roman" panose="02020603050405020304" pitchFamily="18" charset="0"/>
                <a:cs typeface="Times New Roman" panose="02020603050405020304" pitchFamily="18" charset="0"/>
              </a:endParaRPr>
            </a:p>
            <a:p>
              <a:pPr indent="0" fontAlgn="auto">
                <a:lnSpc>
                  <a:spcPct val="125000"/>
                </a:lnSpc>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默认情况下，系统不太倾向于将词标记为公司名开头</a:t>
              </a:r>
              <a:endParaRPr kumimoji="0" lang="zh-CN" altLang="en-US" sz="1600" b="0" i="0" u="none" strike="noStrike" kern="0" cap="none" spc="0" normalizeH="0" baseline="0" noProof="0" dirty="0">
                <a:ln>
                  <a:noFill/>
                </a:ln>
                <a:solidFill>
                  <a:srgbClr val="000000">
                    <a:lumMod val="75000"/>
                    <a:lumOff val="25000"/>
                  </a:srgbClr>
                </a:solidFill>
                <a:effectLst/>
                <a:uLnTx/>
                <a:uFillTx/>
                <a:latin typeface="Times New Roman" panose="02020603050405020304" pitchFamily="18" charset="0"/>
                <a:ea typeface="思源宋体" panose="02020700000000000000" charset="-122"/>
                <a:cs typeface="Times New Roman" panose="02020603050405020304" pitchFamily="18" charset="0"/>
                <a:sym typeface="+mn-ea"/>
              </a:endParaRPr>
            </a:p>
          </p:txBody>
        </p:sp>
        <p:sp>
          <p:nvSpPr>
            <p:cNvPr id="78" name="TextBox 7"/>
            <p:cNvSpPr txBox="1"/>
            <p:nvPr>
              <p:custDataLst>
                <p:tags r:id="rId6"/>
              </p:custDataLst>
            </p:nvPr>
          </p:nvSpPr>
          <p:spPr>
            <a:xfrm>
              <a:off x="1719" y="4186"/>
              <a:ext cx="3646" cy="53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1600" dirty="0">
                  <a:solidFill>
                    <a:schemeClr val="bg1"/>
                  </a:solidFill>
                  <a:latin typeface="Times New Roman" panose="02020603050405020304" pitchFamily="18" charset="0"/>
                  <a:cs typeface="Times New Roman" panose="02020603050405020304" pitchFamily="18" charset="0"/>
                  <a:sym typeface="+mn-ea"/>
                </a:rPr>
                <a:t>('B-company',  -0.381125)</a:t>
              </a:r>
              <a:endParaRPr lang="en-US" altLang="zh-CN" sz="1600" b="1" kern="0" dirty="0">
                <a:solidFill>
                  <a:schemeClr val="bg1"/>
                </a:solidFill>
                <a:latin typeface="Times New Roman" panose="02020603050405020304" pitchFamily="18" charset="0"/>
                <a:ea typeface="思源宋体 Heavy" panose="02020900000000000000" charset="-122"/>
                <a:cs typeface="Times New Roman" panose="02020603050405020304" pitchFamily="18" charset="0"/>
                <a:sym typeface="+mn-ea"/>
              </a:endParaRPr>
            </a:p>
          </p:txBody>
        </p:sp>
        <p:sp>
          <p:nvSpPr>
            <p:cNvPr id="79" name="Freeform 44"/>
            <p:cNvSpPr/>
            <p:nvPr>
              <p:custDataLst>
                <p:tags r:id="rId7"/>
              </p:custDataLst>
            </p:nvPr>
          </p:nvSpPr>
          <p:spPr>
            <a:xfrm>
              <a:off x="2959" y="2911"/>
              <a:ext cx="977" cy="976"/>
            </a:xfrm>
            <a:custGeom>
              <a:avLst/>
              <a:gdLst>
                <a:gd name="connsiteX0" fmla="*/ 302902 w 605874"/>
                <a:gd name="connsiteY0" fmla="*/ 455288 h 604957"/>
                <a:gd name="connsiteX1" fmla="*/ 331728 w 605874"/>
                <a:gd name="connsiteY1" fmla="*/ 484079 h 604957"/>
                <a:gd name="connsiteX2" fmla="*/ 302902 w 605874"/>
                <a:gd name="connsiteY2" fmla="*/ 512870 h 604957"/>
                <a:gd name="connsiteX3" fmla="*/ 274076 w 605874"/>
                <a:gd name="connsiteY3" fmla="*/ 484079 h 604957"/>
                <a:gd name="connsiteX4" fmla="*/ 302902 w 605874"/>
                <a:gd name="connsiteY4" fmla="*/ 455288 h 604957"/>
                <a:gd name="connsiteX5" fmla="*/ 472611 w 605874"/>
                <a:gd name="connsiteY5" fmla="*/ 277957 h 604957"/>
                <a:gd name="connsiteX6" fmla="*/ 501437 w 605874"/>
                <a:gd name="connsiteY6" fmla="*/ 306748 h 604957"/>
                <a:gd name="connsiteX7" fmla="*/ 472611 w 605874"/>
                <a:gd name="connsiteY7" fmla="*/ 335539 h 604957"/>
                <a:gd name="connsiteX8" fmla="*/ 443785 w 605874"/>
                <a:gd name="connsiteY8" fmla="*/ 306748 h 604957"/>
                <a:gd name="connsiteX9" fmla="*/ 472611 w 605874"/>
                <a:gd name="connsiteY9" fmla="*/ 277957 h 604957"/>
                <a:gd name="connsiteX10" fmla="*/ 129276 w 605874"/>
                <a:gd name="connsiteY10" fmla="*/ 277957 h 604957"/>
                <a:gd name="connsiteX11" fmla="*/ 158067 w 605874"/>
                <a:gd name="connsiteY11" fmla="*/ 306748 h 604957"/>
                <a:gd name="connsiteX12" fmla="*/ 129276 w 605874"/>
                <a:gd name="connsiteY12" fmla="*/ 335539 h 604957"/>
                <a:gd name="connsiteX13" fmla="*/ 100485 w 605874"/>
                <a:gd name="connsiteY13" fmla="*/ 306748 h 604957"/>
                <a:gd name="connsiteX14" fmla="*/ 129276 w 605874"/>
                <a:gd name="connsiteY14" fmla="*/ 277957 h 604957"/>
                <a:gd name="connsiteX15" fmla="*/ 302407 w 605874"/>
                <a:gd name="connsiteY15" fmla="*/ 189186 h 604957"/>
                <a:gd name="connsiteX16" fmla="*/ 318389 w 605874"/>
                <a:gd name="connsiteY16" fmla="*/ 205154 h 604957"/>
                <a:gd name="connsiteX17" fmla="*/ 318389 w 605874"/>
                <a:gd name="connsiteY17" fmla="*/ 305796 h 604957"/>
                <a:gd name="connsiteX18" fmla="*/ 394779 w 605874"/>
                <a:gd name="connsiteY18" fmla="*/ 305796 h 604957"/>
                <a:gd name="connsiteX19" fmla="*/ 410761 w 605874"/>
                <a:gd name="connsiteY19" fmla="*/ 321617 h 604957"/>
                <a:gd name="connsiteX20" fmla="*/ 394779 w 605874"/>
                <a:gd name="connsiteY20" fmla="*/ 337585 h 604957"/>
                <a:gd name="connsiteX21" fmla="*/ 302407 w 605874"/>
                <a:gd name="connsiteY21" fmla="*/ 337585 h 604957"/>
                <a:gd name="connsiteX22" fmla="*/ 286425 w 605874"/>
                <a:gd name="connsiteY22" fmla="*/ 321617 h 604957"/>
                <a:gd name="connsiteX23" fmla="*/ 286425 w 605874"/>
                <a:gd name="connsiteY23" fmla="*/ 205154 h 604957"/>
                <a:gd name="connsiteX24" fmla="*/ 302407 w 605874"/>
                <a:gd name="connsiteY24" fmla="*/ 189186 h 604957"/>
                <a:gd name="connsiteX25" fmla="*/ 302902 w 605874"/>
                <a:gd name="connsiteY25" fmla="*/ 92088 h 604957"/>
                <a:gd name="connsiteX26" fmla="*/ 331728 w 605874"/>
                <a:gd name="connsiteY26" fmla="*/ 120879 h 604957"/>
                <a:gd name="connsiteX27" fmla="*/ 302902 w 605874"/>
                <a:gd name="connsiteY27" fmla="*/ 149670 h 604957"/>
                <a:gd name="connsiteX28" fmla="*/ 274076 w 605874"/>
                <a:gd name="connsiteY28" fmla="*/ 120879 h 604957"/>
                <a:gd name="connsiteX29" fmla="*/ 302902 w 605874"/>
                <a:gd name="connsiteY29" fmla="*/ 92088 h 604957"/>
                <a:gd name="connsiteX30" fmla="*/ 302864 w 605874"/>
                <a:gd name="connsiteY30" fmla="*/ 74393 h 604957"/>
                <a:gd name="connsiteX31" fmla="*/ 74506 w 605874"/>
                <a:gd name="connsiteY31" fmla="*/ 302406 h 604957"/>
                <a:gd name="connsiteX32" fmla="*/ 302864 w 605874"/>
                <a:gd name="connsiteY32" fmla="*/ 530564 h 604957"/>
                <a:gd name="connsiteX33" fmla="*/ 531368 w 605874"/>
                <a:gd name="connsiteY33" fmla="*/ 302406 h 604957"/>
                <a:gd name="connsiteX34" fmla="*/ 302864 w 605874"/>
                <a:gd name="connsiteY34" fmla="*/ 74393 h 604957"/>
                <a:gd name="connsiteX35" fmla="*/ 302864 w 605874"/>
                <a:gd name="connsiteY35" fmla="*/ 0 h 604957"/>
                <a:gd name="connsiteX36" fmla="*/ 605874 w 605874"/>
                <a:gd name="connsiteY36" fmla="*/ 302406 h 604957"/>
                <a:gd name="connsiteX37" fmla="*/ 302864 w 605874"/>
                <a:gd name="connsiteY37" fmla="*/ 604957 h 604957"/>
                <a:gd name="connsiteX38" fmla="*/ 0 w 605874"/>
                <a:gd name="connsiteY38" fmla="*/ 302406 h 604957"/>
                <a:gd name="connsiteX39" fmla="*/ 302864 w 605874"/>
                <a:gd name="connsiteY39" fmla="*/ 0 h 60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5874" h="604957">
                  <a:moveTo>
                    <a:pt x="302902" y="455288"/>
                  </a:moveTo>
                  <a:cubicBezTo>
                    <a:pt x="318822" y="455288"/>
                    <a:pt x="331728" y="468178"/>
                    <a:pt x="331728" y="484079"/>
                  </a:cubicBezTo>
                  <a:cubicBezTo>
                    <a:pt x="331728" y="499980"/>
                    <a:pt x="318822" y="512870"/>
                    <a:pt x="302902" y="512870"/>
                  </a:cubicBezTo>
                  <a:cubicBezTo>
                    <a:pt x="286982" y="512870"/>
                    <a:pt x="274076" y="499980"/>
                    <a:pt x="274076" y="484079"/>
                  </a:cubicBezTo>
                  <a:cubicBezTo>
                    <a:pt x="274076" y="468178"/>
                    <a:pt x="286982" y="455288"/>
                    <a:pt x="302902" y="455288"/>
                  </a:cubicBezTo>
                  <a:close/>
                  <a:moveTo>
                    <a:pt x="472611" y="277957"/>
                  </a:moveTo>
                  <a:cubicBezTo>
                    <a:pt x="488531" y="277957"/>
                    <a:pt x="501437" y="290847"/>
                    <a:pt x="501437" y="306748"/>
                  </a:cubicBezTo>
                  <a:cubicBezTo>
                    <a:pt x="501437" y="322649"/>
                    <a:pt x="488531" y="335539"/>
                    <a:pt x="472611" y="335539"/>
                  </a:cubicBezTo>
                  <a:cubicBezTo>
                    <a:pt x="456691" y="335539"/>
                    <a:pt x="443785" y="322649"/>
                    <a:pt x="443785" y="306748"/>
                  </a:cubicBezTo>
                  <a:cubicBezTo>
                    <a:pt x="443785" y="290847"/>
                    <a:pt x="456691" y="277957"/>
                    <a:pt x="472611" y="277957"/>
                  </a:cubicBezTo>
                  <a:close/>
                  <a:moveTo>
                    <a:pt x="129276" y="277957"/>
                  </a:moveTo>
                  <a:cubicBezTo>
                    <a:pt x="145177" y="277957"/>
                    <a:pt x="158067" y="290847"/>
                    <a:pt x="158067" y="306748"/>
                  </a:cubicBezTo>
                  <a:cubicBezTo>
                    <a:pt x="158067" y="322649"/>
                    <a:pt x="145177" y="335539"/>
                    <a:pt x="129276" y="335539"/>
                  </a:cubicBezTo>
                  <a:cubicBezTo>
                    <a:pt x="113375" y="335539"/>
                    <a:pt x="100485" y="322649"/>
                    <a:pt x="100485" y="306748"/>
                  </a:cubicBezTo>
                  <a:cubicBezTo>
                    <a:pt x="100485" y="290847"/>
                    <a:pt x="113375" y="277957"/>
                    <a:pt x="129276" y="277957"/>
                  </a:cubicBezTo>
                  <a:close/>
                  <a:moveTo>
                    <a:pt x="302407" y="189186"/>
                  </a:moveTo>
                  <a:cubicBezTo>
                    <a:pt x="311204" y="189186"/>
                    <a:pt x="318389" y="196218"/>
                    <a:pt x="318389" y="205154"/>
                  </a:cubicBezTo>
                  <a:lnTo>
                    <a:pt x="318389" y="305796"/>
                  </a:lnTo>
                  <a:lnTo>
                    <a:pt x="394779" y="305796"/>
                  </a:lnTo>
                  <a:cubicBezTo>
                    <a:pt x="403576" y="305796"/>
                    <a:pt x="410761" y="312828"/>
                    <a:pt x="410761" y="321617"/>
                  </a:cubicBezTo>
                  <a:cubicBezTo>
                    <a:pt x="410761" y="330554"/>
                    <a:pt x="403576" y="337585"/>
                    <a:pt x="394779" y="337585"/>
                  </a:cubicBezTo>
                  <a:lnTo>
                    <a:pt x="302407" y="337585"/>
                  </a:lnTo>
                  <a:cubicBezTo>
                    <a:pt x="293610" y="337585"/>
                    <a:pt x="286425" y="330554"/>
                    <a:pt x="286425" y="321617"/>
                  </a:cubicBezTo>
                  <a:lnTo>
                    <a:pt x="286425" y="205154"/>
                  </a:lnTo>
                  <a:cubicBezTo>
                    <a:pt x="286425" y="196218"/>
                    <a:pt x="293610" y="189186"/>
                    <a:pt x="302407" y="189186"/>
                  </a:cubicBezTo>
                  <a:close/>
                  <a:moveTo>
                    <a:pt x="302902" y="92088"/>
                  </a:moveTo>
                  <a:cubicBezTo>
                    <a:pt x="318822" y="92088"/>
                    <a:pt x="331728" y="104978"/>
                    <a:pt x="331728" y="120879"/>
                  </a:cubicBezTo>
                  <a:cubicBezTo>
                    <a:pt x="331728" y="136780"/>
                    <a:pt x="318822" y="149670"/>
                    <a:pt x="302902" y="149670"/>
                  </a:cubicBezTo>
                  <a:cubicBezTo>
                    <a:pt x="286982" y="149670"/>
                    <a:pt x="274076" y="136780"/>
                    <a:pt x="274076" y="120879"/>
                  </a:cubicBezTo>
                  <a:cubicBezTo>
                    <a:pt x="274076" y="104978"/>
                    <a:pt x="286982" y="92088"/>
                    <a:pt x="302902" y="92088"/>
                  </a:cubicBezTo>
                  <a:close/>
                  <a:moveTo>
                    <a:pt x="302864" y="74393"/>
                  </a:moveTo>
                  <a:cubicBezTo>
                    <a:pt x="176878" y="74393"/>
                    <a:pt x="74506" y="176757"/>
                    <a:pt x="74506" y="302406"/>
                  </a:cubicBezTo>
                  <a:cubicBezTo>
                    <a:pt x="74506" y="428200"/>
                    <a:pt x="176878" y="530564"/>
                    <a:pt x="302864" y="530564"/>
                  </a:cubicBezTo>
                  <a:cubicBezTo>
                    <a:pt x="428849" y="530564"/>
                    <a:pt x="531368" y="428200"/>
                    <a:pt x="531368" y="302406"/>
                  </a:cubicBezTo>
                  <a:cubicBezTo>
                    <a:pt x="531368" y="176610"/>
                    <a:pt x="428849" y="74393"/>
                    <a:pt x="302864" y="74393"/>
                  </a:cubicBezTo>
                  <a:close/>
                  <a:moveTo>
                    <a:pt x="302864" y="0"/>
                  </a:moveTo>
                  <a:cubicBezTo>
                    <a:pt x="469915" y="0"/>
                    <a:pt x="605874" y="135753"/>
                    <a:pt x="605874" y="302406"/>
                  </a:cubicBezTo>
                  <a:cubicBezTo>
                    <a:pt x="605874" y="469204"/>
                    <a:pt x="469915" y="604957"/>
                    <a:pt x="302864" y="604957"/>
                  </a:cubicBezTo>
                  <a:cubicBezTo>
                    <a:pt x="135959" y="604957"/>
                    <a:pt x="0" y="469204"/>
                    <a:pt x="0" y="302406"/>
                  </a:cubicBezTo>
                  <a:cubicBezTo>
                    <a:pt x="0" y="135753"/>
                    <a:pt x="135959" y="0"/>
                    <a:pt x="302864" y="0"/>
                  </a:cubicBezTo>
                  <a:close/>
                </a:path>
              </a:pathLst>
            </a:custGeom>
            <a:gradFill>
              <a:gsLst>
                <a:gs pos="0">
                  <a:srgbClr val="F1BD59"/>
                </a:gs>
                <a:gs pos="100000">
                  <a:schemeClr val="accent4">
                    <a:lumMod val="75000"/>
                  </a:schemeClr>
                </a:gs>
              </a:gsLst>
              <a:lin ang="5400000" scaled="0"/>
            </a:gradFill>
            <a:ln>
              <a:noFill/>
            </a:ln>
            <a:effectLst/>
          </p:spPr>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思源宋体" panose="02020700000000000000" charset="-122"/>
                <a:ea typeface="思源宋体" panose="02020700000000000000" charset="-122"/>
                <a:cs typeface="+mn-ea"/>
                <a:sym typeface="+mn-lt"/>
              </a:endParaRPr>
            </a:p>
          </p:txBody>
        </p:sp>
        <p:sp>
          <p:nvSpPr>
            <p:cNvPr id="81" name="Rounded Rectangle 24"/>
            <p:cNvSpPr/>
            <p:nvPr>
              <p:custDataLst>
                <p:tags r:id="rId8"/>
              </p:custDataLst>
            </p:nvPr>
          </p:nvSpPr>
          <p:spPr>
            <a:xfrm>
              <a:off x="5809" y="3430"/>
              <a:ext cx="3573" cy="5159"/>
            </a:xfrm>
            <a:prstGeom prst="roundRect">
              <a:avLst>
                <a:gd name="adj" fmla="val 4016"/>
              </a:avLst>
            </a:prstGeom>
            <a:solidFill>
              <a:srgbClr val="FFFFFF"/>
            </a:solidFill>
            <a:ln w="3175" cap="flat" cmpd="sng" algn="ctr">
              <a:solidFill>
                <a:srgbClr val="FFFFFF">
                  <a:lumMod val="85000"/>
                </a:srgbClr>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82" name="Rectangle 25"/>
            <p:cNvSpPr/>
            <p:nvPr>
              <p:custDataLst>
                <p:tags r:id="rId9"/>
              </p:custDataLst>
            </p:nvPr>
          </p:nvSpPr>
          <p:spPr>
            <a:xfrm>
              <a:off x="5809" y="4133"/>
              <a:ext cx="3573" cy="720"/>
            </a:xfrm>
            <a:prstGeom prst="rect">
              <a:avLst/>
            </a:prstGeom>
            <a:gradFill>
              <a:gsLst>
                <a:gs pos="0">
                  <a:srgbClr val="F1BD59"/>
                </a:gs>
                <a:gs pos="100000">
                  <a:schemeClr val="accent4">
                    <a:lumMod val="75000"/>
                  </a:schemeClr>
                </a:gs>
              </a:gsLst>
              <a:lin ang="5400000" scaled="0"/>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84" name="TextBox 29"/>
            <p:cNvSpPr txBox="1"/>
            <p:nvPr>
              <p:custDataLst>
                <p:tags r:id="rId10"/>
              </p:custDataLst>
            </p:nvPr>
          </p:nvSpPr>
          <p:spPr>
            <a:xfrm>
              <a:off x="5843" y="4234"/>
              <a:ext cx="4089" cy="5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1600" dirty="0">
                  <a:solidFill>
                    <a:schemeClr val="bg1"/>
                  </a:solidFill>
                  <a:latin typeface="Times New Roman" panose="02020603050405020304" pitchFamily="18" charset="0"/>
                  <a:cs typeface="Times New Roman" panose="02020603050405020304" pitchFamily="18" charset="0"/>
                  <a:sym typeface="+mn-ea"/>
                </a:rPr>
                <a:t>('I-co</a:t>
              </a:r>
              <a:r>
                <a:rPr lang="en-US" altLang="zh-CN" sz="1600" dirty="0">
                  <a:solidFill>
                    <a:schemeClr val="bg1"/>
                  </a:solidFill>
                  <a:latin typeface="Times New Roman" panose="02020603050405020304" pitchFamily="18" charset="0"/>
                  <a:cs typeface="Times New Roman" panose="02020603050405020304" pitchFamily="18" charset="0"/>
                  <a:sym typeface="+mn-ea"/>
                </a:rPr>
                <a:t>mpany',  0.763059)</a:t>
              </a:r>
              <a:endParaRPr lang="en-US" altLang="zh-CN" sz="1600" b="1" kern="0" dirty="0">
                <a:solidFill>
                  <a:schemeClr val="bg1"/>
                </a:solidFill>
                <a:latin typeface="Times New Roman" panose="02020603050405020304" pitchFamily="18" charset="0"/>
                <a:ea typeface="思源宋体 Heavy" panose="02020900000000000000" charset="-122"/>
                <a:cs typeface="Times New Roman" panose="02020603050405020304" pitchFamily="18" charset="0"/>
                <a:sym typeface="+mn-ea"/>
              </a:endParaRPr>
            </a:p>
          </p:txBody>
        </p:sp>
        <p:sp>
          <p:nvSpPr>
            <p:cNvPr id="85" name="Freeform 46"/>
            <p:cNvSpPr/>
            <p:nvPr>
              <p:custDataLst>
                <p:tags r:id="rId11"/>
              </p:custDataLst>
            </p:nvPr>
          </p:nvSpPr>
          <p:spPr>
            <a:xfrm>
              <a:off x="7110" y="2911"/>
              <a:ext cx="971" cy="914"/>
            </a:xfrm>
            <a:custGeom>
              <a:avLst/>
              <a:gdLst>
                <a:gd name="connsiteX0" fmla="*/ 184306 w 598254"/>
                <a:gd name="connsiteY0" fmla="*/ 64012 h 562676"/>
                <a:gd name="connsiteX1" fmla="*/ 304936 w 598254"/>
                <a:gd name="connsiteY1" fmla="*/ 356461 h 562676"/>
                <a:gd name="connsiteX2" fmla="*/ 401974 w 598254"/>
                <a:gd name="connsiteY2" fmla="*/ 225792 h 562676"/>
                <a:gd name="connsiteX3" fmla="*/ 492781 w 598254"/>
                <a:gd name="connsiteY3" fmla="*/ 322682 h 562676"/>
                <a:gd name="connsiteX4" fmla="*/ 588038 w 598254"/>
                <a:gd name="connsiteY4" fmla="*/ 119124 h 562676"/>
                <a:gd name="connsiteX5" fmla="*/ 588038 w 598254"/>
                <a:gd name="connsiteY5" fmla="*/ 526241 h 562676"/>
                <a:gd name="connsiteX6" fmla="*/ 36078 w 598254"/>
                <a:gd name="connsiteY6" fmla="*/ 526241 h 562676"/>
                <a:gd name="connsiteX7" fmla="*/ 36078 w 598254"/>
                <a:gd name="connsiteY7" fmla="*/ 178680 h 562676"/>
                <a:gd name="connsiteX8" fmla="*/ 8902 w 598254"/>
                <a:gd name="connsiteY8" fmla="*/ 0 h 562676"/>
                <a:gd name="connsiteX9" fmla="*/ 17805 w 598254"/>
                <a:gd name="connsiteY9" fmla="*/ 8889 h 562676"/>
                <a:gd name="connsiteX10" fmla="*/ 17805 w 598254"/>
                <a:gd name="connsiteY10" fmla="*/ 544898 h 562676"/>
                <a:gd name="connsiteX11" fmla="*/ 589352 w 598254"/>
                <a:gd name="connsiteY11" fmla="*/ 544898 h 562676"/>
                <a:gd name="connsiteX12" fmla="*/ 598254 w 598254"/>
                <a:gd name="connsiteY12" fmla="*/ 553787 h 562676"/>
                <a:gd name="connsiteX13" fmla="*/ 589352 w 598254"/>
                <a:gd name="connsiteY13" fmla="*/ 562676 h 562676"/>
                <a:gd name="connsiteX14" fmla="*/ 8902 w 598254"/>
                <a:gd name="connsiteY14" fmla="*/ 562676 h 562676"/>
                <a:gd name="connsiteX15" fmla="*/ 0 w 598254"/>
                <a:gd name="connsiteY15" fmla="*/ 553787 h 562676"/>
                <a:gd name="connsiteX16" fmla="*/ 0 w 598254"/>
                <a:gd name="connsiteY16" fmla="*/ 8889 h 562676"/>
                <a:gd name="connsiteX17" fmla="*/ 8902 w 598254"/>
                <a:gd name="connsiteY17" fmla="*/ 0 h 562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98254" h="562676">
                  <a:moveTo>
                    <a:pt x="184306" y="64012"/>
                  </a:moveTo>
                  <a:lnTo>
                    <a:pt x="304936" y="356461"/>
                  </a:lnTo>
                  <a:lnTo>
                    <a:pt x="401974" y="225792"/>
                  </a:lnTo>
                  <a:lnTo>
                    <a:pt x="492781" y="322682"/>
                  </a:lnTo>
                  <a:lnTo>
                    <a:pt x="588038" y="119124"/>
                  </a:lnTo>
                  <a:lnTo>
                    <a:pt x="588038" y="526241"/>
                  </a:lnTo>
                  <a:lnTo>
                    <a:pt x="36078" y="526241"/>
                  </a:lnTo>
                  <a:lnTo>
                    <a:pt x="36078" y="178680"/>
                  </a:lnTo>
                  <a:close/>
                  <a:moveTo>
                    <a:pt x="8902" y="0"/>
                  </a:moveTo>
                  <a:cubicBezTo>
                    <a:pt x="13799" y="0"/>
                    <a:pt x="17805" y="4000"/>
                    <a:pt x="17805" y="8889"/>
                  </a:cubicBezTo>
                  <a:lnTo>
                    <a:pt x="17805" y="544898"/>
                  </a:lnTo>
                  <a:lnTo>
                    <a:pt x="589352" y="544898"/>
                  </a:lnTo>
                  <a:cubicBezTo>
                    <a:pt x="594248" y="544898"/>
                    <a:pt x="598254" y="548898"/>
                    <a:pt x="598254" y="553787"/>
                  </a:cubicBezTo>
                  <a:cubicBezTo>
                    <a:pt x="598254" y="558676"/>
                    <a:pt x="594248" y="562676"/>
                    <a:pt x="589352" y="562676"/>
                  </a:cubicBezTo>
                  <a:lnTo>
                    <a:pt x="8902" y="562676"/>
                  </a:lnTo>
                  <a:cubicBezTo>
                    <a:pt x="4006" y="562676"/>
                    <a:pt x="0" y="558676"/>
                    <a:pt x="0" y="553787"/>
                  </a:cubicBezTo>
                  <a:lnTo>
                    <a:pt x="0" y="8889"/>
                  </a:lnTo>
                  <a:cubicBezTo>
                    <a:pt x="0" y="4000"/>
                    <a:pt x="4006" y="0"/>
                    <a:pt x="8902" y="0"/>
                  </a:cubicBezTo>
                  <a:close/>
                </a:path>
              </a:pathLst>
            </a:custGeom>
            <a:gradFill>
              <a:gsLst>
                <a:gs pos="0">
                  <a:srgbClr val="F1BD59"/>
                </a:gs>
                <a:gs pos="100000">
                  <a:schemeClr val="accent4">
                    <a:lumMod val="75000"/>
                  </a:schemeClr>
                </a:gs>
              </a:gsLst>
              <a:lin ang="5400000" scaled="0"/>
            </a:gradFill>
            <a:ln>
              <a:noFill/>
            </a:ln>
            <a:effectLst/>
          </p:spPr>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思源宋体" panose="02020700000000000000" charset="-122"/>
                <a:ea typeface="思源宋体" panose="02020700000000000000" charset="-122"/>
                <a:cs typeface="+mn-ea"/>
                <a:sym typeface="+mn-lt"/>
              </a:endParaRPr>
            </a:p>
          </p:txBody>
        </p:sp>
        <p:sp>
          <p:nvSpPr>
            <p:cNvPr id="99" name="Rounded Rectangle 30"/>
            <p:cNvSpPr/>
            <p:nvPr>
              <p:custDataLst>
                <p:tags r:id="rId12"/>
              </p:custDataLst>
            </p:nvPr>
          </p:nvSpPr>
          <p:spPr>
            <a:xfrm>
              <a:off x="9898" y="3430"/>
              <a:ext cx="3573" cy="5159"/>
            </a:xfrm>
            <a:prstGeom prst="roundRect">
              <a:avLst>
                <a:gd name="adj" fmla="val 4016"/>
              </a:avLst>
            </a:prstGeom>
            <a:solidFill>
              <a:srgbClr val="FFFFFF"/>
            </a:solidFill>
            <a:ln w="3175" cap="flat" cmpd="sng" algn="ctr">
              <a:solidFill>
                <a:srgbClr val="FFFFFF">
                  <a:lumMod val="85000"/>
                </a:srgbClr>
              </a:solid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100" name="Rectangle 31"/>
            <p:cNvSpPr/>
            <p:nvPr>
              <p:custDataLst>
                <p:tags r:id="rId13"/>
              </p:custDataLst>
            </p:nvPr>
          </p:nvSpPr>
          <p:spPr>
            <a:xfrm>
              <a:off x="9897" y="4114"/>
              <a:ext cx="3573" cy="720"/>
            </a:xfrm>
            <a:prstGeom prst="rect">
              <a:avLst/>
            </a:prstGeom>
            <a:gradFill>
              <a:gsLst>
                <a:gs pos="0">
                  <a:srgbClr val="F1BD59"/>
                </a:gs>
                <a:gs pos="100000">
                  <a:schemeClr val="accent4">
                    <a:lumMod val="75000"/>
                  </a:schemeClr>
                </a:gs>
              </a:gsLst>
              <a:lin ang="5400000" scaled="0"/>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102" name="TextBox 35"/>
            <p:cNvSpPr txBox="1"/>
            <p:nvPr>
              <p:custDataLst>
                <p:tags r:id="rId14"/>
              </p:custDataLst>
            </p:nvPr>
          </p:nvSpPr>
          <p:spPr>
            <a:xfrm>
              <a:off x="10565" y="4185"/>
              <a:ext cx="2289" cy="53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1600" dirty="0">
                  <a:solidFill>
                    <a:schemeClr val="bg1"/>
                  </a:solidFill>
                  <a:latin typeface="Times New Roman" panose="02020603050405020304" pitchFamily="18" charset="0"/>
                  <a:cs typeface="Times New Roman" panose="02020603050405020304" pitchFamily="18" charset="0"/>
                  <a:sym typeface="+mn-ea"/>
                </a:rPr>
                <a:t>(</a:t>
              </a:r>
              <a:r>
                <a:rPr lang="en-US" altLang="zh-CN" sz="1600" dirty="0">
                  <a:solidFill>
                    <a:schemeClr val="bg1"/>
                  </a:solidFill>
                  <a:latin typeface="Times New Roman" panose="02020603050405020304" pitchFamily="18" charset="0"/>
                  <a:cs typeface="Times New Roman" panose="02020603050405020304" pitchFamily="18" charset="0"/>
                  <a:sym typeface="+mn-ea"/>
                </a:rPr>
                <a:t>'O',  1.505824)</a:t>
              </a:r>
              <a:endParaRPr lang="zh-CN" altLang="en-US" b="1" kern="0" dirty="0">
                <a:solidFill>
                  <a:schemeClr val="bg1"/>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103" name="Freeform 48"/>
            <p:cNvSpPr/>
            <p:nvPr>
              <p:custDataLst>
                <p:tags r:id="rId15"/>
              </p:custDataLst>
            </p:nvPr>
          </p:nvSpPr>
          <p:spPr>
            <a:xfrm>
              <a:off x="11378" y="2911"/>
              <a:ext cx="663" cy="972"/>
            </a:xfrm>
            <a:custGeom>
              <a:avLst/>
              <a:gdLst>
                <a:gd name="T0" fmla="*/ 3050 w 4741"/>
                <a:gd name="T1" fmla="*/ 1792 h 6953"/>
                <a:gd name="T2" fmla="*/ 2837 w 4741"/>
                <a:gd name="T3" fmla="*/ 1854 h 6953"/>
                <a:gd name="T4" fmla="*/ 2836 w 4741"/>
                <a:gd name="T5" fmla="*/ 1630 h 6953"/>
                <a:gd name="T6" fmla="*/ 3196 w 4741"/>
                <a:gd name="T7" fmla="*/ 703 h 6953"/>
                <a:gd name="T8" fmla="*/ 1163 w 4741"/>
                <a:gd name="T9" fmla="*/ 740 h 6953"/>
                <a:gd name="T10" fmla="*/ 1584 w 4741"/>
                <a:gd name="T11" fmla="*/ 1811 h 6953"/>
                <a:gd name="T12" fmla="*/ 961 w 4741"/>
                <a:gd name="T13" fmla="*/ 1692 h 6953"/>
                <a:gd name="T14" fmla="*/ 1198 w 4741"/>
                <a:gd name="T15" fmla="*/ 1841 h 6953"/>
                <a:gd name="T16" fmla="*/ 1514 w 4741"/>
                <a:gd name="T17" fmla="*/ 1863 h 6953"/>
                <a:gd name="T18" fmla="*/ 430 w 4741"/>
                <a:gd name="T19" fmla="*/ 2240 h 6953"/>
                <a:gd name="T20" fmla="*/ 1003 w 4741"/>
                <a:gd name="T21" fmla="*/ 2001 h 6953"/>
                <a:gd name="T22" fmla="*/ 0 w 4741"/>
                <a:gd name="T23" fmla="*/ 4645 h 6953"/>
                <a:gd name="T24" fmla="*/ 4741 w 4741"/>
                <a:gd name="T25" fmla="*/ 4645 h 6953"/>
                <a:gd name="T26" fmla="*/ 3031 w 4741"/>
                <a:gd name="T27" fmla="*/ 1851 h 6953"/>
                <a:gd name="T28" fmla="*/ 2876 w 4741"/>
                <a:gd name="T29" fmla="*/ 1950 h 6953"/>
                <a:gd name="T30" fmla="*/ 3031 w 4741"/>
                <a:gd name="T31" fmla="*/ 1851 h 6953"/>
                <a:gd name="T32" fmla="*/ 2759 w 4741"/>
                <a:gd name="T33" fmla="*/ 1646 h 6953"/>
                <a:gd name="T34" fmla="*/ 2736 w 4741"/>
                <a:gd name="T35" fmla="*/ 1799 h 6953"/>
                <a:gd name="T36" fmla="*/ 2740 w 4741"/>
                <a:gd name="T37" fmla="*/ 1643 h 6953"/>
                <a:gd name="T38" fmla="*/ 2446 w 4741"/>
                <a:gd name="T39" fmla="*/ 4633 h 6953"/>
                <a:gd name="T40" fmla="*/ 1819 w 4741"/>
                <a:gd name="T41" fmla="*/ 4821 h 6953"/>
                <a:gd name="T42" fmla="*/ 2492 w 4741"/>
                <a:gd name="T43" fmla="*/ 5017 h 6953"/>
                <a:gd name="T44" fmla="*/ 1839 w 4741"/>
                <a:gd name="T45" fmla="*/ 5226 h 6953"/>
                <a:gd name="T46" fmla="*/ 2895 w 4741"/>
                <a:gd name="T47" fmla="*/ 5338 h 6953"/>
                <a:gd name="T48" fmla="*/ 2372 w 4741"/>
                <a:gd name="T49" fmla="*/ 6301 h 6953"/>
                <a:gd name="T50" fmla="*/ 1257 w 4741"/>
                <a:gd name="T51" fmla="*/ 5226 h 6953"/>
                <a:gd name="T52" fmla="*/ 1442 w 4741"/>
                <a:gd name="T53" fmla="*/ 5016 h 6953"/>
                <a:gd name="T54" fmla="*/ 1442 w 4741"/>
                <a:gd name="T55" fmla="*/ 4632 h 6953"/>
                <a:gd name="T56" fmla="*/ 1257 w 4741"/>
                <a:gd name="T57" fmla="*/ 4423 h 6953"/>
                <a:gd name="T58" fmla="*/ 2372 w 4741"/>
                <a:gd name="T59" fmla="*/ 3332 h 6953"/>
                <a:gd name="T60" fmla="*/ 3275 w 4741"/>
                <a:gd name="T61" fmla="*/ 4243 h 6953"/>
                <a:gd name="T62" fmla="*/ 2729 w 4741"/>
                <a:gd name="T63" fmla="*/ 3786 h 6953"/>
                <a:gd name="T64" fmla="*/ 1839 w 4741"/>
                <a:gd name="T65" fmla="*/ 4423 h 6953"/>
                <a:gd name="T66" fmla="*/ 2505 w 4741"/>
                <a:gd name="T67" fmla="*/ 4423 h 69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41" h="6953">
                  <a:moveTo>
                    <a:pt x="2959" y="1990"/>
                  </a:moveTo>
                  <a:cubicBezTo>
                    <a:pt x="3069" y="1962"/>
                    <a:pt x="3151" y="1898"/>
                    <a:pt x="3050" y="1792"/>
                  </a:cubicBezTo>
                  <a:cubicBezTo>
                    <a:pt x="3038" y="1780"/>
                    <a:pt x="3019" y="1784"/>
                    <a:pt x="3010" y="1797"/>
                  </a:cubicBezTo>
                  <a:cubicBezTo>
                    <a:pt x="2981" y="1841"/>
                    <a:pt x="2915" y="1856"/>
                    <a:pt x="2837" y="1854"/>
                  </a:cubicBezTo>
                  <a:cubicBezTo>
                    <a:pt x="2861" y="1847"/>
                    <a:pt x="2880" y="1835"/>
                    <a:pt x="2891" y="1815"/>
                  </a:cubicBezTo>
                  <a:cubicBezTo>
                    <a:pt x="2930" y="1742"/>
                    <a:pt x="2893" y="1681"/>
                    <a:pt x="2836" y="1630"/>
                  </a:cubicBezTo>
                  <a:cubicBezTo>
                    <a:pt x="2816" y="1611"/>
                    <a:pt x="2793" y="1600"/>
                    <a:pt x="2768" y="1593"/>
                  </a:cubicBezTo>
                  <a:cubicBezTo>
                    <a:pt x="2921" y="1324"/>
                    <a:pt x="3085" y="1004"/>
                    <a:pt x="3196" y="703"/>
                  </a:cubicBezTo>
                  <a:cubicBezTo>
                    <a:pt x="3455" y="0"/>
                    <a:pt x="2383" y="1184"/>
                    <a:pt x="2013" y="975"/>
                  </a:cubicBezTo>
                  <a:cubicBezTo>
                    <a:pt x="1643" y="766"/>
                    <a:pt x="1791" y="111"/>
                    <a:pt x="1163" y="740"/>
                  </a:cubicBezTo>
                  <a:cubicBezTo>
                    <a:pt x="720" y="1183"/>
                    <a:pt x="1408" y="1589"/>
                    <a:pt x="1854" y="1790"/>
                  </a:cubicBezTo>
                  <a:cubicBezTo>
                    <a:pt x="1763" y="1803"/>
                    <a:pt x="1673" y="1811"/>
                    <a:pt x="1584" y="1811"/>
                  </a:cubicBezTo>
                  <a:cubicBezTo>
                    <a:pt x="1484" y="1810"/>
                    <a:pt x="1384" y="1807"/>
                    <a:pt x="1285" y="1799"/>
                  </a:cubicBezTo>
                  <a:cubicBezTo>
                    <a:pt x="1204" y="1793"/>
                    <a:pt x="999" y="1785"/>
                    <a:pt x="961" y="1692"/>
                  </a:cubicBezTo>
                  <a:cubicBezTo>
                    <a:pt x="949" y="1662"/>
                    <a:pt x="899" y="1675"/>
                    <a:pt x="912" y="1706"/>
                  </a:cubicBezTo>
                  <a:cubicBezTo>
                    <a:pt x="954" y="1810"/>
                    <a:pt x="1101" y="1829"/>
                    <a:pt x="1198" y="1841"/>
                  </a:cubicBezTo>
                  <a:cubicBezTo>
                    <a:pt x="1303" y="1855"/>
                    <a:pt x="1411" y="1861"/>
                    <a:pt x="1518" y="1862"/>
                  </a:cubicBezTo>
                  <a:cubicBezTo>
                    <a:pt x="1517" y="1863"/>
                    <a:pt x="1515" y="1863"/>
                    <a:pt x="1514" y="1863"/>
                  </a:cubicBezTo>
                  <a:cubicBezTo>
                    <a:pt x="1251" y="1897"/>
                    <a:pt x="985" y="1939"/>
                    <a:pt x="731" y="2017"/>
                  </a:cubicBezTo>
                  <a:cubicBezTo>
                    <a:pt x="641" y="2045"/>
                    <a:pt x="412" y="2107"/>
                    <a:pt x="430" y="2240"/>
                  </a:cubicBezTo>
                  <a:cubicBezTo>
                    <a:pt x="434" y="2272"/>
                    <a:pt x="485" y="2273"/>
                    <a:pt x="481" y="2240"/>
                  </a:cubicBezTo>
                  <a:cubicBezTo>
                    <a:pt x="461" y="2090"/>
                    <a:pt x="911" y="2021"/>
                    <a:pt x="1003" y="2001"/>
                  </a:cubicBezTo>
                  <a:cubicBezTo>
                    <a:pt x="1263" y="1944"/>
                    <a:pt x="1527" y="1909"/>
                    <a:pt x="1791" y="1882"/>
                  </a:cubicBezTo>
                  <a:cubicBezTo>
                    <a:pt x="1041" y="2251"/>
                    <a:pt x="0" y="3328"/>
                    <a:pt x="0" y="4645"/>
                  </a:cubicBezTo>
                  <a:cubicBezTo>
                    <a:pt x="0" y="6239"/>
                    <a:pt x="1061" y="6953"/>
                    <a:pt x="2371" y="6953"/>
                  </a:cubicBezTo>
                  <a:cubicBezTo>
                    <a:pt x="3680" y="6953"/>
                    <a:pt x="4741" y="6239"/>
                    <a:pt x="4741" y="4645"/>
                  </a:cubicBezTo>
                  <a:cubicBezTo>
                    <a:pt x="4741" y="3340"/>
                    <a:pt x="3857" y="2438"/>
                    <a:pt x="2959" y="1990"/>
                  </a:cubicBezTo>
                  <a:close/>
                  <a:moveTo>
                    <a:pt x="3031" y="1851"/>
                  </a:moveTo>
                  <a:cubicBezTo>
                    <a:pt x="3073" y="1923"/>
                    <a:pt x="2941" y="1943"/>
                    <a:pt x="2885" y="1949"/>
                  </a:cubicBezTo>
                  <a:cubicBezTo>
                    <a:pt x="2882" y="1949"/>
                    <a:pt x="2879" y="1949"/>
                    <a:pt x="2876" y="1950"/>
                  </a:cubicBezTo>
                  <a:cubicBezTo>
                    <a:pt x="2839" y="1932"/>
                    <a:pt x="2801" y="1916"/>
                    <a:pt x="2764" y="1900"/>
                  </a:cubicBezTo>
                  <a:cubicBezTo>
                    <a:pt x="2870" y="1912"/>
                    <a:pt x="2973" y="1902"/>
                    <a:pt x="3031" y="1851"/>
                  </a:cubicBezTo>
                  <a:close/>
                  <a:moveTo>
                    <a:pt x="2740" y="1643"/>
                  </a:moveTo>
                  <a:cubicBezTo>
                    <a:pt x="2746" y="1644"/>
                    <a:pt x="2752" y="1644"/>
                    <a:pt x="2759" y="1646"/>
                  </a:cubicBezTo>
                  <a:cubicBezTo>
                    <a:pt x="2831" y="1668"/>
                    <a:pt x="2854" y="1717"/>
                    <a:pt x="2830" y="1795"/>
                  </a:cubicBezTo>
                  <a:cubicBezTo>
                    <a:pt x="2803" y="1806"/>
                    <a:pt x="2765" y="1801"/>
                    <a:pt x="2736" y="1799"/>
                  </a:cubicBezTo>
                  <a:cubicBezTo>
                    <a:pt x="2709" y="1797"/>
                    <a:pt x="2682" y="1792"/>
                    <a:pt x="2655" y="1787"/>
                  </a:cubicBezTo>
                  <a:cubicBezTo>
                    <a:pt x="2682" y="1741"/>
                    <a:pt x="2711" y="1693"/>
                    <a:pt x="2740" y="1643"/>
                  </a:cubicBezTo>
                  <a:close/>
                  <a:moveTo>
                    <a:pt x="2505" y="4423"/>
                  </a:moveTo>
                  <a:lnTo>
                    <a:pt x="2446" y="4633"/>
                  </a:lnTo>
                  <a:lnTo>
                    <a:pt x="1823" y="4633"/>
                  </a:lnTo>
                  <a:cubicBezTo>
                    <a:pt x="1821" y="4669"/>
                    <a:pt x="1819" y="4732"/>
                    <a:pt x="1819" y="4821"/>
                  </a:cubicBezTo>
                  <a:cubicBezTo>
                    <a:pt x="1819" y="4912"/>
                    <a:pt x="1821" y="4977"/>
                    <a:pt x="1823" y="5017"/>
                  </a:cubicBezTo>
                  <a:lnTo>
                    <a:pt x="2492" y="5017"/>
                  </a:lnTo>
                  <a:lnTo>
                    <a:pt x="2433" y="5226"/>
                  </a:lnTo>
                  <a:lnTo>
                    <a:pt x="1839" y="5226"/>
                  </a:lnTo>
                  <a:cubicBezTo>
                    <a:pt x="1895" y="5750"/>
                    <a:pt x="2073" y="6012"/>
                    <a:pt x="2372" y="6012"/>
                  </a:cubicBezTo>
                  <a:cubicBezTo>
                    <a:pt x="2677" y="6012"/>
                    <a:pt x="2852" y="5787"/>
                    <a:pt x="2895" y="5338"/>
                  </a:cubicBezTo>
                  <a:lnTo>
                    <a:pt x="3275" y="5338"/>
                  </a:lnTo>
                  <a:cubicBezTo>
                    <a:pt x="3216" y="5980"/>
                    <a:pt x="2915" y="6301"/>
                    <a:pt x="2372" y="6301"/>
                  </a:cubicBezTo>
                  <a:cubicBezTo>
                    <a:pt x="1842" y="6301"/>
                    <a:pt x="1537" y="5943"/>
                    <a:pt x="1457" y="5226"/>
                  </a:cubicBezTo>
                  <a:lnTo>
                    <a:pt x="1257" y="5226"/>
                  </a:lnTo>
                  <a:lnTo>
                    <a:pt x="1257" y="5016"/>
                  </a:lnTo>
                  <a:lnTo>
                    <a:pt x="1442" y="5016"/>
                  </a:lnTo>
                  <a:cubicBezTo>
                    <a:pt x="1439" y="4977"/>
                    <a:pt x="1438" y="4912"/>
                    <a:pt x="1438" y="4820"/>
                  </a:cubicBezTo>
                  <a:cubicBezTo>
                    <a:pt x="1438" y="4732"/>
                    <a:pt x="1439" y="4669"/>
                    <a:pt x="1442" y="4632"/>
                  </a:cubicBezTo>
                  <a:lnTo>
                    <a:pt x="1257" y="4632"/>
                  </a:lnTo>
                  <a:lnTo>
                    <a:pt x="1257" y="4423"/>
                  </a:lnTo>
                  <a:lnTo>
                    <a:pt x="1457" y="4423"/>
                  </a:lnTo>
                  <a:cubicBezTo>
                    <a:pt x="1533" y="3695"/>
                    <a:pt x="1838" y="3332"/>
                    <a:pt x="2372" y="3332"/>
                  </a:cubicBezTo>
                  <a:cubicBezTo>
                    <a:pt x="2628" y="3332"/>
                    <a:pt x="2833" y="3411"/>
                    <a:pt x="2988" y="3569"/>
                  </a:cubicBezTo>
                  <a:cubicBezTo>
                    <a:pt x="3143" y="3727"/>
                    <a:pt x="3238" y="3951"/>
                    <a:pt x="3275" y="4243"/>
                  </a:cubicBezTo>
                  <a:lnTo>
                    <a:pt x="2895" y="4243"/>
                  </a:lnTo>
                  <a:cubicBezTo>
                    <a:pt x="2877" y="4048"/>
                    <a:pt x="2822" y="3896"/>
                    <a:pt x="2729" y="3786"/>
                  </a:cubicBezTo>
                  <a:cubicBezTo>
                    <a:pt x="2637" y="3676"/>
                    <a:pt x="2518" y="3622"/>
                    <a:pt x="2372" y="3622"/>
                  </a:cubicBezTo>
                  <a:cubicBezTo>
                    <a:pt x="2073" y="3622"/>
                    <a:pt x="1895" y="3889"/>
                    <a:pt x="1839" y="4423"/>
                  </a:cubicBezTo>
                  <a:lnTo>
                    <a:pt x="2505" y="4423"/>
                  </a:lnTo>
                  <a:lnTo>
                    <a:pt x="2505" y="4423"/>
                  </a:lnTo>
                  <a:close/>
                </a:path>
              </a:pathLst>
            </a:custGeom>
            <a:gradFill>
              <a:gsLst>
                <a:gs pos="0">
                  <a:srgbClr val="F1BD59"/>
                </a:gs>
                <a:gs pos="100000">
                  <a:schemeClr val="accent4">
                    <a:lumMod val="75000"/>
                  </a:schemeClr>
                </a:gs>
              </a:gsLst>
              <a:lin ang="5400000" scaled="0"/>
            </a:gradFill>
            <a:ln>
              <a:noFill/>
            </a:ln>
            <a:effectLst/>
          </p:spPr>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思源宋体" panose="02020700000000000000" charset="-122"/>
                <a:ea typeface="思源宋体" panose="02020700000000000000" charset="-122"/>
                <a:cs typeface="+mn-ea"/>
                <a:sym typeface="+mn-lt"/>
              </a:endParaRPr>
            </a:p>
          </p:txBody>
        </p:sp>
        <p:sp>
          <p:nvSpPr>
            <p:cNvPr id="94" name="Rectangle 37"/>
            <p:cNvSpPr/>
            <p:nvPr>
              <p:custDataLst>
                <p:tags r:id="rId16"/>
              </p:custDataLst>
            </p:nvPr>
          </p:nvSpPr>
          <p:spPr>
            <a:xfrm>
              <a:off x="13987" y="4114"/>
              <a:ext cx="3573" cy="720"/>
            </a:xfrm>
            <a:prstGeom prst="rect">
              <a:avLst/>
            </a:prstGeom>
            <a:gradFill>
              <a:gsLst>
                <a:gs pos="0">
                  <a:srgbClr val="F1BD59"/>
                </a:gs>
                <a:gs pos="100000">
                  <a:schemeClr val="accent4">
                    <a:lumMod val="75000"/>
                  </a:schemeClr>
                </a:gs>
              </a:gsLst>
              <a:lin ang="5400000" scaled="0"/>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FFFFFF"/>
                </a:solidFill>
                <a:effectLst/>
                <a:uLnTx/>
                <a:uFillTx/>
                <a:latin typeface="思源宋体" panose="02020700000000000000" charset="-122"/>
                <a:ea typeface="思源宋体" panose="02020700000000000000" charset="-122"/>
                <a:cs typeface="+mn-ea"/>
                <a:sym typeface="+mn-lt"/>
              </a:endParaRPr>
            </a:p>
          </p:txBody>
        </p:sp>
        <p:sp>
          <p:nvSpPr>
            <p:cNvPr id="96" name="TextBox 41"/>
            <p:cNvSpPr txBox="1"/>
            <p:nvPr>
              <p:custDataLst>
                <p:tags r:id="rId17"/>
              </p:custDataLst>
            </p:nvPr>
          </p:nvSpPr>
          <p:spPr>
            <a:xfrm>
              <a:off x="14181" y="4185"/>
              <a:ext cx="3257" cy="53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ltLang="zh-CN" sz="1600" dirty="0">
                  <a:solidFill>
                    <a:schemeClr val="bg1"/>
                  </a:solidFill>
                  <a:latin typeface="Times New Roman" panose="02020603050405020304" pitchFamily="18" charset="0"/>
                  <a:cs typeface="Times New Roman" panose="02020603050405020304" pitchFamily="18" charset="0"/>
                  <a:sym typeface="+mn-ea"/>
                </a:rPr>
                <a:t>B-name/I-name的权重</a:t>
              </a:r>
              <a:endParaRPr lang="zh-CN" altLang="en-US" b="1" kern="0" dirty="0">
                <a:solidFill>
                  <a:schemeClr val="bg1"/>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97" name="Freeform 50"/>
            <p:cNvSpPr/>
            <p:nvPr>
              <p:custDataLst>
                <p:tags r:id="rId18"/>
              </p:custDataLst>
            </p:nvPr>
          </p:nvSpPr>
          <p:spPr>
            <a:xfrm>
              <a:off x="15288" y="2972"/>
              <a:ext cx="958" cy="965"/>
            </a:xfrm>
            <a:custGeom>
              <a:avLst/>
              <a:gdLst>
                <a:gd name="T0" fmla="*/ 4170 w 5984"/>
                <a:gd name="T1" fmla="*/ 1179 h 6029"/>
                <a:gd name="T2" fmla="*/ 2992 w 5984"/>
                <a:gd name="T3" fmla="*/ 2357 h 6029"/>
                <a:gd name="T4" fmla="*/ 1813 w 5984"/>
                <a:gd name="T5" fmla="*/ 1179 h 6029"/>
                <a:gd name="T6" fmla="*/ 2992 w 5984"/>
                <a:gd name="T7" fmla="*/ 0 h 6029"/>
                <a:gd name="T8" fmla="*/ 4170 w 5984"/>
                <a:gd name="T9" fmla="*/ 1179 h 6029"/>
                <a:gd name="T10" fmla="*/ 2992 w 5984"/>
                <a:gd name="T11" fmla="*/ 3173 h 6029"/>
                <a:gd name="T12" fmla="*/ 3210 w 5984"/>
                <a:gd name="T13" fmla="*/ 3119 h 6029"/>
                <a:gd name="T14" fmla="*/ 3354 w 5984"/>
                <a:gd name="T15" fmla="*/ 2811 h 6029"/>
                <a:gd name="T16" fmla="*/ 2992 w 5984"/>
                <a:gd name="T17" fmla="*/ 2666 h 6029"/>
                <a:gd name="T18" fmla="*/ 2629 w 5984"/>
                <a:gd name="T19" fmla="*/ 2811 h 6029"/>
                <a:gd name="T20" fmla="*/ 2774 w 5984"/>
                <a:gd name="T21" fmla="*/ 3119 h 6029"/>
                <a:gd name="T22" fmla="*/ 2992 w 5984"/>
                <a:gd name="T23" fmla="*/ 3173 h 6029"/>
                <a:gd name="T24" fmla="*/ 5984 w 5984"/>
                <a:gd name="T25" fmla="*/ 6029 h 6029"/>
                <a:gd name="T26" fmla="*/ 4986 w 5984"/>
                <a:gd name="T27" fmla="*/ 6029 h 6029"/>
                <a:gd name="T28" fmla="*/ 4669 w 5984"/>
                <a:gd name="T29" fmla="*/ 4669 h 6029"/>
                <a:gd name="T30" fmla="*/ 4578 w 5984"/>
                <a:gd name="T31" fmla="*/ 6029 h 6029"/>
                <a:gd name="T32" fmla="*/ 2992 w 5984"/>
                <a:gd name="T33" fmla="*/ 6029 h 6029"/>
                <a:gd name="T34" fmla="*/ 1405 w 5984"/>
                <a:gd name="T35" fmla="*/ 6029 h 6029"/>
                <a:gd name="T36" fmla="*/ 1314 w 5984"/>
                <a:gd name="T37" fmla="*/ 4669 h 6029"/>
                <a:gd name="T38" fmla="*/ 997 w 5984"/>
                <a:gd name="T39" fmla="*/ 6029 h 6029"/>
                <a:gd name="T40" fmla="*/ 0 w 5984"/>
                <a:gd name="T41" fmla="*/ 6029 h 6029"/>
                <a:gd name="T42" fmla="*/ 571 w 5984"/>
                <a:gd name="T43" fmla="*/ 3479 h 6029"/>
                <a:gd name="T44" fmla="*/ 1173 w 5984"/>
                <a:gd name="T45" fmla="*/ 2919 h 6029"/>
                <a:gd name="T46" fmla="*/ 2221 w 5984"/>
                <a:gd name="T47" fmla="*/ 2765 h 6029"/>
                <a:gd name="T48" fmla="*/ 2747 w 5984"/>
                <a:gd name="T49" fmla="*/ 3971 h 6029"/>
                <a:gd name="T50" fmla="*/ 2807 w 5984"/>
                <a:gd name="T51" fmla="*/ 3370 h 6029"/>
                <a:gd name="T52" fmla="*/ 2844 w 5984"/>
                <a:gd name="T53" fmla="*/ 3337 h 6029"/>
                <a:gd name="T54" fmla="*/ 3140 w 5984"/>
                <a:gd name="T55" fmla="*/ 3337 h 6029"/>
                <a:gd name="T56" fmla="*/ 3176 w 5984"/>
                <a:gd name="T57" fmla="*/ 3369 h 6029"/>
                <a:gd name="T58" fmla="*/ 3243 w 5984"/>
                <a:gd name="T59" fmla="*/ 3956 h 6029"/>
                <a:gd name="T60" fmla="*/ 3762 w 5984"/>
                <a:gd name="T61" fmla="*/ 2765 h 6029"/>
                <a:gd name="T62" fmla="*/ 4810 w 5984"/>
                <a:gd name="T63" fmla="*/ 2919 h 6029"/>
                <a:gd name="T64" fmla="*/ 5413 w 5984"/>
                <a:gd name="T65" fmla="*/ 3479 h 6029"/>
                <a:gd name="T66" fmla="*/ 5984 w 5984"/>
                <a:gd name="T67" fmla="*/ 6029 h 6029"/>
                <a:gd name="T68" fmla="*/ 4352 w 5984"/>
                <a:gd name="T69" fmla="*/ 4397 h 6029"/>
                <a:gd name="T70" fmla="*/ 4170 w 5984"/>
                <a:gd name="T71" fmla="*/ 4035 h 6029"/>
                <a:gd name="T72" fmla="*/ 3626 w 5984"/>
                <a:gd name="T73" fmla="*/ 4397 h 6029"/>
                <a:gd name="T74" fmla="*/ 4352 w 5984"/>
                <a:gd name="T75" fmla="*/ 4397 h 60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984" h="6029">
                  <a:moveTo>
                    <a:pt x="4170" y="1179"/>
                  </a:moveTo>
                  <a:cubicBezTo>
                    <a:pt x="4170" y="1830"/>
                    <a:pt x="3643" y="2357"/>
                    <a:pt x="2992" y="2357"/>
                  </a:cubicBezTo>
                  <a:cubicBezTo>
                    <a:pt x="2341" y="2357"/>
                    <a:pt x="1813" y="1830"/>
                    <a:pt x="1813" y="1179"/>
                  </a:cubicBezTo>
                  <a:cubicBezTo>
                    <a:pt x="1813" y="528"/>
                    <a:pt x="2341" y="0"/>
                    <a:pt x="2992" y="0"/>
                  </a:cubicBezTo>
                  <a:cubicBezTo>
                    <a:pt x="3643" y="0"/>
                    <a:pt x="4170" y="528"/>
                    <a:pt x="4170" y="1179"/>
                  </a:cubicBezTo>
                  <a:close/>
                  <a:moveTo>
                    <a:pt x="2992" y="3173"/>
                  </a:moveTo>
                  <a:cubicBezTo>
                    <a:pt x="3064" y="3173"/>
                    <a:pt x="3155" y="3173"/>
                    <a:pt x="3210" y="3119"/>
                  </a:cubicBezTo>
                  <a:cubicBezTo>
                    <a:pt x="3264" y="3065"/>
                    <a:pt x="3354" y="2919"/>
                    <a:pt x="3354" y="2811"/>
                  </a:cubicBezTo>
                  <a:cubicBezTo>
                    <a:pt x="3355" y="2684"/>
                    <a:pt x="3133" y="2666"/>
                    <a:pt x="2992" y="2666"/>
                  </a:cubicBezTo>
                  <a:cubicBezTo>
                    <a:pt x="2850" y="2666"/>
                    <a:pt x="2629" y="2684"/>
                    <a:pt x="2629" y="2811"/>
                  </a:cubicBezTo>
                  <a:cubicBezTo>
                    <a:pt x="2629" y="2919"/>
                    <a:pt x="2719" y="3065"/>
                    <a:pt x="2774" y="3119"/>
                  </a:cubicBezTo>
                  <a:cubicBezTo>
                    <a:pt x="2828" y="3173"/>
                    <a:pt x="2919" y="3173"/>
                    <a:pt x="2992" y="3173"/>
                  </a:cubicBezTo>
                  <a:close/>
                  <a:moveTo>
                    <a:pt x="5984" y="6029"/>
                  </a:moveTo>
                  <a:lnTo>
                    <a:pt x="4986" y="6029"/>
                  </a:lnTo>
                  <a:lnTo>
                    <a:pt x="4669" y="4669"/>
                  </a:lnTo>
                  <a:lnTo>
                    <a:pt x="4578" y="6029"/>
                  </a:lnTo>
                  <a:lnTo>
                    <a:pt x="2992" y="6029"/>
                  </a:lnTo>
                  <a:lnTo>
                    <a:pt x="1405" y="6029"/>
                  </a:lnTo>
                  <a:lnTo>
                    <a:pt x="1314" y="4669"/>
                  </a:lnTo>
                  <a:lnTo>
                    <a:pt x="997" y="6029"/>
                  </a:lnTo>
                  <a:lnTo>
                    <a:pt x="0" y="6029"/>
                  </a:lnTo>
                  <a:lnTo>
                    <a:pt x="571" y="3479"/>
                  </a:lnTo>
                  <a:cubicBezTo>
                    <a:pt x="636" y="3185"/>
                    <a:pt x="876" y="2963"/>
                    <a:pt x="1173" y="2919"/>
                  </a:cubicBezTo>
                  <a:lnTo>
                    <a:pt x="2221" y="2765"/>
                  </a:lnTo>
                  <a:lnTo>
                    <a:pt x="2747" y="3971"/>
                  </a:lnTo>
                  <a:lnTo>
                    <a:pt x="2807" y="3370"/>
                  </a:lnTo>
                  <a:cubicBezTo>
                    <a:pt x="2809" y="3351"/>
                    <a:pt x="2825" y="3337"/>
                    <a:pt x="2844" y="3337"/>
                  </a:cubicBezTo>
                  <a:lnTo>
                    <a:pt x="3140" y="3337"/>
                  </a:lnTo>
                  <a:cubicBezTo>
                    <a:pt x="3159" y="3337"/>
                    <a:pt x="3174" y="3351"/>
                    <a:pt x="3176" y="3369"/>
                  </a:cubicBezTo>
                  <a:lnTo>
                    <a:pt x="3243" y="3956"/>
                  </a:lnTo>
                  <a:lnTo>
                    <a:pt x="3762" y="2765"/>
                  </a:lnTo>
                  <a:lnTo>
                    <a:pt x="4810" y="2919"/>
                  </a:lnTo>
                  <a:cubicBezTo>
                    <a:pt x="5108" y="2963"/>
                    <a:pt x="5347" y="3185"/>
                    <a:pt x="5413" y="3479"/>
                  </a:cubicBezTo>
                  <a:lnTo>
                    <a:pt x="5984" y="6029"/>
                  </a:lnTo>
                  <a:close/>
                  <a:moveTo>
                    <a:pt x="4352" y="4397"/>
                  </a:moveTo>
                  <a:lnTo>
                    <a:pt x="4170" y="4035"/>
                  </a:lnTo>
                  <a:lnTo>
                    <a:pt x="3626" y="4397"/>
                  </a:lnTo>
                  <a:lnTo>
                    <a:pt x="4352" y="4397"/>
                  </a:lnTo>
                  <a:close/>
                </a:path>
              </a:pathLst>
            </a:custGeom>
            <a:gradFill>
              <a:gsLst>
                <a:gs pos="0">
                  <a:srgbClr val="F1BD59"/>
                </a:gs>
                <a:gs pos="100000">
                  <a:schemeClr val="accent4">
                    <a:lumMod val="75000"/>
                  </a:schemeClr>
                </a:gs>
              </a:gsLst>
              <a:lin ang="5400000" scaled="0"/>
            </a:gradFill>
            <a:ln>
              <a:noFill/>
            </a:ln>
            <a:effectLst/>
          </p:spPr>
          <p:txBody>
            <a:bodyPr rot="0" spcFirstLastPara="0" vert="horz" wrap="square" lIns="91440" tIns="45720" rIns="91440" bIns="45720" numCol="1" spcCol="0" rtlCol="0" fromWordArt="0" anchor="t"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000000"/>
                </a:solidFill>
                <a:effectLst/>
                <a:uLnTx/>
                <a:uFillTx/>
                <a:latin typeface="思源宋体" panose="02020700000000000000" charset="-122"/>
                <a:ea typeface="思源宋体" panose="02020700000000000000" charset="-122"/>
                <a:cs typeface="+mn-ea"/>
                <a:sym typeface="+mn-lt"/>
              </a:endParaRPr>
            </a:p>
          </p:txBody>
        </p:sp>
        <p:sp>
          <p:nvSpPr>
            <p:cNvPr id="3" name="Rectangle 19"/>
            <p:cNvSpPr/>
            <p:nvPr>
              <p:custDataLst>
                <p:tags r:id="rId19"/>
              </p:custDataLst>
            </p:nvPr>
          </p:nvSpPr>
          <p:spPr>
            <a:xfrm>
              <a:off x="5913" y="5065"/>
              <a:ext cx="3361" cy="256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fontAlgn="auto">
                <a:lnSpc>
                  <a:spcPct val="125000"/>
                </a:lnSpc>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默认标记为I-company的倾向性为正；</a:t>
              </a:r>
              <a:endParaRPr lang="zh-CN" altLang="en-US" sz="1600" dirty="0">
                <a:latin typeface="Times New Roman" panose="02020603050405020304" pitchFamily="18" charset="0"/>
                <a:cs typeface="Times New Roman" panose="02020603050405020304" pitchFamily="18" charset="0"/>
              </a:endParaRPr>
            </a:p>
            <a:p>
              <a:pPr indent="0" fontAlgn="auto">
                <a:lnSpc>
                  <a:spcPct val="125000"/>
                </a:lnSpc>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比B-company更可能被标记（权重一正一负）</a:t>
              </a:r>
              <a:endParaRPr kumimoji="0" lang="zh-CN" altLang="en-US" sz="1600" b="0" i="0" u="none" strike="noStrike" cap="none" spc="0" normalizeH="0" baseline="0" dirty="0">
                <a:latin typeface="Times New Roman" panose="02020603050405020304" pitchFamily="18" charset="0"/>
                <a:cs typeface="Times New Roman" panose="02020603050405020304" pitchFamily="18" charset="0"/>
                <a:sym typeface="+mn-ea"/>
              </a:endParaRPr>
            </a:p>
          </p:txBody>
        </p:sp>
        <p:sp>
          <p:nvSpPr>
            <p:cNvPr id="4" name="Rectangle 19"/>
            <p:cNvSpPr/>
            <p:nvPr>
              <p:custDataLst>
                <p:tags r:id="rId20"/>
              </p:custDataLst>
            </p:nvPr>
          </p:nvSpPr>
          <p:spPr>
            <a:xfrm>
              <a:off x="10089" y="5066"/>
              <a:ext cx="3191" cy="256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fontAlgn="auto">
                <a:lnSpc>
                  <a:spcPct val="125000"/>
                </a:lnSpc>
                <a:buClrTx/>
                <a:buSzTx/>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强烈倾向于标记为O（非实体）；</a:t>
              </a:r>
              <a:endParaRPr lang="zh-CN" altLang="en-US" sz="1600" dirty="0">
                <a:latin typeface="Times New Roman" panose="02020603050405020304" pitchFamily="18" charset="0"/>
                <a:cs typeface="Times New Roman" panose="02020603050405020304" pitchFamily="18" charset="0"/>
              </a:endParaRPr>
            </a:p>
            <a:p>
              <a:pPr algn="l" fontAlgn="auto">
                <a:lnSpc>
                  <a:spcPct val="125000"/>
                </a:lnSpc>
                <a:buClrTx/>
                <a:buSzTx/>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大部分词都是非实体，CRF通过高权重反映这一先验知识</a:t>
              </a:r>
              <a:endParaRPr kumimoji="0" lang="zh-CN" altLang="en-US" sz="1600" b="0" i="0" u="none" strike="noStrike" cap="none" spc="0" normalizeH="0" baseline="0" dirty="0">
                <a:latin typeface="Times New Roman" panose="02020603050405020304" pitchFamily="18" charset="0"/>
                <a:cs typeface="Times New Roman" panose="02020603050405020304" pitchFamily="18" charset="0"/>
                <a:sym typeface="+mn-ea"/>
              </a:endParaRPr>
            </a:p>
          </p:txBody>
        </p:sp>
        <p:sp>
          <p:nvSpPr>
            <p:cNvPr id="5" name="Rectangle 19"/>
            <p:cNvSpPr/>
            <p:nvPr>
              <p:custDataLst>
                <p:tags r:id="rId21"/>
              </p:custDataLst>
            </p:nvPr>
          </p:nvSpPr>
          <p:spPr>
            <a:xfrm>
              <a:off x="14181" y="5066"/>
              <a:ext cx="3191" cy="256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l">
                <a:lnSpc>
                  <a:spcPct val="125000"/>
                </a:lnSpc>
                <a:buClrTx/>
                <a:buSzTx/>
                <a:buFont typeface="Arial" panose="020B0604020202020204" pitchFamily="34" charset="0"/>
              </a:pPr>
              <a:r>
                <a:rPr lang="zh-CN" altLang="en-US" sz="1600" dirty="0">
                  <a:latin typeface="Times New Roman" panose="02020603050405020304" pitchFamily="18" charset="0"/>
                  <a:cs typeface="Times New Roman" panose="02020603050405020304" pitchFamily="18" charset="0"/>
                  <a:sym typeface="+mn-ea"/>
                </a:rPr>
                <a:t>B-name权重为负（-0.446），I-name权重为正（0.583）；</a:t>
              </a:r>
              <a:endParaRPr lang="zh-CN" altLang="en-US" sz="1600" b="0" i="0" dirty="0">
                <a:latin typeface="Times New Roman" panose="02020603050405020304" pitchFamily="18" charset="0"/>
                <a:cs typeface="Times New Roman" panose="02020603050405020304" pitchFamily="18" charset="0"/>
              </a:endParaRPr>
            </a:p>
            <a:p>
              <a:pPr algn="l">
                <a:lnSpc>
                  <a:spcPct val="125000"/>
                </a:lnSpc>
                <a:buClrTx/>
                <a:buSzTx/>
                <a:buFont typeface="Arial" panose="020B0604020202020204" pitchFamily="34" charset="0"/>
                <a:buNone/>
              </a:pPr>
              <a:r>
                <a:rPr lang="zh-CN" altLang="en-US" sz="1600" dirty="0">
                  <a:latin typeface="Times New Roman" panose="02020603050405020304" pitchFamily="18" charset="0"/>
                  <a:cs typeface="Times New Roman" panose="02020603050405020304" pitchFamily="18" charset="0"/>
                  <a:sym typeface="+mn-ea"/>
                </a:rPr>
                <a:t>人名中间部分比开始部分更易被识别</a:t>
              </a:r>
              <a:endParaRPr kumimoji="0" lang="zh-CN" altLang="en-US" sz="1600" b="0" i="0" u="none" strike="noStrike" cap="none" spc="0" normalizeH="0" baseline="0" dirty="0">
                <a:latin typeface="Times New Roman" panose="02020603050405020304" pitchFamily="18" charset="0"/>
                <a:cs typeface="Times New Roman" panose="02020603050405020304" pitchFamily="18" charset="0"/>
                <a:sym typeface="+mn-ea"/>
              </a:endParaRPr>
            </a:p>
          </p:txBody>
        </p:sp>
      </p:grpSp>
      <p:grpSp>
        <p:nvGrpSpPr>
          <p:cNvPr id="8" name="组合 7"/>
          <p:cNvGrpSpPr/>
          <p:nvPr/>
        </p:nvGrpSpPr>
        <p:grpSpPr>
          <a:xfrm>
            <a:off x="-558165" y="386715"/>
            <a:ext cx="1273175" cy="1273810"/>
            <a:chOff x="-879" y="609"/>
            <a:chExt cx="2005" cy="2006"/>
          </a:xfrm>
        </p:grpSpPr>
        <p:sp>
          <p:nvSpPr>
            <p:cNvPr id="15" name="椭圆 14"/>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16" name="椭圆 15"/>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
        <p:nvSpPr>
          <p:cNvPr id="17" name="文本框 16"/>
          <p:cNvSpPr txBox="1"/>
          <p:nvPr/>
        </p:nvSpPr>
        <p:spPr>
          <a:xfrm>
            <a:off x="963930" y="701040"/>
            <a:ext cx="3249930" cy="645160"/>
          </a:xfrm>
          <a:prstGeom prst="rect">
            <a:avLst/>
          </a:prstGeom>
          <a:noFill/>
        </p:spPr>
        <p:txBody>
          <a:bodyPr wrap="square" rtlCol="0">
            <a:spAutoFit/>
          </a:bodyPr>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发射</a:t>
            </a:r>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概率</a:t>
            </a:r>
            <a:endPar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Tree>
    <p:custDataLst>
      <p:tags r:id="rId22"/>
    </p:custDataLst>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3619" y="1418837"/>
            <a:ext cx="4709795" cy="783590"/>
          </a:xfrm>
          <a:prstGeom prst="rect">
            <a:avLst/>
          </a:prstGeom>
          <a:ln>
            <a:gradFill>
              <a:gsLst>
                <a:gs pos="0">
                  <a:schemeClr val="accent4">
                    <a:lumMod val="40000"/>
                    <a:lumOff val="60000"/>
                  </a:schemeClr>
                </a:gs>
                <a:gs pos="100000">
                  <a:schemeClr val="accent4">
                    <a:lumMod val="75000"/>
                  </a:schemeClr>
                </a:gs>
              </a:gsLst>
              <a:lin ang="5400000" scaled="1"/>
            </a:gradFill>
          </a:ln>
        </p:spPr>
        <p:txBody>
          <a:bodyPr wrap="square">
            <a:spAutoFit/>
          </a:bodyPr>
          <a:lstStyle/>
          <a:p>
            <a:pPr algn="l">
              <a:lnSpc>
                <a:spcPct val="125000"/>
              </a:lnSpc>
              <a:buClrTx/>
              <a:buSzTx/>
              <a:buFontTx/>
            </a:pPr>
            <a:r>
              <a:rPr lang="en-US" altLang="zh-CN" sz="1800" dirty="0">
                <a:latin typeface="Times New Roman" panose="02020603050405020304" pitchFamily="18" charset="0"/>
                <a:cs typeface="Times New Roman" panose="02020603050405020304" pitchFamily="18" charset="0"/>
              </a:rPr>
              <a:t>print(</a:t>
            </a:r>
            <a:r>
              <a:rPr lang="en-US" altLang="zh-CN" sz="1800" dirty="0" err="1">
                <a:latin typeface="Times New Roman" panose="02020603050405020304" pitchFamily="18" charset="0"/>
                <a:cs typeface="Times New Roman" panose="02020603050405020304" pitchFamily="18" charset="0"/>
              </a:rPr>
              <a:t>metrics.classification_report</a:t>
            </a: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lgn="l">
              <a:lnSpc>
                <a:spcPct val="125000"/>
              </a:lnSpc>
              <a:buClrTx/>
              <a:buSzTx/>
              <a:buFontTx/>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y_dev</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y_pred</a:t>
            </a:r>
            <a:r>
              <a:rPr lang="en-US" altLang="zh-CN" sz="1800" dirty="0">
                <a:latin typeface="Times New Roman" panose="02020603050405020304" pitchFamily="18" charset="0"/>
                <a:cs typeface="Times New Roman" panose="02020603050405020304" pitchFamily="18" charset="0"/>
              </a:rPr>
              <a:t>, labels=</a:t>
            </a:r>
            <a:r>
              <a:rPr lang="en-US" altLang="zh-CN" sz="1800" dirty="0" err="1">
                <a:latin typeface="Times New Roman" panose="02020603050405020304" pitchFamily="18" charset="0"/>
                <a:cs typeface="Times New Roman" panose="02020603050405020304" pitchFamily="18" charset="0"/>
              </a:rPr>
              <a:t>sorted_labels</a:t>
            </a:r>
            <a:r>
              <a:rPr lang="en-US" altLang="zh-CN" sz="1800" dirty="0">
                <a:latin typeface="Times New Roman" panose="02020603050405020304" pitchFamily="18" charset="0"/>
                <a:cs typeface="Times New Roman" panose="02020603050405020304" pitchFamily="18" charset="0"/>
              </a:rPr>
              <a:t>, digits=3))</a:t>
            </a:r>
            <a:endParaRPr lang="en-US" altLang="zh-CN" sz="1800" dirty="0">
              <a:latin typeface="Times New Roman" panose="02020603050405020304" pitchFamily="18" charset="0"/>
              <a:cs typeface="Times New Roman" panose="02020603050405020304" pitchFamily="18" charset="0"/>
            </a:endParaRPr>
          </a:p>
        </p:txBody>
      </p:sp>
      <p:pic>
        <p:nvPicPr>
          <p:cNvPr id="6" name="图片 5"/>
          <p:cNvPicPr>
            <a:picLocks noChangeAspect="1"/>
          </p:cNvPicPr>
          <p:nvPr/>
        </p:nvPicPr>
        <p:blipFill>
          <a:blip r:embed="rId1"/>
          <a:stretch>
            <a:fillRect/>
          </a:stretch>
        </p:blipFill>
        <p:spPr>
          <a:xfrm>
            <a:off x="6096000" y="628572"/>
            <a:ext cx="5623560" cy="5838190"/>
          </a:xfrm>
          <a:prstGeom prst="rect">
            <a:avLst/>
          </a:prstGeom>
        </p:spPr>
      </p:pic>
      <p:graphicFrame>
        <p:nvGraphicFramePr>
          <p:cNvPr id="7" name="表格 6"/>
          <p:cNvGraphicFramePr/>
          <p:nvPr/>
        </p:nvGraphicFramePr>
        <p:xfrm>
          <a:off x="543619" y="2319131"/>
          <a:ext cx="5404485" cy="3859960"/>
        </p:xfrm>
        <a:graphic>
          <a:graphicData uri="http://schemas.openxmlformats.org/drawingml/2006/table">
            <a:tbl>
              <a:tblPr/>
              <a:tblGrid>
                <a:gridCol w="948055"/>
                <a:gridCol w="1242060"/>
                <a:gridCol w="623570"/>
                <a:gridCol w="2590800"/>
              </a:tblGrid>
              <a:tr h="0">
                <a:tc>
                  <a:txBody>
                    <a:bodyPr/>
                    <a:lstStyle/>
                    <a:p>
                      <a:pPr algn="ctr"/>
                      <a:r>
                        <a:rPr lang="zh-CN" altLang="en-US" sz="1400" b="0" i="0">
                          <a:solidFill>
                            <a:srgbClr val="404040"/>
                          </a:solidFill>
                          <a:latin typeface="+mn-ea"/>
                          <a:ea typeface="+mn-ea"/>
                        </a:rPr>
                        <a:t>评价维度</a:t>
                      </a:r>
                      <a:endParaRPr lang="zh-CN" altLang="en-US" sz="1400" b="0" i="0">
                        <a:solidFill>
                          <a:srgbClr val="404040"/>
                        </a:solidFill>
                        <a:latin typeface="+mn-ea"/>
                        <a:ea typeface="+mn-ea"/>
                      </a:endParaRPr>
                    </a:p>
                  </a:txBody>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dirty="0">
                          <a:solidFill>
                            <a:srgbClr val="404040"/>
                          </a:solidFill>
                          <a:latin typeface="+mn-ea"/>
                          <a:ea typeface="+mn-ea"/>
                          <a:cs typeface="Times New Roman" panose="02020603050405020304" pitchFamily="18" charset="0"/>
                        </a:rPr>
                        <a:t>标签</a:t>
                      </a:r>
                      <a:endParaRPr lang="zh-CN" altLang="en-US"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F1</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a:solidFill>
                            <a:srgbClr val="404040"/>
                          </a:solidFill>
                          <a:latin typeface="+mn-ea"/>
                          <a:ea typeface="+mn-ea"/>
                        </a:rPr>
                        <a:t>具体分析</a:t>
                      </a:r>
                      <a:endParaRPr lang="zh-CN" altLang="en-US" sz="1400" b="0" i="0">
                        <a:solidFill>
                          <a:srgbClr val="404040"/>
                        </a:solidFill>
                        <a:latin typeface="+mn-ea"/>
                        <a:ea typeface="+mn-ea"/>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a:txBody>
                    <a:bodyPr/>
                    <a:lstStyle/>
                    <a:p>
                      <a:pPr algn="ctr"/>
                      <a:r>
                        <a:rPr lang="zh-CN" altLang="en-US" sz="1400" b="0" i="0" dirty="0">
                          <a:solidFill>
                            <a:srgbClr val="404040"/>
                          </a:solidFill>
                          <a:latin typeface="+mn-ea"/>
                          <a:ea typeface="+mn-ea"/>
                        </a:rPr>
                        <a:t>整体性能</a:t>
                      </a:r>
                      <a:endParaRPr lang="zh-CN" altLang="en-US" sz="1400" b="0" i="0" dirty="0">
                        <a:solidFill>
                          <a:srgbClr val="404040"/>
                        </a:solidFill>
                        <a:latin typeface="+mn-ea"/>
                        <a:ea typeface="+mn-ea"/>
                      </a:endParaRPr>
                    </a:p>
                  </a:txBody>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Weighted F1</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0.722</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dirty="0">
                          <a:solidFill>
                            <a:srgbClr val="404040"/>
                          </a:solidFill>
                          <a:latin typeface="+mn-ea"/>
                          <a:ea typeface="+mn-ea"/>
                          <a:cs typeface="Times New Roman" panose="02020603050405020304" pitchFamily="18" charset="0"/>
                        </a:rPr>
                        <a:t>接近工业应用最低标准</a:t>
                      </a:r>
                      <a:r>
                        <a:rPr lang="en-US" altLang="zh-CN" sz="1400" b="0" i="0" dirty="0">
                          <a:solidFill>
                            <a:srgbClr val="404040"/>
                          </a:solidFill>
                          <a:latin typeface="+mn-ea"/>
                          <a:ea typeface="+mn-ea"/>
                          <a:cs typeface="Times New Roman" panose="02020603050405020304" pitchFamily="18" charset="0"/>
                        </a:rPr>
                        <a:t>(</a:t>
                      </a:r>
                      <a:r>
                        <a:rPr lang="zh-CN" altLang="en-US" sz="1400" b="0" i="0" dirty="0">
                          <a:solidFill>
                            <a:srgbClr val="404040"/>
                          </a:solidFill>
                          <a:latin typeface="+mn-ea"/>
                          <a:ea typeface="+mn-ea"/>
                          <a:cs typeface="Times New Roman" panose="02020603050405020304" pitchFamily="18" charset="0"/>
                        </a:rPr>
                        <a:t>通常需</a:t>
                      </a:r>
                      <a:r>
                        <a:rPr lang="en-US" altLang="zh-CN" sz="1400" b="0" i="0" dirty="0">
                          <a:solidFill>
                            <a:srgbClr val="404040"/>
                          </a:solidFill>
                          <a:latin typeface="+mn-ea"/>
                          <a:ea typeface="+mn-ea"/>
                          <a:cs typeface="Times New Roman" panose="02020603050405020304" pitchFamily="18" charset="0"/>
                        </a:rPr>
                        <a:t>≥0.75)</a:t>
                      </a:r>
                      <a:r>
                        <a:rPr lang="zh-CN" altLang="en-US" sz="1400" b="0" i="0" dirty="0">
                          <a:solidFill>
                            <a:srgbClr val="404040"/>
                          </a:solidFill>
                          <a:latin typeface="+mn-ea"/>
                          <a:ea typeface="+mn-ea"/>
                          <a:cs typeface="Times New Roman" panose="02020603050405020304" pitchFamily="18" charset="0"/>
                        </a:rPr>
                        <a:t>，模型表现中等偏上</a:t>
                      </a:r>
                      <a:endParaRPr lang="zh-CN" altLang="en-US"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rowSpan="5">
                  <a:txBody>
                    <a:bodyPr/>
                    <a:lstStyle/>
                    <a:p>
                      <a:pPr algn="ctr"/>
                      <a:r>
                        <a:rPr lang="zh-CN" altLang="en-US" sz="1400" b="0" i="0" dirty="0">
                          <a:solidFill>
                            <a:srgbClr val="404040"/>
                          </a:solidFill>
                          <a:latin typeface="+mn-ea"/>
                          <a:ea typeface="+mn-ea"/>
                        </a:rPr>
                        <a:t>最佳表现类别</a:t>
                      </a:r>
                      <a:endParaRPr lang="zh-CN" altLang="en-US" sz="1400" b="0" i="0" dirty="0">
                        <a:solidFill>
                          <a:srgbClr val="404040"/>
                        </a:solidFill>
                        <a:latin typeface="+mn-ea"/>
                        <a:ea typeface="+mn-ea"/>
                      </a:endParaRPr>
                    </a:p>
                  </a:txBody>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B-game </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0.817</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rowSpan="2">
                  <a:txBody>
                    <a:bodyPr/>
                    <a:lstStyle/>
                    <a:p>
                      <a:pPr algn="ctr"/>
                      <a:r>
                        <a:rPr lang="zh-CN" altLang="en-US" sz="1400" b="0" i="0" dirty="0">
                          <a:solidFill>
                            <a:srgbClr val="404040"/>
                          </a:solidFill>
                          <a:latin typeface="+mn-ea"/>
                          <a:ea typeface="+mn-ea"/>
                          <a:cs typeface="Times New Roman" panose="02020603050405020304" pitchFamily="18" charset="0"/>
                        </a:rPr>
                        <a:t>游戏类实体识别效果最优，起始和内部标记均准确</a:t>
                      </a:r>
                      <a:endParaRPr lang="zh-CN" altLang="en-US"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vMerge="1">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I-game</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0.813</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vMerge="1">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vMerge="1">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B-government</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0.780</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rowSpan="2">
                  <a:txBody>
                    <a:bodyPr/>
                    <a:lstStyle/>
                    <a:p>
                      <a:pPr algn="ctr"/>
                      <a:r>
                        <a:rPr lang="zh-CN" altLang="en-US" sz="1400" b="0" i="0" dirty="0">
                          <a:solidFill>
                            <a:srgbClr val="404040"/>
                          </a:solidFill>
                          <a:latin typeface="+mn-ea"/>
                          <a:ea typeface="+mn-ea"/>
                        </a:rPr>
                        <a:t>政府机构名称识别可靠，</a:t>
                      </a:r>
                      <a:r>
                        <a:rPr lang="zh-CN" altLang="en-US" sz="1400" dirty="0">
                          <a:solidFill>
                            <a:srgbClr val="404040"/>
                          </a:solidFill>
                          <a:latin typeface="+mn-ea"/>
                          <a:ea typeface="+mn-ea"/>
                          <a:cs typeface="Times New Roman" panose="02020603050405020304" pitchFamily="18" charset="0"/>
                          <a:sym typeface="+mn-ea"/>
                        </a:rPr>
                        <a:t>起始和内部标记均稳定</a:t>
                      </a:r>
                      <a:endParaRPr lang="zh-CN" altLang="en-US" sz="1400" dirty="0">
                        <a:solidFill>
                          <a:srgbClr val="404040"/>
                        </a:solidFill>
                        <a:latin typeface="+mn-ea"/>
                        <a:ea typeface="+mn-ea"/>
                        <a:cs typeface="Times New Roman" panose="02020603050405020304" pitchFamily="18" charset="0"/>
                        <a:sym typeface="+mn-ea"/>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vMerge="1">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buNone/>
                      </a:pPr>
                      <a:r>
                        <a:rPr lang="en-US" altLang="zh-CN" sz="1400" dirty="0">
                          <a:solidFill>
                            <a:srgbClr val="404040"/>
                          </a:solidFill>
                          <a:latin typeface="+mn-ea"/>
                          <a:ea typeface="+mn-ea"/>
                          <a:cs typeface="Times New Roman" panose="02020603050405020304" pitchFamily="18" charset="0"/>
                          <a:sym typeface="+mn-ea"/>
                        </a:rPr>
                        <a:t>I-government</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buNone/>
                      </a:pPr>
                      <a:r>
                        <a:rPr lang="en-US" altLang="zh-CN" sz="1400" b="0" i="0" dirty="0">
                          <a:solidFill>
                            <a:srgbClr val="404040"/>
                          </a:solidFill>
                          <a:latin typeface="+mn-ea"/>
                          <a:ea typeface="+mn-ea"/>
                          <a:cs typeface="Times New Roman" panose="02020603050405020304" pitchFamily="18" charset="0"/>
                        </a:rPr>
                        <a:t>0.779</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vMerge="1">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vMerge="1">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B-name</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0.780</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dirty="0">
                          <a:solidFill>
                            <a:srgbClr val="404040"/>
                          </a:solidFill>
                          <a:latin typeface="+mn-ea"/>
                          <a:ea typeface="+mn-ea"/>
                        </a:rPr>
                        <a:t>人名起始识别效果突出</a:t>
                      </a:r>
                      <a:endParaRPr lang="zh-CN" altLang="en-US" sz="1400" b="0" i="0" dirty="0">
                        <a:solidFill>
                          <a:srgbClr val="404040"/>
                        </a:solidFill>
                        <a:latin typeface="+mn-ea"/>
                        <a:ea typeface="+mn-ea"/>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rowSpan="3">
                  <a:txBody>
                    <a:bodyPr/>
                    <a:lstStyle/>
                    <a:p>
                      <a:pPr algn="ctr"/>
                      <a:r>
                        <a:rPr lang="zh-CN" altLang="en-US" sz="1400" b="0" i="0">
                          <a:solidFill>
                            <a:srgbClr val="404040"/>
                          </a:solidFill>
                          <a:latin typeface="+mn-ea"/>
                          <a:ea typeface="+mn-ea"/>
                        </a:rPr>
                        <a:t>薄弱环节</a:t>
                      </a:r>
                      <a:endParaRPr lang="zh-CN" altLang="en-US" sz="1400" b="0" i="0">
                        <a:solidFill>
                          <a:srgbClr val="404040"/>
                        </a:solidFill>
                        <a:latin typeface="+mn-ea"/>
                        <a:ea typeface="+mn-ea"/>
                      </a:endParaRPr>
                    </a:p>
                  </a:txBody>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B-scene </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0.547</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dirty="0">
                          <a:solidFill>
                            <a:srgbClr val="404040"/>
                          </a:solidFill>
                          <a:latin typeface="+mn-ea"/>
                          <a:ea typeface="+mn-ea"/>
                          <a:cs typeface="Times New Roman" panose="02020603050405020304" pitchFamily="18" charset="0"/>
                        </a:rPr>
                        <a:t>场景识别严重不足，召回率仅</a:t>
                      </a:r>
                      <a:r>
                        <a:rPr lang="en-US" altLang="zh-CN" sz="1400" b="0" i="0" dirty="0">
                          <a:solidFill>
                            <a:srgbClr val="404040"/>
                          </a:solidFill>
                          <a:latin typeface="+mn-ea"/>
                          <a:ea typeface="+mn-ea"/>
                          <a:cs typeface="Times New Roman" panose="02020603050405020304" pitchFamily="18" charset="0"/>
                        </a:rPr>
                        <a:t>0.469</a:t>
                      </a:r>
                      <a:r>
                        <a:rPr lang="zh-CN" altLang="en-US" sz="1400" b="0" i="0" dirty="0">
                          <a:solidFill>
                            <a:srgbClr val="404040"/>
                          </a:solidFill>
                          <a:latin typeface="+mn-ea"/>
                          <a:ea typeface="+mn-ea"/>
                          <a:cs typeface="Times New Roman" panose="02020603050405020304" pitchFamily="18" charset="0"/>
                        </a:rPr>
                        <a:t>，可能存在特征缺失或标注不一致</a:t>
                      </a:r>
                      <a:endParaRPr lang="zh-CN" altLang="en-US"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vMerge="1">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I-organization</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0.639</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dirty="0">
                          <a:solidFill>
                            <a:srgbClr val="404040"/>
                          </a:solidFill>
                          <a:latin typeface="+mn-ea"/>
                          <a:ea typeface="+mn-ea"/>
                        </a:rPr>
                        <a:t>组织名内部识别能力弱，需加强长实体建模</a:t>
                      </a:r>
                      <a:endParaRPr lang="zh-CN" altLang="en-US" sz="1400" b="0" i="0" dirty="0">
                        <a:solidFill>
                          <a:srgbClr val="404040"/>
                        </a:solidFill>
                        <a:latin typeface="+mn-ea"/>
                        <a:ea typeface="+mn-ea"/>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r h="0">
                <a:tc vMerge="1">
                  <a:tcPr marL="0"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dirty="0">
                          <a:solidFill>
                            <a:srgbClr val="404040"/>
                          </a:solidFill>
                          <a:latin typeface="+mn-ea"/>
                          <a:ea typeface="+mn-ea"/>
                          <a:cs typeface="Times New Roman" panose="02020603050405020304" pitchFamily="18" charset="0"/>
                        </a:rPr>
                        <a:t>B-address</a:t>
                      </a:r>
                      <a:endParaRPr lang="en-US" altLang="zh-CN"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en-US" altLang="zh-CN" sz="1400" b="0" i="0">
                          <a:solidFill>
                            <a:srgbClr val="404040"/>
                          </a:solidFill>
                          <a:latin typeface="+mn-ea"/>
                          <a:ea typeface="+mn-ea"/>
                          <a:cs typeface="Times New Roman" panose="02020603050405020304" pitchFamily="18" charset="0"/>
                        </a:rPr>
                        <a:t>0.598</a:t>
                      </a:r>
                      <a:endParaRPr lang="en-US" altLang="zh-CN" sz="1400" b="0" i="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c>
                  <a:txBody>
                    <a:bodyPr/>
                    <a:lstStyle/>
                    <a:p>
                      <a:pPr algn="ctr"/>
                      <a:r>
                        <a:rPr lang="zh-CN" altLang="en-US" sz="1400" b="0" i="0" dirty="0">
                          <a:solidFill>
                            <a:srgbClr val="404040"/>
                          </a:solidFill>
                          <a:latin typeface="+mn-ea"/>
                          <a:ea typeface="+mn-ea"/>
                          <a:cs typeface="Times New Roman" panose="02020603050405020304" pitchFamily="18" charset="0"/>
                        </a:rPr>
                        <a:t>地址起始识别较差</a:t>
                      </a:r>
                      <a:r>
                        <a:rPr lang="en-US" altLang="zh-CN" sz="1400" b="0" i="0" dirty="0">
                          <a:solidFill>
                            <a:srgbClr val="404040"/>
                          </a:solidFill>
                          <a:latin typeface="+mn-ea"/>
                          <a:ea typeface="+mn-ea"/>
                          <a:cs typeface="Times New Roman" panose="02020603050405020304" pitchFamily="18" charset="0"/>
                        </a:rPr>
                        <a:t>(</a:t>
                      </a:r>
                      <a:r>
                        <a:rPr lang="zh-CN" altLang="en-US" sz="1400" b="0" i="0" dirty="0">
                          <a:solidFill>
                            <a:srgbClr val="404040"/>
                          </a:solidFill>
                          <a:latin typeface="+mn-ea"/>
                          <a:ea typeface="+mn-ea"/>
                          <a:cs typeface="Times New Roman" panose="02020603050405020304" pitchFamily="18" charset="0"/>
                        </a:rPr>
                        <a:t>召回率</a:t>
                      </a:r>
                      <a:r>
                        <a:rPr lang="en-US" altLang="zh-CN" sz="1400" b="0" i="0" dirty="0">
                          <a:solidFill>
                            <a:srgbClr val="404040"/>
                          </a:solidFill>
                          <a:latin typeface="+mn-ea"/>
                          <a:ea typeface="+mn-ea"/>
                          <a:cs typeface="Times New Roman" panose="02020603050405020304" pitchFamily="18" charset="0"/>
                        </a:rPr>
                        <a:t>0.542)</a:t>
                      </a:r>
                      <a:r>
                        <a:rPr lang="zh-CN" altLang="en-US" sz="1400" b="0" i="0" dirty="0">
                          <a:solidFill>
                            <a:srgbClr val="404040"/>
                          </a:solidFill>
                          <a:latin typeface="+mn-ea"/>
                          <a:ea typeface="+mn-ea"/>
                          <a:cs typeface="Times New Roman" panose="02020603050405020304" pitchFamily="18" charset="0"/>
                        </a:rPr>
                        <a:t>，可能受复杂格式影响</a:t>
                      </a:r>
                      <a:endParaRPr lang="zh-CN" altLang="en-US" sz="1400" b="0" i="0" dirty="0">
                        <a:solidFill>
                          <a:srgbClr val="404040"/>
                        </a:solidFill>
                        <a:latin typeface="+mn-ea"/>
                        <a:ea typeface="+mn-ea"/>
                        <a:cs typeface="Times New Roman" panose="02020603050405020304" pitchFamily="18" charset="0"/>
                      </a:endParaRPr>
                    </a:p>
                  </a:txBody>
                  <a:tcPr marL="65639" marR="65639" marT="32978" marB="32978" anchor="ctr">
                    <a:lnL>
                      <a:noFill/>
                    </a:lnL>
                    <a:lnR>
                      <a:noFill/>
                    </a:lnR>
                    <a:lnT w="3810" cap="flat" cmpd="sng">
                      <a:solidFill>
                        <a:srgbClr val="A3A3A3"/>
                      </a:solidFill>
                      <a:prstDash val="solid"/>
                      <a:headEnd type="none" w="med" len="med"/>
                      <a:tailEnd type="none" w="med" len="med"/>
                    </a:lnT>
                    <a:lnB w="3810" cap="flat" cmpd="sng">
                      <a:solidFill>
                        <a:srgbClr val="A3A3A3"/>
                      </a:solidFill>
                      <a:prstDash val="solid"/>
                      <a:headEnd type="none" w="med" len="med"/>
                      <a:tailEnd type="none" w="med" len="med"/>
                    </a:lnB>
                    <a:noFill/>
                  </a:tcPr>
                </a:tc>
              </a:tr>
            </a:tbl>
          </a:graphicData>
        </a:graphic>
      </p:graphicFrame>
      <p:grpSp>
        <p:nvGrpSpPr>
          <p:cNvPr id="9" name="组合 8"/>
          <p:cNvGrpSpPr/>
          <p:nvPr/>
        </p:nvGrpSpPr>
        <p:grpSpPr>
          <a:xfrm>
            <a:off x="-558165" y="386715"/>
            <a:ext cx="4772025" cy="1273810"/>
            <a:chOff x="-879" y="609"/>
            <a:chExt cx="7515" cy="2006"/>
          </a:xfrm>
        </p:grpSpPr>
        <p:sp>
          <p:nvSpPr>
            <p:cNvPr id="17" name="文本框 16"/>
            <p:cNvSpPr txBox="1"/>
            <p:nvPr/>
          </p:nvSpPr>
          <p:spPr>
            <a:xfrm>
              <a:off x="1518" y="1104"/>
              <a:ext cx="5118" cy="1016"/>
            </a:xfrm>
            <a:prstGeom prst="rect">
              <a:avLst/>
            </a:prstGeom>
            <a:noFill/>
          </p:spPr>
          <p:txBody>
            <a:bodyPr wrap="square" rtlCol="0">
              <a:spAutoFit/>
            </a:bodyPr>
            <a:p>
              <a:pPr algn="l"/>
              <a:r>
                <a:rPr lang="zh-CN" altLang="en-US"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输出结果</a:t>
              </a:r>
              <a:r>
                <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rPr>
                <a:t>2</a:t>
              </a:r>
              <a:endParaRPr lang="en-US" altLang="zh-CN" sz="3600" b="1" dirty="0">
                <a:solidFill>
                  <a:schemeClr val="tx1">
                    <a:lumMod val="75000"/>
                    <a:lumOff val="25000"/>
                  </a:schemeClr>
                </a:solidFill>
                <a:latin typeface="思源宋体 Heavy" panose="02020900000000000000" charset="-122"/>
                <a:ea typeface="思源宋体 Heavy" panose="02020900000000000000" charset="-122"/>
                <a:cs typeface="思源宋体" panose="02020700000000000000" charset="-122"/>
                <a:sym typeface="+mn-ea"/>
              </a:endParaRPr>
            </a:p>
          </p:txBody>
        </p:sp>
        <p:sp>
          <p:nvSpPr>
            <p:cNvPr id="24" name="椭圆 23"/>
            <p:cNvSpPr/>
            <p:nvPr/>
          </p:nvSpPr>
          <p:spPr>
            <a:xfrm>
              <a:off x="-778" y="711"/>
              <a:ext cx="1803" cy="1803"/>
            </a:xfrm>
            <a:prstGeom prst="ellipse">
              <a:avLst/>
            </a:prstGeom>
            <a:gradFill>
              <a:gsLst>
                <a:gs pos="0">
                  <a:schemeClr val="accent4">
                    <a:lumMod val="75000"/>
                  </a:schemeClr>
                </a:gs>
                <a:gs pos="100000">
                  <a:srgbClr val="F1BD59"/>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思源宋体" panose="02020700000000000000" charset="-122"/>
              </a:endParaRPr>
            </a:p>
          </p:txBody>
        </p:sp>
        <p:sp>
          <p:nvSpPr>
            <p:cNvPr id="25" name="椭圆 24"/>
            <p:cNvSpPr/>
            <p:nvPr/>
          </p:nvSpPr>
          <p:spPr>
            <a:xfrm>
              <a:off x="-879" y="609"/>
              <a:ext cx="2005" cy="2006"/>
            </a:xfrm>
            <a:prstGeom prst="ellipse">
              <a:avLst/>
            </a:prstGeom>
            <a:noFill/>
            <a:ln>
              <a:gradFill>
                <a:gsLst>
                  <a:gs pos="0">
                    <a:schemeClr val="accent4">
                      <a:lumMod val="75000"/>
                    </a:schemeClr>
                  </a:gs>
                  <a:gs pos="100000">
                    <a:srgbClr val="F1BD59"/>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cs typeface="+mn-ea"/>
                <a:sym typeface="+mn-lt"/>
              </a:endParaRPr>
            </a:p>
          </p:txBody>
        </p:sp>
      </p:grpSp>
    </p:spTree>
  </p:cSld>
  <p:clrMapOvr>
    <a:masterClrMapping/>
  </p:clrMapOvr>
  <p:transition>
    <p:wedg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810260" y="0"/>
            <a:ext cx="12588240" cy="6459855"/>
            <a:chOff x="-1276" y="0"/>
            <a:chExt cx="19824" cy="10173"/>
          </a:xfrm>
        </p:grpSpPr>
        <p:sp>
          <p:nvSpPr>
            <p:cNvPr id="28" name="矩形 27"/>
            <p:cNvSpPr/>
            <p:nvPr/>
          </p:nvSpPr>
          <p:spPr>
            <a:xfrm>
              <a:off x="653" y="628"/>
              <a:ext cx="17895" cy="9545"/>
            </a:xfrm>
            <a:prstGeom prst="rect">
              <a:avLst/>
            </a:prstGeom>
            <a:noFill/>
            <a:ln w="165100">
              <a:gradFill>
                <a:gsLst>
                  <a:gs pos="0">
                    <a:srgbClr val="F4CF80"/>
                  </a:gs>
                  <a:gs pos="100000">
                    <a:schemeClr val="accent4">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grpSp>
          <p:nvGrpSpPr>
            <p:cNvPr id="29" name="组合 28"/>
            <p:cNvGrpSpPr/>
            <p:nvPr/>
          </p:nvGrpSpPr>
          <p:grpSpPr>
            <a:xfrm flipH="1">
              <a:off x="-1276" y="0"/>
              <a:ext cx="9515" cy="9637"/>
              <a:chOff x="10604" y="325"/>
              <a:chExt cx="9515" cy="9637"/>
            </a:xfrm>
          </p:grpSpPr>
          <p:sp>
            <p:nvSpPr>
              <p:cNvPr id="30" name="îṡľiḑe"/>
              <p:cNvSpPr/>
              <p:nvPr userDrawn="1"/>
            </p:nvSpPr>
            <p:spPr bwMode="auto">
              <a:xfrm>
                <a:off x="10953" y="3168"/>
                <a:ext cx="9167" cy="6795"/>
              </a:xfrm>
              <a:custGeom>
                <a:avLst/>
                <a:gdLst>
                  <a:gd name="connsiteX0" fmla="*/ 3286679 w 6358155"/>
                  <a:gd name="connsiteY0" fmla="*/ 4338823 h 4713182"/>
                  <a:gd name="connsiteX1" fmla="*/ 3382888 w 6358155"/>
                  <a:gd name="connsiteY1" fmla="*/ 4346358 h 4713182"/>
                  <a:gd name="connsiteX2" fmla="*/ 3712029 w 6358155"/>
                  <a:gd name="connsiteY2" fmla="*/ 4470927 h 4713182"/>
                  <a:gd name="connsiteX3" fmla="*/ 3796322 w 6358155"/>
                  <a:gd name="connsiteY3" fmla="*/ 4523165 h 4713182"/>
                  <a:gd name="connsiteX4" fmla="*/ 3832447 w 6358155"/>
                  <a:gd name="connsiteY4" fmla="*/ 4571386 h 4713182"/>
                  <a:gd name="connsiteX5" fmla="*/ 3776252 w 6358155"/>
                  <a:gd name="connsiteY5" fmla="*/ 4579423 h 4713182"/>
                  <a:gd name="connsiteX6" fmla="*/ 3419013 w 6358155"/>
                  <a:gd name="connsiteY6" fmla="*/ 4491019 h 4713182"/>
                  <a:gd name="connsiteX7" fmla="*/ 3073816 w 6358155"/>
                  <a:gd name="connsiteY7" fmla="*/ 4515129 h 4713182"/>
                  <a:gd name="connsiteX8" fmla="*/ 2865092 w 6358155"/>
                  <a:gd name="connsiteY8" fmla="*/ 4487000 h 4713182"/>
                  <a:gd name="connsiteX9" fmla="*/ 2873120 w 6358155"/>
                  <a:gd name="connsiteY9" fmla="*/ 4438780 h 4713182"/>
                  <a:gd name="connsiteX10" fmla="*/ 2881148 w 6358155"/>
                  <a:gd name="connsiteY10" fmla="*/ 4430743 h 4713182"/>
                  <a:gd name="connsiteX11" fmla="*/ 3005579 w 6358155"/>
                  <a:gd name="connsiteY11" fmla="*/ 4370468 h 4713182"/>
                  <a:gd name="connsiteX12" fmla="*/ 3286679 w 6358155"/>
                  <a:gd name="connsiteY12" fmla="*/ 4338823 h 4713182"/>
                  <a:gd name="connsiteX13" fmla="*/ 764958 w 6358155"/>
                  <a:gd name="connsiteY13" fmla="*/ 3572297 h 4713182"/>
                  <a:gd name="connsiteX14" fmla="*/ 1085873 w 6358155"/>
                  <a:gd name="connsiteY14" fmla="*/ 3664593 h 4713182"/>
                  <a:gd name="connsiteX15" fmla="*/ 1190170 w 6358155"/>
                  <a:gd name="connsiteY15" fmla="*/ 3712747 h 4713182"/>
                  <a:gd name="connsiteX16" fmla="*/ 1254352 w 6358155"/>
                  <a:gd name="connsiteY16" fmla="*/ 3760901 h 4713182"/>
                  <a:gd name="connsiteX17" fmla="*/ 1226272 w 6358155"/>
                  <a:gd name="connsiteY17" fmla="*/ 3780965 h 4713182"/>
                  <a:gd name="connsiteX18" fmla="*/ 917393 w 6358155"/>
                  <a:gd name="connsiteY18" fmla="*/ 3728798 h 4713182"/>
                  <a:gd name="connsiteX19" fmla="*/ 716821 w 6358155"/>
                  <a:gd name="connsiteY19" fmla="*/ 3813068 h 4713182"/>
                  <a:gd name="connsiteX20" fmla="*/ 560375 w 6358155"/>
                  <a:gd name="connsiteY20" fmla="*/ 3813068 h 4713182"/>
                  <a:gd name="connsiteX21" fmla="*/ 520261 w 6358155"/>
                  <a:gd name="connsiteY21" fmla="*/ 3756888 h 4713182"/>
                  <a:gd name="connsiteX22" fmla="*/ 520261 w 6358155"/>
                  <a:gd name="connsiteY22" fmla="*/ 3748862 h 4713182"/>
                  <a:gd name="connsiteX23" fmla="*/ 544330 w 6358155"/>
                  <a:gd name="connsiteY23" fmla="*/ 3656567 h 4713182"/>
                  <a:gd name="connsiteX24" fmla="*/ 764958 w 6358155"/>
                  <a:gd name="connsiteY24" fmla="*/ 3572297 h 4713182"/>
                  <a:gd name="connsiteX25" fmla="*/ 6122731 w 6358155"/>
                  <a:gd name="connsiteY25" fmla="*/ 2175574 h 4713182"/>
                  <a:gd name="connsiteX26" fmla="*/ 6148398 w 6358155"/>
                  <a:gd name="connsiteY26" fmla="*/ 2176138 h 4713182"/>
                  <a:gd name="connsiteX27" fmla="*/ 6164424 w 6358155"/>
                  <a:gd name="connsiteY27" fmla="*/ 2232344 h 4713182"/>
                  <a:gd name="connsiteX28" fmla="*/ 5988136 w 6358155"/>
                  <a:gd name="connsiteY28" fmla="*/ 2581620 h 4713182"/>
                  <a:gd name="connsiteX29" fmla="*/ 6040221 w 6358155"/>
                  <a:gd name="connsiteY29" fmla="*/ 2922867 h 4713182"/>
                  <a:gd name="connsiteX30" fmla="*/ 5988136 w 6358155"/>
                  <a:gd name="connsiteY30" fmla="*/ 3127615 h 4713182"/>
                  <a:gd name="connsiteX31" fmla="*/ 5891979 w 6358155"/>
                  <a:gd name="connsiteY31" fmla="*/ 3123601 h 4713182"/>
                  <a:gd name="connsiteX32" fmla="*/ 5879959 w 6358155"/>
                  <a:gd name="connsiteY32" fmla="*/ 3115571 h 4713182"/>
                  <a:gd name="connsiteX33" fmla="*/ 5755756 w 6358155"/>
                  <a:gd name="connsiteY33" fmla="*/ 2995131 h 4713182"/>
                  <a:gd name="connsiteX34" fmla="*/ 5711684 w 6358155"/>
                  <a:gd name="connsiteY34" fmla="*/ 2625781 h 4713182"/>
                  <a:gd name="connsiteX35" fmla="*/ 5948070 w 6358155"/>
                  <a:gd name="connsiteY35" fmla="*/ 2296579 h 4713182"/>
                  <a:gd name="connsiteX36" fmla="*/ 6056247 w 6358155"/>
                  <a:gd name="connsiteY36" fmla="*/ 2212270 h 4713182"/>
                  <a:gd name="connsiteX37" fmla="*/ 6122731 w 6358155"/>
                  <a:gd name="connsiteY37" fmla="*/ 2175574 h 4713182"/>
                  <a:gd name="connsiteX38" fmla="*/ 1266937 w 6358155"/>
                  <a:gd name="connsiteY38" fmla="*/ 171788 h 4713182"/>
                  <a:gd name="connsiteX39" fmla="*/ 1326146 w 6358155"/>
                  <a:gd name="connsiteY39" fmla="*/ 194357 h 4713182"/>
                  <a:gd name="connsiteX40" fmla="*/ 1338176 w 6358155"/>
                  <a:gd name="connsiteY40" fmla="*/ 202381 h 4713182"/>
                  <a:gd name="connsiteX41" fmla="*/ 1418374 w 6358155"/>
                  <a:gd name="connsiteY41" fmla="*/ 330771 h 4713182"/>
                  <a:gd name="connsiteX42" fmla="*/ 1390305 w 6358155"/>
                  <a:gd name="connsiteY42" fmla="*/ 655758 h 4713182"/>
                  <a:gd name="connsiteX43" fmla="*/ 1125651 w 6358155"/>
                  <a:gd name="connsiteY43" fmla="*/ 892477 h 4713182"/>
                  <a:gd name="connsiteX44" fmla="*/ 1021393 w 6358155"/>
                  <a:gd name="connsiteY44" fmla="*/ 944636 h 4713182"/>
                  <a:gd name="connsiteX45" fmla="*/ 933175 w 6358155"/>
                  <a:gd name="connsiteY45" fmla="*/ 960685 h 4713182"/>
                  <a:gd name="connsiteX46" fmla="*/ 929165 w 6358155"/>
                  <a:gd name="connsiteY46" fmla="*/ 908526 h 4713182"/>
                  <a:gd name="connsiteX47" fmla="*/ 1145700 w 6358155"/>
                  <a:gd name="connsiteY47" fmla="*/ 639710 h 4713182"/>
                  <a:gd name="connsiteX48" fmla="*/ 1161740 w 6358155"/>
                  <a:gd name="connsiteY48" fmla="*/ 338795 h 4713182"/>
                  <a:gd name="connsiteX49" fmla="*/ 1245948 w 6358155"/>
                  <a:gd name="connsiteY49" fmla="*/ 174296 h 4713182"/>
                  <a:gd name="connsiteX50" fmla="*/ 1266937 w 6358155"/>
                  <a:gd name="connsiteY50" fmla="*/ 171788 h 4713182"/>
                  <a:gd name="connsiteX51" fmla="*/ 2060201 w 6358155"/>
                  <a:gd name="connsiteY51" fmla="*/ 2300 h 4713182"/>
                  <a:gd name="connsiteX52" fmla="*/ 2655824 w 6358155"/>
                  <a:gd name="connsiteY52" fmla="*/ 271360 h 4713182"/>
                  <a:gd name="connsiteX53" fmla="*/ 3057298 w 6358155"/>
                  <a:gd name="connsiteY53" fmla="*/ 359605 h 4713182"/>
                  <a:gd name="connsiteX54" fmla="*/ 3466801 w 6358155"/>
                  <a:gd name="connsiteY54" fmla="*/ 143003 h 4713182"/>
                  <a:gd name="connsiteX55" fmla="*/ 3972657 w 6358155"/>
                  <a:gd name="connsiteY55" fmla="*/ 215204 h 4713182"/>
                  <a:gd name="connsiteX56" fmla="*/ 4121203 w 6358155"/>
                  <a:gd name="connsiteY56" fmla="*/ 363616 h 4713182"/>
                  <a:gd name="connsiteX57" fmla="*/ 4635089 w 6358155"/>
                  <a:gd name="connsiteY57" fmla="*/ 367627 h 4713182"/>
                  <a:gd name="connsiteX58" fmla="*/ 4803707 w 6358155"/>
                  <a:gd name="connsiteY58" fmla="*/ 175092 h 4713182"/>
                  <a:gd name="connsiteX59" fmla="*/ 5911775 w 6358155"/>
                  <a:gd name="connsiteY59" fmla="*/ 343560 h 4713182"/>
                  <a:gd name="connsiteX60" fmla="*/ 6357411 w 6358155"/>
                  <a:gd name="connsiteY60" fmla="*/ 1274146 h 4713182"/>
                  <a:gd name="connsiteX61" fmla="*/ 6317263 w 6358155"/>
                  <a:gd name="connsiteY61" fmla="*/ 1599049 h 4713182"/>
                  <a:gd name="connsiteX62" fmla="*/ 6305219 w 6358155"/>
                  <a:gd name="connsiteY62" fmla="*/ 1647182 h 4713182"/>
                  <a:gd name="connsiteX63" fmla="*/ 6301204 w 6358155"/>
                  <a:gd name="connsiteY63" fmla="*/ 1655205 h 4713182"/>
                  <a:gd name="connsiteX64" fmla="*/ 6285145 w 6358155"/>
                  <a:gd name="connsiteY64" fmla="*/ 1691305 h 4713182"/>
                  <a:gd name="connsiteX65" fmla="*/ 6281131 w 6358155"/>
                  <a:gd name="connsiteY65" fmla="*/ 1703338 h 4713182"/>
                  <a:gd name="connsiteX66" fmla="*/ 6269086 w 6358155"/>
                  <a:gd name="connsiteY66" fmla="*/ 1735428 h 4713182"/>
                  <a:gd name="connsiteX67" fmla="*/ 6261057 w 6358155"/>
                  <a:gd name="connsiteY67" fmla="*/ 1751472 h 4713182"/>
                  <a:gd name="connsiteX68" fmla="*/ 6244997 w 6358155"/>
                  <a:gd name="connsiteY68" fmla="*/ 1779550 h 4713182"/>
                  <a:gd name="connsiteX69" fmla="*/ 6236968 w 6358155"/>
                  <a:gd name="connsiteY69" fmla="*/ 1795595 h 4713182"/>
                  <a:gd name="connsiteX70" fmla="*/ 6224924 w 6358155"/>
                  <a:gd name="connsiteY70" fmla="*/ 1823673 h 4713182"/>
                  <a:gd name="connsiteX71" fmla="*/ 6212880 w 6358155"/>
                  <a:gd name="connsiteY71" fmla="*/ 1839717 h 4713182"/>
                  <a:gd name="connsiteX72" fmla="*/ 6196821 w 6358155"/>
                  <a:gd name="connsiteY72" fmla="*/ 1863784 h 4713182"/>
                  <a:gd name="connsiteX73" fmla="*/ 6188791 w 6358155"/>
                  <a:gd name="connsiteY73" fmla="*/ 1879829 h 4713182"/>
                  <a:gd name="connsiteX74" fmla="*/ 6168717 w 6358155"/>
                  <a:gd name="connsiteY74" fmla="*/ 1907907 h 4713182"/>
                  <a:gd name="connsiteX75" fmla="*/ 6156673 w 6358155"/>
                  <a:gd name="connsiteY75" fmla="*/ 1919940 h 4713182"/>
                  <a:gd name="connsiteX76" fmla="*/ 6128571 w 6358155"/>
                  <a:gd name="connsiteY76" fmla="*/ 1956041 h 4713182"/>
                  <a:gd name="connsiteX77" fmla="*/ 6048275 w 6358155"/>
                  <a:gd name="connsiteY77" fmla="*/ 2036263 h 4713182"/>
                  <a:gd name="connsiteX78" fmla="*/ 6020173 w 6358155"/>
                  <a:gd name="connsiteY78" fmla="*/ 2060330 h 4713182"/>
                  <a:gd name="connsiteX79" fmla="*/ 5988055 w 6358155"/>
                  <a:gd name="connsiteY79" fmla="*/ 2084397 h 4713182"/>
                  <a:gd name="connsiteX80" fmla="*/ 5831480 w 6358155"/>
                  <a:gd name="connsiteY80" fmla="*/ 2212754 h 4713182"/>
                  <a:gd name="connsiteX81" fmla="*/ 5771259 w 6358155"/>
                  <a:gd name="connsiteY81" fmla="*/ 2264899 h 4713182"/>
                  <a:gd name="connsiteX82" fmla="*/ 5598625 w 6358155"/>
                  <a:gd name="connsiteY82" fmla="*/ 2517601 h 4713182"/>
                  <a:gd name="connsiteX83" fmla="*/ 5586581 w 6358155"/>
                  <a:gd name="connsiteY83" fmla="*/ 2561723 h 4713182"/>
                  <a:gd name="connsiteX84" fmla="*/ 5582567 w 6358155"/>
                  <a:gd name="connsiteY84" fmla="*/ 2581779 h 4713182"/>
                  <a:gd name="connsiteX85" fmla="*/ 5578551 w 6358155"/>
                  <a:gd name="connsiteY85" fmla="*/ 2621890 h 4713182"/>
                  <a:gd name="connsiteX86" fmla="*/ 5574537 w 6358155"/>
                  <a:gd name="connsiteY86" fmla="*/ 2645957 h 4713182"/>
                  <a:gd name="connsiteX87" fmla="*/ 5574537 w 6358155"/>
                  <a:gd name="connsiteY87" fmla="*/ 2666013 h 4713182"/>
                  <a:gd name="connsiteX88" fmla="*/ 5574537 w 6358155"/>
                  <a:gd name="connsiteY88" fmla="*/ 2686069 h 4713182"/>
                  <a:gd name="connsiteX89" fmla="*/ 5578551 w 6358155"/>
                  <a:gd name="connsiteY89" fmla="*/ 2706125 h 4713182"/>
                  <a:gd name="connsiteX90" fmla="*/ 5582567 w 6358155"/>
                  <a:gd name="connsiteY90" fmla="*/ 2750247 h 4713182"/>
                  <a:gd name="connsiteX91" fmla="*/ 5586581 w 6358155"/>
                  <a:gd name="connsiteY91" fmla="*/ 2770303 h 4713182"/>
                  <a:gd name="connsiteX92" fmla="*/ 5594611 w 6358155"/>
                  <a:gd name="connsiteY92" fmla="*/ 2810414 h 4713182"/>
                  <a:gd name="connsiteX93" fmla="*/ 5602640 w 6358155"/>
                  <a:gd name="connsiteY93" fmla="*/ 2830470 h 4713182"/>
                  <a:gd name="connsiteX94" fmla="*/ 5678920 w 6358155"/>
                  <a:gd name="connsiteY94" fmla="*/ 3018994 h 4713182"/>
                  <a:gd name="connsiteX95" fmla="*/ 5723082 w 6358155"/>
                  <a:gd name="connsiteY95" fmla="*/ 3099217 h 4713182"/>
                  <a:gd name="connsiteX96" fmla="*/ 5803377 w 6358155"/>
                  <a:gd name="connsiteY96" fmla="*/ 3247629 h 4713182"/>
                  <a:gd name="connsiteX97" fmla="*/ 5827465 w 6358155"/>
                  <a:gd name="connsiteY97" fmla="*/ 3287740 h 4713182"/>
                  <a:gd name="connsiteX98" fmla="*/ 5851553 w 6358155"/>
                  <a:gd name="connsiteY98" fmla="*/ 3331863 h 4713182"/>
                  <a:gd name="connsiteX99" fmla="*/ 5875642 w 6358155"/>
                  <a:gd name="connsiteY99" fmla="*/ 3371975 h 4713182"/>
                  <a:gd name="connsiteX100" fmla="*/ 5899731 w 6358155"/>
                  <a:gd name="connsiteY100" fmla="*/ 3416097 h 4713182"/>
                  <a:gd name="connsiteX101" fmla="*/ 5980025 w 6358155"/>
                  <a:gd name="connsiteY101" fmla="*/ 3608632 h 4713182"/>
                  <a:gd name="connsiteX102" fmla="*/ 6024187 w 6358155"/>
                  <a:gd name="connsiteY102" fmla="*/ 3981669 h 4713182"/>
                  <a:gd name="connsiteX103" fmla="*/ 6012143 w 6358155"/>
                  <a:gd name="connsiteY103" fmla="*/ 4053869 h 4713182"/>
                  <a:gd name="connsiteX104" fmla="*/ 5980025 w 6358155"/>
                  <a:gd name="connsiteY104" fmla="*/ 4154148 h 4713182"/>
                  <a:gd name="connsiteX105" fmla="*/ 5935863 w 6358155"/>
                  <a:gd name="connsiteY105" fmla="*/ 4246404 h 4713182"/>
                  <a:gd name="connsiteX106" fmla="*/ 5919804 w 6358155"/>
                  <a:gd name="connsiteY106" fmla="*/ 4274482 h 4713182"/>
                  <a:gd name="connsiteX107" fmla="*/ 5879657 w 6358155"/>
                  <a:gd name="connsiteY107" fmla="*/ 4330638 h 4713182"/>
                  <a:gd name="connsiteX108" fmla="*/ 5855569 w 6358155"/>
                  <a:gd name="connsiteY108" fmla="*/ 4354705 h 4713182"/>
                  <a:gd name="connsiteX109" fmla="*/ 4683265 w 6358155"/>
                  <a:gd name="connsiteY109" fmla="*/ 4703675 h 4713182"/>
                  <a:gd name="connsiteX110" fmla="*/ 4570853 w 6358155"/>
                  <a:gd name="connsiteY110" fmla="*/ 4691641 h 4713182"/>
                  <a:gd name="connsiteX111" fmla="*/ 4502603 w 6358155"/>
                  <a:gd name="connsiteY111" fmla="*/ 4675597 h 4713182"/>
                  <a:gd name="connsiteX112" fmla="*/ 4466470 w 6358155"/>
                  <a:gd name="connsiteY112" fmla="*/ 4667574 h 4713182"/>
                  <a:gd name="connsiteX113" fmla="*/ 4398219 w 6358155"/>
                  <a:gd name="connsiteY113" fmla="*/ 4651530 h 4713182"/>
                  <a:gd name="connsiteX114" fmla="*/ 4366101 w 6358155"/>
                  <a:gd name="connsiteY114" fmla="*/ 4639496 h 4713182"/>
                  <a:gd name="connsiteX115" fmla="*/ 4237630 w 6358155"/>
                  <a:gd name="connsiteY115" fmla="*/ 4595374 h 4713182"/>
                  <a:gd name="connsiteX116" fmla="*/ 4153321 w 6358155"/>
                  <a:gd name="connsiteY116" fmla="*/ 4563285 h 4713182"/>
                  <a:gd name="connsiteX117" fmla="*/ 3848201 w 6358155"/>
                  <a:gd name="connsiteY117" fmla="*/ 4434928 h 4713182"/>
                  <a:gd name="connsiteX118" fmla="*/ 2940870 w 6358155"/>
                  <a:gd name="connsiteY118" fmla="*/ 4302560 h 4713182"/>
                  <a:gd name="connsiteX119" fmla="*/ 2824443 w 6358155"/>
                  <a:gd name="connsiteY119" fmla="*/ 4346683 h 4713182"/>
                  <a:gd name="connsiteX120" fmla="*/ 2768237 w 6358155"/>
                  <a:gd name="connsiteY120" fmla="*/ 4370750 h 4713182"/>
                  <a:gd name="connsiteX121" fmla="*/ 2583559 w 6358155"/>
                  <a:gd name="connsiteY121" fmla="*/ 4458995 h 4713182"/>
                  <a:gd name="connsiteX122" fmla="*/ 2479176 w 6358155"/>
                  <a:gd name="connsiteY122" fmla="*/ 4499106 h 4713182"/>
                  <a:gd name="connsiteX123" fmla="*/ 1583890 w 6358155"/>
                  <a:gd name="connsiteY123" fmla="*/ 4218326 h 4713182"/>
                  <a:gd name="connsiteX124" fmla="*/ 1551772 w 6358155"/>
                  <a:gd name="connsiteY124" fmla="*/ 4174204 h 4713182"/>
                  <a:gd name="connsiteX125" fmla="*/ 1527684 w 6358155"/>
                  <a:gd name="connsiteY125" fmla="*/ 4134092 h 4713182"/>
                  <a:gd name="connsiteX126" fmla="*/ 1491551 w 6358155"/>
                  <a:gd name="connsiteY126" fmla="*/ 4069914 h 4713182"/>
                  <a:gd name="connsiteX127" fmla="*/ 1475492 w 6358155"/>
                  <a:gd name="connsiteY127" fmla="*/ 4029802 h 4713182"/>
                  <a:gd name="connsiteX128" fmla="*/ 1467463 w 6358155"/>
                  <a:gd name="connsiteY128" fmla="*/ 4013758 h 4713182"/>
                  <a:gd name="connsiteX129" fmla="*/ 1122195 w 6358155"/>
                  <a:gd name="connsiteY129" fmla="*/ 3536431 h 4713182"/>
                  <a:gd name="connsiteX130" fmla="*/ 1041901 w 6358155"/>
                  <a:gd name="connsiteY130" fmla="*/ 3512365 h 4713182"/>
                  <a:gd name="connsiteX131" fmla="*/ 1001753 w 6358155"/>
                  <a:gd name="connsiteY131" fmla="*/ 3504342 h 4713182"/>
                  <a:gd name="connsiteX132" fmla="*/ 993724 w 6358155"/>
                  <a:gd name="connsiteY132" fmla="*/ 3500331 h 4713182"/>
                  <a:gd name="connsiteX133" fmla="*/ 792987 w 6358155"/>
                  <a:gd name="connsiteY133" fmla="*/ 3484287 h 4713182"/>
                  <a:gd name="connsiteX134" fmla="*/ 764883 w 6358155"/>
                  <a:gd name="connsiteY134" fmla="*/ 3484287 h 4713182"/>
                  <a:gd name="connsiteX135" fmla="*/ 712692 w 6358155"/>
                  <a:gd name="connsiteY135" fmla="*/ 3480275 h 4713182"/>
                  <a:gd name="connsiteX136" fmla="*/ 584220 w 6358155"/>
                  <a:gd name="connsiteY136" fmla="*/ 3472253 h 4713182"/>
                  <a:gd name="connsiteX137" fmla="*/ 387498 w 6358155"/>
                  <a:gd name="connsiteY137" fmla="*/ 3424119 h 4713182"/>
                  <a:gd name="connsiteX138" fmla="*/ 363410 w 6358155"/>
                  <a:gd name="connsiteY138" fmla="*/ 3412086 h 4713182"/>
                  <a:gd name="connsiteX139" fmla="*/ 315233 w 6358155"/>
                  <a:gd name="connsiteY139" fmla="*/ 3384008 h 4713182"/>
                  <a:gd name="connsiteX140" fmla="*/ 238953 w 6358155"/>
                  <a:gd name="connsiteY140" fmla="*/ 3323841 h 4713182"/>
                  <a:gd name="connsiteX141" fmla="*/ 202820 w 6358155"/>
                  <a:gd name="connsiteY141" fmla="*/ 3287740 h 4713182"/>
                  <a:gd name="connsiteX142" fmla="*/ 182747 w 6358155"/>
                  <a:gd name="connsiteY142" fmla="*/ 3271696 h 4713182"/>
                  <a:gd name="connsiteX143" fmla="*/ 150629 w 6358155"/>
                  <a:gd name="connsiteY143" fmla="*/ 3231584 h 4713182"/>
                  <a:gd name="connsiteX144" fmla="*/ 122526 w 6358155"/>
                  <a:gd name="connsiteY144" fmla="*/ 3191473 h 4713182"/>
                  <a:gd name="connsiteX145" fmla="*/ 90408 w 6358155"/>
                  <a:gd name="connsiteY145" fmla="*/ 3143339 h 4713182"/>
                  <a:gd name="connsiteX146" fmla="*/ 78364 w 6358155"/>
                  <a:gd name="connsiteY146" fmla="*/ 3115261 h 4713182"/>
                  <a:gd name="connsiteX147" fmla="*/ 58290 w 6358155"/>
                  <a:gd name="connsiteY147" fmla="*/ 3075150 h 4713182"/>
                  <a:gd name="connsiteX148" fmla="*/ 10113 w 6358155"/>
                  <a:gd name="connsiteY148" fmla="*/ 2698102 h 4713182"/>
                  <a:gd name="connsiteX149" fmla="*/ 22157 w 6358155"/>
                  <a:gd name="connsiteY149" fmla="*/ 2657991 h 4713182"/>
                  <a:gd name="connsiteX150" fmla="*/ 22157 w 6358155"/>
                  <a:gd name="connsiteY150" fmla="*/ 2645957 h 4713182"/>
                  <a:gd name="connsiteX151" fmla="*/ 34202 w 6358155"/>
                  <a:gd name="connsiteY151" fmla="*/ 2617879 h 4713182"/>
                  <a:gd name="connsiteX152" fmla="*/ 38216 w 6358155"/>
                  <a:gd name="connsiteY152" fmla="*/ 2605846 h 4713182"/>
                  <a:gd name="connsiteX153" fmla="*/ 46246 w 6358155"/>
                  <a:gd name="connsiteY153" fmla="*/ 2577768 h 4713182"/>
                  <a:gd name="connsiteX154" fmla="*/ 54275 w 6358155"/>
                  <a:gd name="connsiteY154" fmla="*/ 2565734 h 4713182"/>
                  <a:gd name="connsiteX155" fmla="*/ 66319 w 6358155"/>
                  <a:gd name="connsiteY155" fmla="*/ 2537656 h 4713182"/>
                  <a:gd name="connsiteX156" fmla="*/ 70334 w 6358155"/>
                  <a:gd name="connsiteY156" fmla="*/ 2525623 h 4713182"/>
                  <a:gd name="connsiteX157" fmla="*/ 90408 w 6358155"/>
                  <a:gd name="connsiteY157" fmla="*/ 2489523 h 4713182"/>
                  <a:gd name="connsiteX158" fmla="*/ 94423 w 6358155"/>
                  <a:gd name="connsiteY158" fmla="*/ 2481500 h 4713182"/>
                  <a:gd name="connsiteX159" fmla="*/ 110482 w 6358155"/>
                  <a:gd name="connsiteY159" fmla="*/ 2457434 h 4713182"/>
                  <a:gd name="connsiteX160" fmla="*/ 122526 w 6358155"/>
                  <a:gd name="connsiteY160" fmla="*/ 2441389 h 4713182"/>
                  <a:gd name="connsiteX161" fmla="*/ 134570 w 6358155"/>
                  <a:gd name="connsiteY161" fmla="*/ 2421333 h 4713182"/>
                  <a:gd name="connsiteX162" fmla="*/ 146614 w 6358155"/>
                  <a:gd name="connsiteY162" fmla="*/ 2409300 h 4713182"/>
                  <a:gd name="connsiteX163" fmla="*/ 162673 w 6358155"/>
                  <a:gd name="connsiteY163" fmla="*/ 2389244 h 4713182"/>
                  <a:gd name="connsiteX164" fmla="*/ 174717 w 6358155"/>
                  <a:gd name="connsiteY164" fmla="*/ 2377211 h 4713182"/>
                  <a:gd name="connsiteX165" fmla="*/ 194791 w 6358155"/>
                  <a:gd name="connsiteY165" fmla="*/ 2353144 h 4713182"/>
                  <a:gd name="connsiteX166" fmla="*/ 210850 w 6358155"/>
                  <a:gd name="connsiteY166" fmla="*/ 2337099 h 4713182"/>
                  <a:gd name="connsiteX167" fmla="*/ 230924 w 6358155"/>
                  <a:gd name="connsiteY167" fmla="*/ 2317043 h 4713182"/>
                  <a:gd name="connsiteX168" fmla="*/ 242968 w 6358155"/>
                  <a:gd name="connsiteY168" fmla="*/ 2305010 h 4713182"/>
                  <a:gd name="connsiteX169" fmla="*/ 259027 w 6358155"/>
                  <a:gd name="connsiteY169" fmla="*/ 2292977 h 4713182"/>
                  <a:gd name="connsiteX170" fmla="*/ 275086 w 6358155"/>
                  <a:gd name="connsiteY170" fmla="*/ 2280943 h 4713182"/>
                  <a:gd name="connsiteX171" fmla="*/ 295159 w 6358155"/>
                  <a:gd name="connsiteY171" fmla="*/ 2264899 h 4713182"/>
                  <a:gd name="connsiteX172" fmla="*/ 311218 w 6358155"/>
                  <a:gd name="connsiteY172" fmla="*/ 2252865 h 4713182"/>
                  <a:gd name="connsiteX173" fmla="*/ 327277 w 6358155"/>
                  <a:gd name="connsiteY173" fmla="*/ 2240832 h 4713182"/>
                  <a:gd name="connsiteX174" fmla="*/ 463778 w 6358155"/>
                  <a:gd name="connsiteY174" fmla="*/ 2172642 h 4713182"/>
                  <a:gd name="connsiteX175" fmla="*/ 644441 w 6358155"/>
                  <a:gd name="connsiteY175" fmla="*/ 2108464 h 4713182"/>
                  <a:gd name="connsiteX176" fmla="*/ 648456 w 6358155"/>
                  <a:gd name="connsiteY176" fmla="*/ 1574982 h 4713182"/>
                  <a:gd name="connsiteX177" fmla="*/ 712692 w 6358155"/>
                  <a:gd name="connsiteY177" fmla="*/ 1266124 h 4713182"/>
                  <a:gd name="connsiteX178" fmla="*/ 1539728 w 6358155"/>
                  <a:gd name="connsiteY178" fmla="*/ 692530 h 4713182"/>
                  <a:gd name="connsiteX179" fmla="*/ 1848862 w 6358155"/>
                  <a:gd name="connsiteY179" fmla="*/ 34702 h 4713182"/>
                  <a:gd name="connsiteX180" fmla="*/ 2060201 w 6358155"/>
                  <a:gd name="connsiteY180" fmla="*/ 2300 h 471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6358155" h="4713182">
                    <a:moveTo>
                      <a:pt x="3286679" y="4338823"/>
                    </a:moveTo>
                    <a:cubicBezTo>
                      <a:pt x="3319418" y="4339828"/>
                      <a:pt x="3351780" y="4342339"/>
                      <a:pt x="3382888" y="4346358"/>
                    </a:cubicBezTo>
                    <a:cubicBezTo>
                      <a:pt x="3515347" y="4370468"/>
                      <a:pt x="3619709" y="4418688"/>
                      <a:pt x="3712029" y="4470927"/>
                    </a:cubicBezTo>
                    <a:cubicBezTo>
                      <a:pt x="3740127" y="4487000"/>
                      <a:pt x="3772238" y="4507092"/>
                      <a:pt x="3796322" y="4523165"/>
                    </a:cubicBezTo>
                    <a:cubicBezTo>
                      <a:pt x="3816391" y="4539239"/>
                      <a:pt x="3840475" y="4555312"/>
                      <a:pt x="3832447" y="4571386"/>
                    </a:cubicBezTo>
                    <a:cubicBezTo>
                      <a:pt x="3824419" y="4587459"/>
                      <a:pt x="3800336" y="4587459"/>
                      <a:pt x="3776252" y="4579423"/>
                    </a:cubicBezTo>
                    <a:cubicBezTo>
                      <a:pt x="3655835" y="4547276"/>
                      <a:pt x="3559500" y="4499055"/>
                      <a:pt x="3419013" y="4491019"/>
                    </a:cubicBezTo>
                    <a:cubicBezTo>
                      <a:pt x="3302609" y="4482982"/>
                      <a:pt x="3186206" y="4495037"/>
                      <a:pt x="3073816" y="4515129"/>
                    </a:cubicBezTo>
                    <a:cubicBezTo>
                      <a:pt x="3005579" y="4527184"/>
                      <a:pt x="2901217" y="4527184"/>
                      <a:pt x="2865092" y="4487000"/>
                    </a:cubicBezTo>
                    <a:cubicBezTo>
                      <a:pt x="2853050" y="4470927"/>
                      <a:pt x="2857064" y="4454853"/>
                      <a:pt x="2873120" y="4438780"/>
                    </a:cubicBezTo>
                    <a:cubicBezTo>
                      <a:pt x="2873120" y="4434762"/>
                      <a:pt x="2877134" y="4434762"/>
                      <a:pt x="2881148" y="4430743"/>
                    </a:cubicBezTo>
                    <a:cubicBezTo>
                      <a:pt x="2909245" y="4406633"/>
                      <a:pt x="2953398" y="4386541"/>
                      <a:pt x="3005579" y="4370468"/>
                    </a:cubicBezTo>
                    <a:cubicBezTo>
                      <a:pt x="3086861" y="4346357"/>
                      <a:pt x="3188464" y="4335809"/>
                      <a:pt x="3286679" y="4338823"/>
                    </a:cubicBezTo>
                    <a:close/>
                    <a:moveTo>
                      <a:pt x="764958" y="3572297"/>
                    </a:moveTo>
                    <a:cubicBezTo>
                      <a:pt x="873267" y="3576310"/>
                      <a:pt x="985587" y="3616438"/>
                      <a:pt x="1085873" y="3664593"/>
                    </a:cubicBezTo>
                    <a:cubicBezTo>
                      <a:pt x="1121975" y="3680644"/>
                      <a:pt x="1158078" y="3696695"/>
                      <a:pt x="1190170" y="3712747"/>
                    </a:cubicBezTo>
                    <a:cubicBezTo>
                      <a:pt x="1214238" y="3724785"/>
                      <a:pt x="1246330" y="3740837"/>
                      <a:pt x="1254352" y="3760901"/>
                    </a:cubicBezTo>
                    <a:cubicBezTo>
                      <a:pt x="1262375" y="3780965"/>
                      <a:pt x="1250341" y="3784978"/>
                      <a:pt x="1226272" y="3780965"/>
                    </a:cubicBezTo>
                    <a:cubicBezTo>
                      <a:pt x="1121975" y="3760901"/>
                      <a:pt x="1017678" y="3720772"/>
                      <a:pt x="917393" y="3728798"/>
                    </a:cubicBezTo>
                    <a:cubicBezTo>
                      <a:pt x="837164" y="3740837"/>
                      <a:pt x="772981" y="3776952"/>
                      <a:pt x="716821" y="3813068"/>
                    </a:cubicBezTo>
                    <a:cubicBezTo>
                      <a:pt x="684730" y="3837145"/>
                      <a:pt x="616535" y="3857209"/>
                      <a:pt x="560375" y="3813068"/>
                    </a:cubicBezTo>
                    <a:cubicBezTo>
                      <a:pt x="540318" y="3797017"/>
                      <a:pt x="524273" y="3776952"/>
                      <a:pt x="520261" y="3756888"/>
                    </a:cubicBezTo>
                    <a:cubicBezTo>
                      <a:pt x="520261" y="3752875"/>
                      <a:pt x="520261" y="3748862"/>
                      <a:pt x="520261" y="3748862"/>
                    </a:cubicBezTo>
                    <a:cubicBezTo>
                      <a:pt x="516250" y="3712747"/>
                      <a:pt x="524273" y="3680644"/>
                      <a:pt x="544330" y="3656567"/>
                    </a:cubicBezTo>
                    <a:cubicBezTo>
                      <a:pt x="588455" y="3600387"/>
                      <a:pt x="672695" y="3568284"/>
                      <a:pt x="764958" y="3572297"/>
                    </a:cubicBezTo>
                    <a:close/>
                    <a:moveTo>
                      <a:pt x="6122731" y="2175574"/>
                    </a:moveTo>
                    <a:cubicBezTo>
                      <a:pt x="6130869" y="2174131"/>
                      <a:pt x="6139383" y="2174131"/>
                      <a:pt x="6148398" y="2176138"/>
                    </a:cubicBezTo>
                    <a:cubicBezTo>
                      <a:pt x="6176443" y="2184168"/>
                      <a:pt x="6180450" y="2208256"/>
                      <a:pt x="6164424" y="2232344"/>
                    </a:cubicBezTo>
                    <a:cubicBezTo>
                      <a:pt x="6100319" y="2348769"/>
                      <a:pt x="6008168" y="2445121"/>
                      <a:pt x="5988136" y="2581620"/>
                    </a:cubicBezTo>
                    <a:cubicBezTo>
                      <a:pt x="5976116" y="2698046"/>
                      <a:pt x="6004162" y="2814471"/>
                      <a:pt x="6040221" y="2922867"/>
                    </a:cubicBezTo>
                    <a:cubicBezTo>
                      <a:pt x="6064260" y="2991116"/>
                      <a:pt x="6068267" y="3095498"/>
                      <a:pt x="5988136" y="3127615"/>
                    </a:cubicBezTo>
                    <a:cubicBezTo>
                      <a:pt x="5960090" y="3139659"/>
                      <a:pt x="5924031" y="3135645"/>
                      <a:pt x="5891979" y="3123601"/>
                    </a:cubicBezTo>
                    <a:cubicBezTo>
                      <a:pt x="5887972" y="3119586"/>
                      <a:pt x="5883965" y="3119586"/>
                      <a:pt x="5879959" y="3115571"/>
                    </a:cubicBezTo>
                    <a:cubicBezTo>
                      <a:pt x="5827874" y="3087468"/>
                      <a:pt x="5787808" y="3043307"/>
                      <a:pt x="5755756" y="2995131"/>
                    </a:cubicBezTo>
                    <a:cubicBezTo>
                      <a:pt x="5691651" y="2886735"/>
                      <a:pt x="5675625" y="2742207"/>
                      <a:pt x="5711684" y="2625781"/>
                    </a:cubicBezTo>
                    <a:cubicBezTo>
                      <a:pt x="5751749" y="2493297"/>
                      <a:pt x="5847907" y="2388916"/>
                      <a:pt x="5948070" y="2296579"/>
                    </a:cubicBezTo>
                    <a:cubicBezTo>
                      <a:pt x="5984129" y="2268476"/>
                      <a:pt x="6020188" y="2240373"/>
                      <a:pt x="6056247" y="2212270"/>
                    </a:cubicBezTo>
                    <a:cubicBezTo>
                      <a:pt x="6077282" y="2197215"/>
                      <a:pt x="6098316" y="2179902"/>
                      <a:pt x="6122731" y="2175574"/>
                    </a:cubicBezTo>
                    <a:close/>
                    <a:moveTo>
                      <a:pt x="1266937" y="171788"/>
                    </a:moveTo>
                    <a:cubicBezTo>
                      <a:pt x="1287801" y="172540"/>
                      <a:pt x="1308102" y="182320"/>
                      <a:pt x="1326146" y="194357"/>
                    </a:cubicBezTo>
                    <a:cubicBezTo>
                      <a:pt x="1330156" y="198369"/>
                      <a:pt x="1334166" y="198369"/>
                      <a:pt x="1338176" y="202381"/>
                    </a:cubicBezTo>
                    <a:cubicBezTo>
                      <a:pt x="1374265" y="238491"/>
                      <a:pt x="1402334" y="282625"/>
                      <a:pt x="1418374" y="330771"/>
                    </a:cubicBezTo>
                    <a:cubicBezTo>
                      <a:pt x="1454463" y="435088"/>
                      <a:pt x="1442433" y="559466"/>
                      <a:pt x="1390305" y="655758"/>
                    </a:cubicBezTo>
                    <a:cubicBezTo>
                      <a:pt x="1334166" y="760075"/>
                      <a:pt x="1229908" y="832295"/>
                      <a:pt x="1125651" y="892477"/>
                    </a:cubicBezTo>
                    <a:cubicBezTo>
                      <a:pt x="1093571" y="912538"/>
                      <a:pt x="1057482" y="928587"/>
                      <a:pt x="1021393" y="944636"/>
                    </a:cubicBezTo>
                    <a:cubicBezTo>
                      <a:pt x="993323" y="956672"/>
                      <a:pt x="965254" y="972721"/>
                      <a:pt x="933175" y="960685"/>
                    </a:cubicBezTo>
                    <a:cubicBezTo>
                      <a:pt x="913125" y="948648"/>
                      <a:pt x="913125" y="928587"/>
                      <a:pt x="929165" y="908526"/>
                    </a:cubicBezTo>
                    <a:cubicBezTo>
                      <a:pt x="1005353" y="820258"/>
                      <a:pt x="1105601" y="756063"/>
                      <a:pt x="1145700" y="639710"/>
                    </a:cubicBezTo>
                    <a:cubicBezTo>
                      <a:pt x="1177779" y="543417"/>
                      <a:pt x="1173769" y="439100"/>
                      <a:pt x="1161740" y="338795"/>
                    </a:cubicBezTo>
                    <a:cubicBezTo>
                      <a:pt x="1157730" y="274600"/>
                      <a:pt x="1169760" y="186332"/>
                      <a:pt x="1245948" y="174296"/>
                    </a:cubicBezTo>
                    <a:cubicBezTo>
                      <a:pt x="1252965" y="172290"/>
                      <a:pt x="1259983" y="171537"/>
                      <a:pt x="1266937" y="171788"/>
                    </a:cubicBezTo>
                    <a:close/>
                    <a:moveTo>
                      <a:pt x="2060201" y="2300"/>
                    </a:moveTo>
                    <a:cubicBezTo>
                      <a:pt x="2271163" y="23170"/>
                      <a:pt x="2478173" y="181109"/>
                      <a:pt x="2655824" y="271360"/>
                    </a:cubicBezTo>
                    <a:cubicBezTo>
                      <a:pt x="2780281" y="335538"/>
                      <a:pt x="2916782" y="379661"/>
                      <a:pt x="3057298" y="359605"/>
                    </a:cubicBezTo>
                    <a:cubicBezTo>
                      <a:pt x="3221902" y="331527"/>
                      <a:pt x="3318255" y="207181"/>
                      <a:pt x="3466801" y="143003"/>
                    </a:cubicBezTo>
                    <a:cubicBezTo>
                      <a:pt x="3631405" y="74814"/>
                      <a:pt x="3836156" y="94869"/>
                      <a:pt x="3972657" y="215204"/>
                    </a:cubicBezTo>
                    <a:cubicBezTo>
                      <a:pt x="4024849" y="263337"/>
                      <a:pt x="4064996" y="319494"/>
                      <a:pt x="4121203" y="363616"/>
                    </a:cubicBezTo>
                    <a:cubicBezTo>
                      <a:pt x="4261719" y="483950"/>
                      <a:pt x="4494573" y="487962"/>
                      <a:pt x="4635089" y="367627"/>
                    </a:cubicBezTo>
                    <a:cubicBezTo>
                      <a:pt x="4699325" y="315482"/>
                      <a:pt x="4743487" y="239271"/>
                      <a:pt x="4803707" y="175092"/>
                    </a:cubicBezTo>
                    <a:cubicBezTo>
                      <a:pt x="5108827" y="-133766"/>
                      <a:pt x="5642787" y="94869"/>
                      <a:pt x="5911775" y="343560"/>
                    </a:cubicBezTo>
                    <a:cubicBezTo>
                      <a:pt x="6168717" y="580218"/>
                      <a:pt x="6341351" y="925176"/>
                      <a:pt x="6357411" y="1274146"/>
                    </a:cubicBezTo>
                    <a:cubicBezTo>
                      <a:pt x="6361425" y="1382447"/>
                      <a:pt x="6349381" y="1494759"/>
                      <a:pt x="6317263" y="1599049"/>
                    </a:cubicBezTo>
                    <a:cubicBezTo>
                      <a:pt x="6313248" y="1615093"/>
                      <a:pt x="6309233" y="1631138"/>
                      <a:pt x="6305219" y="1647182"/>
                    </a:cubicBezTo>
                    <a:cubicBezTo>
                      <a:pt x="6301204" y="1647182"/>
                      <a:pt x="6301204" y="1651194"/>
                      <a:pt x="6301204" y="1655205"/>
                    </a:cubicBezTo>
                    <a:cubicBezTo>
                      <a:pt x="6297189" y="1667238"/>
                      <a:pt x="6293175" y="1679272"/>
                      <a:pt x="6285145" y="1691305"/>
                    </a:cubicBezTo>
                    <a:cubicBezTo>
                      <a:pt x="6285145" y="1695316"/>
                      <a:pt x="6285145" y="1699327"/>
                      <a:pt x="6281131" y="1703338"/>
                    </a:cubicBezTo>
                    <a:cubicBezTo>
                      <a:pt x="6277115" y="1715372"/>
                      <a:pt x="6273101" y="1727405"/>
                      <a:pt x="6269086" y="1735428"/>
                    </a:cubicBezTo>
                    <a:cubicBezTo>
                      <a:pt x="6265071" y="1739439"/>
                      <a:pt x="6265071" y="1747461"/>
                      <a:pt x="6261057" y="1751472"/>
                    </a:cubicBezTo>
                    <a:cubicBezTo>
                      <a:pt x="6257042" y="1759494"/>
                      <a:pt x="6253027" y="1771528"/>
                      <a:pt x="6244997" y="1779550"/>
                    </a:cubicBezTo>
                    <a:cubicBezTo>
                      <a:pt x="6244997" y="1783561"/>
                      <a:pt x="6240983" y="1791584"/>
                      <a:pt x="6236968" y="1795595"/>
                    </a:cubicBezTo>
                    <a:cubicBezTo>
                      <a:pt x="6232953" y="1803617"/>
                      <a:pt x="6228939" y="1815650"/>
                      <a:pt x="6224924" y="1823673"/>
                    </a:cubicBezTo>
                    <a:cubicBezTo>
                      <a:pt x="6220909" y="1827684"/>
                      <a:pt x="6216895" y="1831695"/>
                      <a:pt x="6212880" y="1839717"/>
                    </a:cubicBezTo>
                    <a:cubicBezTo>
                      <a:pt x="6208865" y="1847740"/>
                      <a:pt x="6200835" y="1855762"/>
                      <a:pt x="6196821" y="1863784"/>
                    </a:cubicBezTo>
                    <a:cubicBezTo>
                      <a:pt x="6192806" y="1867795"/>
                      <a:pt x="6188791" y="1875818"/>
                      <a:pt x="6188791" y="1879829"/>
                    </a:cubicBezTo>
                    <a:cubicBezTo>
                      <a:pt x="6180762" y="1887851"/>
                      <a:pt x="6172733" y="1895873"/>
                      <a:pt x="6168717" y="1907907"/>
                    </a:cubicBezTo>
                    <a:cubicBezTo>
                      <a:pt x="6164703" y="1911918"/>
                      <a:pt x="6160688" y="1915929"/>
                      <a:pt x="6156673" y="1919940"/>
                    </a:cubicBezTo>
                    <a:cubicBezTo>
                      <a:pt x="6148644" y="1931974"/>
                      <a:pt x="6136600" y="1944007"/>
                      <a:pt x="6128571" y="1956041"/>
                    </a:cubicBezTo>
                    <a:cubicBezTo>
                      <a:pt x="6100467" y="1984118"/>
                      <a:pt x="6076379" y="2008185"/>
                      <a:pt x="6048275" y="2036263"/>
                    </a:cubicBezTo>
                    <a:cubicBezTo>
                      <a:pt x="6040246" y="2044286"/>
                      <a:pt x="6028202" y="2052308"/>
                      <a:pt x="6020173" y="2060330"/>
                    </a:cubicBezTo>
                    <a:cubicBezTo>
                      <a:pt x="6008129" y="2068353"/>
                      <a:pt x="6000099" y="2076375"/>
                      <a:pt x="5988055" y="2084397"/>
                    </a:cubicBezTo>
                    <a:cubicBezTo>
                      <a:pt x="5935863" y="2128520"/>
                      <a:pt x="5883671" y="2168631"/>
                      <a:pt x="5831480" y="2212754"/>
                    </a:cubicBezTo>
                    <a:cubicBezTo>
                      <a:pt x="5811406" y="2228798"/>
                      <a:pt x="5791333" y="2248854"/>
                      <a:pt x="5771259" y="2264899"/>
                    </a:cubicBezTo>
                    <a:cubicBezTo>
                      <a:pt x="5682935" y="2349133"/>
                      <a:pt x="5626729" y="2437378"/>
                      <a:pt x="5598625" y="2517601"/>
                    </a:cubicBezTo>
                    <a:cubicBezTo>
                      <a:pt x="5594611" y="2533645"/>
                      <a:pt x="5590596" y="2545679"/>
                      <a:pt x="5586581" y="2561723"/>
                    </a:cubicBezTo>
                    <a:cubicBezTo>
                      <a:pt x="5586581" y="2569746"/>
                      <a:pt x="5582567" y="2573757"/>
                      <a:pt x="5582567" y="2581779"/>
                    </a:cubicBezTo>
                    <a:cubicBezTo>
                      <a:pt x="5578551" y="2597824"/>
                      <a:pt x="5578551" y="2609857"/>
                      <a:pt x="5578551" y="2621890"/>
                    </a:cubicBezTo>
                    <a:cubicBezTo>
                      <a:pt x="5578551" y="2629913"/>
                      <a:pt x="5574537" y="2637935"/>
                      <a:pt x="5574537" y="2645957"/>
                    </a:cubicBezTo>
                    <a:cubicBezTo>
                      <a:pt x="5574537" y="2649968"/>
                      <a:pt x="5574537" y="2657991"/>
                      <a:pt x="5574537" y="2666013"/>
                    </a:cubicBezTo>
                    <a:cubicBezTo>
                      <a:pt x="5574537" y="2674035"/>
                      <a:pt x="5574537" y="2678047"/>
                      <a:pt x="5574537" y="2686069"/>
                    </a:cubicBezTo>
                    <a:cubicBezTo>
                      <a:pt x="5574537" y="2694091"/>
                      <a:pt x="5578551" y="2698102"/>
                      <a:pt x="5578551" y="2706125"/>
                    </a:cubicBezTo>
                    <a:cubicBezTo>
                      <a:pt x="5578551" y="2722169"/>
                      <a:pt x="5578551" y="2734203"/>
                      <a:pt x="5582567" y="2750247"/>
                    </a:cubicBezTo>
                    <a:cubicBezTo>
                      <a:pt x="5582567" y="2754258"/>
                      <a:pt x="5586581" y="2762281"/>
                      <a:pt x="5586581" y="2770303"/>
                    </a:cubicBezTo>
                    <a:cubicBezTo>
                      <a:pt x="5590596" y="2782336"/>
                      <a:pt x="5590596" y="2798381"/>
                      <a:pt x="5594611" y="2810414"/>
                    </a:cubicBezTo>
                    <a:cubicBezTo>
                      <a:pt x="5598625" y="2818437"/>
                      <a:pt x="5598625" y="2826459"/>
                      <a:pt x="5602640" y="2830470"/>
                    </a:cubicBezTo>
                    <a:cubicBezTo>
                      <a:pt x="5618699" y="2894648"/>
                      <a:pt x="5646802" y="2954815"/>
                      <a:pt x="5678920" y="3018994"/>
                    </a:cubicBezTo>
                    <a:cubicBezTo>
                      <a:pt x="5690964" y="3047072"/>
                      <a:pt x="5707023" y="3075150"/>
                      <a:pt x="5723082" y="3099217"/>
                    </a:cubicBezTo>
                    <a:cubicBezTo>
                      <a:pt x="5747171" y="3151362"/>
                      <a:pt x="5775273" y="3199495"/>
                      <a:pt x="5803377" y="3247629"/>
                    </a:cubicBezTo>
                    <a:cubicBezTo>
                      <a:pt x="5811406" y="3259662"/>
                      <a:pt x="5819435" y="3275707"/>
                      <a:pt x="5827465" y="3287740"/>
                    </a:cubicBezTo>
                    <a:cubicBezTo>
                      <a:pt x="5835495" y="3303785"/>
                      <a:pt x="5843524" y="3315818"/>
                      <a:pt x="5851553" y="3331863"/>
                    </a:cubicBezTo>
                    <a:cubicBezTo>
                      <a:pt x="5859583" y="3343897"/>
                      <a:pt x="5867613" y="3359941"/>
                      <a:pt x="5875642" y="3371975"/>
                    </a:cubicBezTo>
                    <a:cubicBezTo>
                      <a:pt x="5883671" y="3388019"/>
                      <a:pt x="5891701" y="3400053"/>
                      <a:pt x="5899731" y="3416097"/>
                    </a:cubicBezTo>
                    <a:cubicBezTo>
                      <a:pt x="5931849" y="3480275"/>
                      <a:pt x="5959951" y="3544454"/>
                      <a:pt x="5980025" y="3608632"/>
                    </a:cubicBezTo>
                    <a:cubicBezTo>
                      <a:pt x="6020173" y="3745011"/>
                      <a:pt x="6036231" y="3873368"/>
                      <a:pt x="6024187" y="3981669"/>
                    </a:cubicBezTo>
                    <a:cubicBezTo>
                      <a:pt x="6020173" y="4005735"/>
                      <a:pt x="6016157" y="4029802"/>
                      <a:pt x="6012143" y="4053869"/>
                    </a:cubicBezTo>
                    <a:cubicBezTo>
                      <a:pt x="6004113" y="4089970"/>
                      <a:pt x="5992069" y="4122059"/>
                      <a:pt x="5980025" y="4154148"/>
                    </a:cubicBezTo>
                    <a:cubicBezTo>
                      <a:pt x="5967981" y="4186237"/>
                      <a:pt x="5951922" y="4218326"/>
                      <a:pt x="5935863" y="4246404"/>
                    </a:cubicBezTo>
                    <a:cubicBezTo>
                      <a:pt x="5931849" y="4254426"/>
                      <a:pt x="5923819" y="4266460"/>
                      <a:pt x="5919804" y="4274482"/>
                    </a:cubicBezTo>
                    <a:cubicBezTo>
                      <a:pt x="5907760" y="4294538"/>
                      <a:pt x="5891701" y="4310582"/>
                      <a:pt x="5879657" y="4330638"/>
                    </a:cubicBezTo>
                    <a:cubicBezTo>
                      <a:pt x="5871627" y="4338660"/>
                      <a:pt x="5863598" y="4346683"/>
                      <a:pt x="5855569" y="4354705"/>
                    </a:cubicBezTo>
                    <a:cubicBezTo>
                      <a:pt x="5602640" y="4639496"/>
                      <a:pt x="5108827" y="4747797"/>
                      <a:pt x="4683265" y="4703675"/>
                    </a:cubicBezTo>
                    <a:cubicBezTo>
                      <a:pt x="4647133" y="4699664"/>
                      <a:pt x="4606985" y="4695652"/>
                      <a:pt x="4570853" y="4691641"/>
                    </a:cubicBezTo>
                    <a:cubicBezTo>
                      <a:pt x="4546765" y="4687630"/>
                      <a:pt x="4522676" y="4679608"/>
                      <a:pt x="4502603" y="4675597"/>
                    </a:cubicBezTo>
                    <a:cubicBezTo>
                      <a:pt x="4490558" y="4675597"/>
                      <a:pt x="4478514" y="4671586"/>
                      <a:pt x="4466470" y="4667574"/>
                    </a:cubicBezTo>
                    <a:cubicBezTo>
                      <a:pt x="4442381" y="4663563"/>
                      <a:pt x="4422307" y="4659552"/>
                      <a:pt x="4398219" y="4651530"/>
                    </a:cubicBezTo>
                    <a:cubicBezTo>
                      <a:pt x="4386175" y="4647519"/>
                      <a:pt x="4378145" y="4643507"/>
                      <a:pt x="4366101" y="4639496"/>
                    </a:cubicBezTo>
                    <a:cubicBezTo>
                      <a:pt x="4321939" y="4627463"/>
                      <a:pt x="4281792" y="4611418"/>
                      <a:pt x="4237630" y="4595374"/>
                    </a:cubicBezTo>
                    <a:cubicBezTo>
                      <a:pt x="4209527" y="4587351"/>
                      <a:pt x="4181423" y="4575318"/>
                      <a:pt x="4153321" y="4563285"/>
                    </a:cubicBezTo>
                    <a:cubicBezTo>
                      <a:pt x="4052952" y="4523173"/>
                      <a:pt x="3948569" y="4479051"/>
                      <a:pt x="3848201" y="4434928"/>
                    </a:cubicBezTo>
                    <a:cubicBezTo>
                      <a:pt x="3555125" y="4318605"/>
                      <a:pt x="3250005" y="4222337"/>
                      <a:pt x="2940870" y="4302560"/>
                    </a:cubicBezTo>
                    <a:cubicBezTo>
                      <a:pt x="2900723" y="4314594"/>
                      <a:pt x="2860576" y="4330638"/>
                      <a:pt x="2824443" y="4346683"/>
                    </a:cubicBezTo>
                    <a:cubicBezTo>
                      <a:pt x="2804369" y="4354705"/>
                      <a:pt x="2784296" y="4362727"/>
                      <a:pt x="2768237" y="4370750"/>
                    </a:cubicBezTo>
                    <a:cubicBezTo>
                      <a:pt x="2704001" y="4402839"/>
                      <a:pt x="2647795" y="4434928"/>
                      <a:pt x="2583559" y="4458995"/>
                    </a:cubicBezTo>
                    <a:cubicBezTo>
                      <a:pt x="2551441" y="4475039"/>
                      <a:pt x="2515309" y="4491084"/>
                      <a:pt x="2479176" y="4499106"/>
                    </a:cubicBezTo>
                    <a:cubicBezTo>
                      <a:pt x="2137923" y="4607407"/>
                      <a:pt x="1788641" y="4479051"/>
                      <a:pt x="1583890" y="4218326"/>
                    </a:cubicBezTo>
                    <a:cubicBezTo>
                      <a:pt x="1571846" y="4202282"/>
                      <a:pt x="1563816" y="4190248"/>
                      <a:pt x="1551772" y="4174204"/>
                    </a:cubicBezTo>
                    <a:cubicBezTo>
                      <a:pt x="1543743" y="4162170"/>
                      <a:pt x="1535713" y="4146126"/>
                      <a:pt x="1527684" y="4134092"/>
                    </a:cubicBezTo>
                    <a:cubicBezTo>
                      <a:pt x="1515639" y="4114036"/>
                      <a:pt x="1503595" y="4089970"/>
                      <a:pt x="1491551" y="4069914"/>
                    </a:cubicBezTo>
                    <a:cubicBezTo>
                      <a:pt x="1487536" y="4057880"/>
                      <a:pt x="1479507" y="4041836"/>
                      <a:pt x="1475492" y="4029802"/>
                    </a:cubicBezTo>
                    <a:cubicBezTo>
                      <a:pt x="1471477" y="4025791"/>
                      <a:pt x="1471477" y="4021780"/>
                      <a:pt x="1467463" y="4013758"/>
                    </a:cubicBezTo>
                    <a:cubicBezTo>
                      <a:pt x="1391183" y="3825234"/>
                      <a:pt x="1326947" y="3620665"/>
                      <a:pt x="1122195" y="3536431"/>
                    </a:cubicBezTo>
                    <a:cubicBezTo>
                      <a:pt x="1094092" y="3528409"/>
                      <a:pt x="1070004" y="3516376"/>
                      <a:pt x="1041901" y="3512365"/>
                    </a:cubicBezTo>
                    <a:cubicBezTo>
                      <a:pt x="1029856" y="3508353"/>
                      <a:pt x="1013798" y="3504342"/>
                      <a:pt x="1001753" y="3504342"/>
                    </a:cubicBezTo>
                    <a:cubicBezTo>
                      <a:pt x="997739" y="3500331"/>
                      <a:pt x="993724" y="3500331"/>
                      <a:pt x="993724" y="3500331"/>
                    </a:cubicBezTo>
                    <a:cubicBezTo>
                      <a:pt x="925473" y="3488298"/>
                      <a:pt x="857222" y="3488298"/>
                      <a:pt x="792987" y="3484287"/>
                    </a:cubicBezTo>
                    <a:cubicBezTo>
                      <a:pt x="780942" y="3484287"/>
                      <a:pt x="772913" y="3484287"/>
                      <a:pt x="764883" y="3484287"/>
                    </a:cubicBezTo>
                    <a:cubicBezTo>
                      <a:pt x="748825" y="3484287"/>
                      <a:pt x="732766" y="3484287"/>
                      <a:pt x="712692" y="3480275"/>
                    </a:cubicBezTo>
                    <a:cubicBezTo>
                      <a:pt x="672545" y="3480275"/>
                      <a:pt x="628382" y="3480275"/>
                      <a:pt x="584220" y="3472253"/>
                    </a:cubicBezTo>
                    <a:cubicBezTo>
                      <a:pt x="519985" y="3464231"/>
                      <a:pt x="451734" y="3452197"/>
                      <a:pt x="387498" y="3424119"/>
                    </a:cubicBezTo>
                    <a:cubicBezTo>
                      <a:pt x="379469" y="3420108"/>
                      <a:pt x="371439" y="3416097"/>
                      <a:pt x="363410" y="3412086"/>
                    </a:cubicBezTo>
                    <a:cubicBezTo>
                      <a:pt x="347351" y="3404064"/>
                      <a:pt x="331292" y="3392030"/>
                      <a:pt x="315233" y="3384008"/>
                    </a:cubicBezTo>
                    <a:cubicBezTo>
                      <a:pt x="287130" y="3363952"/>
                      <a:pt x="263042" y="3343897"/>
                      <a:pt x="238953" y="3323841"/>
                    </a:cubicBezTo>
                    <a:cubicBezTo>
                      <a:pt x="222894" y="3311807"/>
                      <a:pt x="210850" y="3299774"/>
                      <a:pt x="202820" y="3287740"/>
                    </a:cubicBezTo>
                    <a:cubicBezTo>
                      <a:pt x="194791" y="3283729"/>
                      <a:pt x="190776" y="3275707"/>
                      <a:pt x="182747" y="3271696"/>
                    </a:cubicBezTo>
                    <a:cubicBezTo>
                      <a:pt x="174717" y="3259662"/>
                      <a:pt x="162673" y="3243618"/>
                      <a:pt x="150629" y="3231584"/>
                    </a:cubicBezTo>
                    <a:cubicBezTo>
                      <a:pt x="142599" y="3219551"/>
                      <a:pt x="130555" y="3207518"/>
                      <a:pt x="122526" y="3191473"/>
                    </a:cubicBezTo>
                    <a:cubicBezTo>
                      <a:pt x="110482" y="3175428"/>
                      <a:pt x="102452" y="3159384"/>
                      <a:pt x="90408" y="3143339"/>
                    </a:cubicBezTo>
                    <a:cubicBezTo>
                      <a:pt x="86393" y="3135317"/>
                      <a:pt x="82378" y="3123284"/>
                      <a:pt x="78364" y="3115261"/>
                    </a:cubicBezTo>
                    <a:cubicBezTo>
                      <a:pt x="70334" y="3103228"/>
                      <a:pt x="62305" y="3087183"/>
                      <a:pt x="58290" y="3075150"/>
                    </a:cubicBezTo>
                    <a:cubicBezTo>
                      <a:pt x="6098" y="2958827"/>
                      <a:pt x="-13975" y="2826459"/>
                      <a:pt x="10113" y="2698102"/>
                    </a:cubicBezTo>
                    <a:cubicBezTo>
                      <a:pt x="14128" y="2686069"/>
                      <a:pt x="18143" y="2670024"/>
                      <a:pt x="22157" y="2657991"/>
                    </a:cubicBezTo>
                    <a:cubicBezTo>
                      <a:pt x="22157" y="2653980"/>
                      <a:pt x="22157" y="2649968"/>
                      <a:pt x="22157" y="2645957"/>
                    </a:cubicBezTo>
                    <a:cubicBezTo>
                      <a:pt x="26172" y="2637935"/>
                      <a:pt x="30187" y="2625902"/>
                      <a:pt x="34202" y="2617879"/>
                    </a:cubicBezTo>
                    <a:cubicBezTo>
                      <a:pt x="34202" y="2613868"/>
                      <a:pt x="34202" y="2609857"/>
                      <a:pt x="38216" y="2605846"/>
                    </a:cubicBezTo>
                    <a:cubicBezTo>
                      <a:pt x="42231" y="2593812"/>
                      <a:pt x="42231" y="2585790"/>
                      <a:pt x="46246" y="2577768"/>
                    </a:cubicBezTo>
                    <a:cubicBezTo>
                      <a:pt x="50261" y="2573757"/>
                      <a:pt x="50261" y="2569746"/>
                      <a:pt x="54275" y="2565734"/>
                    </a:cubicBezTo>
                    <a:cubicBezTo>
                      <a:pt x="58290" y="2553701"/>
                      <a:pt x="62305" y="2545679"/>
                      <a:pt x="66319" y="2537656"/>
                    </a:cubicBezTo>
                    <a:cubicBezTo>
                      <a:pt x="66319" y="2533645"/>
                      <a:pt x="70334" y="2529634"/>
                      <a:pt x="70334" y="2525623"/>
                    </a:cubicBezTo>
                    <a:cubicBezTo>
                      <a:pt x="74349" y="2513590"/>
                      <a:pt x="82378" y="2501556"/>
                      <a:pt x="90408" y="2489523"/>
                    </a:cubicBezTo>
                    <a:cubicBezTo>
                      <a:pt x="90408" y="2485512"/>
                      <a:pt x="94423" y="2485512"/>
                      <a:pt x="94423" y="2481500"/>
                    </a:cubicBezTo>
                    <a:cubicBezTo>
                      <a:pt x="102452" y="2473478"/>
                      <a:pt x="106467" y="2465456"/>
                      <a:pt x="110482" y="2457434"/>
                    </a:cubicBezTo>
                    <a:cubicBezTo>
                      <a:pt x="114496" y="2449411"/>
                      <a:pt x="118511" y="2445400"/>
                      <a:pt x="122526" y="2441389"/>
                    </a:cubicBezTo>
                    <a:cubicBezTo>
                      <a:pt x="126541" y="2433367"/>
                      <a:pt x="130555" y="2429356"/>
                      <a:pt x="134570" y="2421333"/>
                    </a:cubicBezTo>
                    <a:cubicBezTo>
                      <a:pt x="138585" y="2417322"/>
                      <a:pt x="142599" y="2413311"/>
                      <a:pt x="146614" y="2409300"/>
                    </a:cubicBezTo>
                    <a:cubicBezTo>
                      <a:pt x="150629" y="2401278"/>
                      <a:pt x="154644" y="2397266"/>
                      <a:pt x="162673" y="2389244"/>
                    </a:cubicBezTo>
                    <a:cubicBezTo>
                      <a:pt x="166688" y="2385233"/>
                      <a:pt x="170703" y="2381222"/>
                      <a:pt x="174717" y="2377211"/>
                    </a:cubicBezTo>
                    <a:cubicBezTo>
                      <a:pt x="178732" y="2369188"/>
                      <a:pt x="186762" y="2361166"/>
                      <a:pt x="194791" y="2353144"/>
                    </a:cubicBezTo>
                    <a:cubicBezTo>
                      <a:pt x="198806" y="2349133"/>
                      <a:pt x="202820" y="2341110"/>
                      <a:pt x="210850" y="2337099"/>
                    </a:cubicBezTo>
                    <a:cubicBezTo>
                      <a:pt x="214865" y="2329077"/>
                      <a:pt x="222894" y="2325066"/>
                      <a:pt x="230924" y="2317043"/>
                    </a:cubicBezTo>
                    <a:cubicBezTo>
                      <a:pt x="234938" y="2313032"/>
                      <a:pt x="238953" y="2309021"/>
                      <a:pt x="242968" y="2305010"/>
                    </a:cubicBezTo>
                    <a:cubicBezTo>
                      <a:pt x="250997" y="2300999"/>
                      <a:pt x="255012" y="2296988"/>
                      <a:pt x="259027" y="2292977"/>
                    </a:cubicBezTo>
                    <a:cubicBezTo>
                      <a:pt x="267056" y="2288965"/>
                      <a:pt x="271071" y="2284954"/>
                      <a:pt x="275086" y="2280943"/>
                    </a:cubicBezTo>
                    <a:cubicBezTo>
                      <a:pt x="283115" y="2272921"/>
                      <a:pt x="287130" y="2268910"/>
                      <a:pt x="295159" y="2264899"/>
                    </a:cubicBezTo>
                    <a:cubicBezTo>
                      <a:pt x="299174" y="2260887"/>
                      <a:pt x="303189" y="2256876"/>
                      <a:pt x="311218" y="2252865"/>
                    </a:cubicBezTo>
                    <a:cubicBezTo>
                      <a:pt x="315233" y="2248854"/>
                      <a:pt x="323263" y="2244843"/>
                      <a:pt x="327277" y="2240832"/>
                    </a:cubicBezTo>
                    <a:cubicBezTo>
                      <a:pt x="371439" y="2216765"/>
                      <a:pt x="415601" y="2192698"/>
                      <a:pt x="463778" y="2172642"/>
                    </a:cubicBezTo>
                    <a:cubicBezTo>
                      <a:pt x="523999" y="2152587"/>
                      <a:pt x="588235" y="2136542"/>
                      <a:pt x="644441" y="2108464"/>
                    </a:cubicBezTo>
                    <a:cubicBezTo>
                      <a:pt x="873281" y="1980107"/>
                      <a:pt x="672545" y="1755483"/>
                      <a:pt x="648456" y="1574982"/>
                    </a:cubicBezTo>
                    <a:cubicBezTo>
                      <a:pt x="636412" y="1466681"/>
                      <a:pt x="652471" y="1354369"/>
                      <a:pt x="712692" y="1266124"/>
                    </a:cubicBezTo>
                    <a:cubicBezTo>
                      <a:pt x="909414" y="961277"/>
                      <a:pt x="1395197" y="1053533"/>
                      <a:pt x="1539728" y="692530"/>
                    </a:cubicBezTo>
                    <a:cubicBezTo>
                      <a:pt x="1632067" y="455872"/>
                      <a:pt x="1567831" y="155036"/>
                      <a:pt x="1848862" y="34702"/>
                    </a:cubicBezTo>
                    <a:cubicBezTo>
                      <a:pt x="1919120" y="3616"/>
                      <a:pt x="1989880" y="-4657"/>
                      <a:pt x="2060201" y="2300"/>
                    </a:cubicBezTo>
                    <a:close/>
                  </a:path>
                </a:pathLst>
              </a:custGeom>
              <a:gradFill rotWithShape="1">
                <a:gsLst>
                  <a:gs pos="0">
                    <a:srgbClr val="F4CF80"/>
                  </a:gs>
                  <a:gs pos="100000">
                    <a:schemeClr val="accent4">
                      <a:lumMod val="75000"/>
                    </a:schemeClr>
                  </a:gs>
                </a:gsLst>
                <a:lin ang="5400000" scaled="0"/>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思源宋体" panose="02020700000000000000" charset="-122"/>
                  <a:ea typeface="思源宋体" panose="02020700000000000000" charset="-122"/>
                  <a:cs typeface="思源宋体" panose="02020700000000000000" charset="-122"/>
                </a:endParaRPr>
              </a:p>
            </p:txBody>
          </p:sp>
          <p:pic>
            <p:nvPicPr>
              <p:cNvPr id="31" name="图片 30" descr="D:\AAAAA千库网\2.5D\千库网_2.5D书屋欢乐读书学习日常场景_元素编号11941553.png千库网_2.5D书屋欢乐读书学习日常场景_元素编号11941553"/>
              <p:cNvPicPr>
                <a:picLocks noChangeAspect="1"/>
              </p:cNvPicPr>
              <p:nvPr/>
            </p:nvPicPr>
            <p:blipFill>
              <a:blip r:embed="rId1"/>
              <a:srcRect r="12892" b="14695"/>
              <a:stretch>
                <a:fillRect/>
              </a:stretch>
            </p:blipFill>
            <p:spPr>
              <a:xfrm>
                <a:off x="10604" y="325"/>
                <a:ext cx="8721" cy="8542"/>
              </a:xfrm>
              <a:prstGeom prst="rect">
                <a:avLst/>
              </a:prstGeom>
            </p:spPr>
          </p:pic>
        </p:grpSp>
        <p:sp>
          <p:nvSpPr>
            <p:cNvPr id="32" name="椭圆 31"/>
            <p:cNvSpPr/>
            <p:nvPr/>
          </p:nvSpPr>
          <p:spPr>
            <a:xfrm>
              <a:off x="2362" y="9078"/>
              <a:ext cx="1460" cy="5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34" name="椭圆 33"/>
            <p:cNvSpPr/>
            <p:nvPr/>
          </p:nvSpPr>
          <p:spPr>
            <a:xfrm>
              <a:off x="5982" y="7982"/>
              <a:ext cx="1300" cy="5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700000000000000" charset="-122"/>
              </a:endParaRPr>
            </a:p>
          </p:txBody>
        </p:sp>
        <p:sp>
          <p:nvSpPr>
            <p:cNvPr id="40" name="文本框 39"/>
            <p:cNvSpPr txBox="1"/>
            <p:nvPr/>
          </p:nvSpPr>
          <p:spPr>
            <a:xfrm>
              <a:off x="8079" y="4896"/>
              <a:ext cx="8928" cy="1452"/>
            </a:xfrm>
            <a:prstGeom prst="rect">
              <a:avLst/>
            </a:prstGeom>
            <a:noFill/>
          </p:spPr>
          <p:txBody>
            <a:bodyPr wrap="none" rtlCol="0">
              <a:spAutoFit/>
            </a:bodyPr>
            <a:lstStyle/>
            <a:p>
              <a:r>
                <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rPr>
                <a:t>谢谢您的观赏聆听</a:t>
              </a:r>
              <a:endParaRPr lang="zh-CN" altLang="en-US" sz="5400">
                <a:solidFill>
                  <a:schemeClr val="tx1">
                    <a:lumMod val="85000"/>
                    <a:lumOff val="15000"/>
                  </a:schemeClr>
                </a:solidFill>
                <a:latin typeface="思源宋体 Heavy" panose="02020900000000000000" charset="-122"/>
                <a:ea typeface="思源宋体 Heavy" panose="02020900000000000000" charset="-122"/>
                <a:cs typeface="思源宋体" panose="02020700000000000000" charset="-122"/>
              </a:endParaRPr>
            </a:p>
          </p:txBody>
        </p:sp>
        <p:sp>
          <p:nvSpPr>
            <p:cNvPr id="41" name="文本框 40"/>
            <p:cNvSpPr txBox="1"/>
            <p:nvPr/>
          </p:nvSpPr>
          <p:spPr>
            <a:xfrm>
              <a:off x="8099" y="3482"/>
              <a:ext cx="6738" cy="1016"/>
            </a:xfrm>
            <a:prstGeom prst="rect">
              <a:avLst/>
            </a:prstGeom>
            <a:noFill/>
          </p:spPr>
          <p:txBody>
            <a:bodyPr wrap="none" rtlCol="0">
              <a:spAutoFit/>
            </a:bodyPr>
            <a:lstStyle/>
            <a:p>
              <a:pPr algn="l"/>
              <a:r>
                <a:rPr lang="en-US" altLang="zh-CN" sz="3600" b="1">
                  <a:gradFill>
                    <a:gsLst>
                      <a:gs pos="0">
                        <a:srgbClr val="F4CF80"/>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rPr>
                <a:t>THANKS  LISTEN </a:t>
              </a:r>
              <a:endParaRPr lang="zh-CN" altLang="en-US" sz="3600" b="1">
                <a:gradFill>
                  <a:gsLst>
                    <a:gs pos="0">
                      <a:srgbClr val="F4CF80"/>
                    </a:gs>
                    <a:gs pos="100000">
                      <a:schemeClr val="accent4">
                        <a:lumMod val="75000"/>
                      </a:schemeClr>
                    </a:gs>
                  </a:gsLst>
                  <a:lin ang="5400000" scaled="0"/>
                </a:gradFill>
                <a:latin typeface="思源宋体 Heavy" panose="02020900000000000000" charset="-122"/>
                <a:ea typeface="思源宋体 Heavy" panose="02020900000000000000" charset="-122"/>
                <a:cs typeface="思源宋体" panose="02020700000000000000" charset="-122"/>
              </a:endParaRPr>
            </a:p>
          </p:txBody>
        </p:sp>
        <p:sp>
          <p:nvSpPr>
            <p:cNvPr id="43" name="文本框 42"/>
            <p:cNvSpPr txBox="1"/>
            <p:nvPr/>
          </p:nvSpPr>
          <p:spPr>
            <a:xfrm>
              <a:off x="8252" y="7565"/>
              <a:ext cx="2680" cy="562"/>
            </a:xfrm>
            <a:prstGeom prst="roundRect">
              <a:avLst/>
            </a:prstGeom>
            <a:gradFill>
              <a:gsLst>
                <a:gs pos="0">
                  <a:srgbClr val="F1BD59"/>
                </a:gs>
                <a:gs pos="100000">
                  <a:srgbClr val="FFC000"/>
                </a:gs>
              </a:gsLst>
              <a:lin ang="5400000" scaled="0"/>
            </a:gradFill>
            <a:effectLst>
              <a:outerShdw blurRad="50800" dist="38100" dir="2700000" algn="tl" rotWithShape="0">
                <a:prstClr val="black">
                  <a:alpha val="40000"/>
                </a:prstClr>
              </a:outerShdw>
            </a:effectLst>
          </p:spPr>
          <p:txBody>
            <a:bodyPr wrap="square" rtlCol="0">
              <a:spAutoFit/>
            </a:bodyPr>
            <a:lstStyle/>
            <a:p>
              <a:pPr algn="dist"/>
              <a:r>
                <a:rPr lang="zh-CN" altLang="en-US" sz="1500">
                  <a:solidFill>
                    <a:schemeClr val="bg1"/>
                  </a:solidFill>
                  <a:latin typeface="思源宋体 Heavy" panose="02020900000000000000" charset="-122"/>
                  <a:ea typeface="思源宋体 Heavy" panose="02020900000000000000" charset="-122"/>
                  <a:cs typeface="思源宋体" panose="02020700000000000000" charset="-122"/>
                </a:rPr>
                <a:t>汇报人：</a:t>
              </a:r>
              <a:r>
                <a:rPr lang="zh-CN" altLang="en-US" sz="1500">
                  <a:solidFill>
                    <a:schemeClr val="bg1"/>
                  </a:solidFill>
                  <a:latin typeface="思源宋体 Heavy" panose="02020900000000000000" charset="-122"/>
                  <a:ea typeface="思源宋体 Heavy" panose="02020900000000000000" charset="-122"/>
                  <a:cs typeface="思源宋体" panose="02020700000000000000" charset="-122"/>
                </a:rPr>
                <a:t>叶飘飘</a:t>
              </a:r>
              <a:endParaRPr lang="zh-CN" altLang="en-US" sz="1500">
                <a:solidFill>
                  <a:schemeClr val="bg1"/>
                </a:solidFill>
                <a:latin typeface="思源宋体 Heavy" panose="02020900000000000000" charset="-122"/>
                <a:ea typeface="思源宋体 Heavy" panose="02020900000000000000" charset="-122"/>
                <a:cs typeface="思源宋体" panose="02020700000000000000" charset="-122"/>
              </a:endParaRPr>
            </a:p>
          </p:txBody>
        </p:sp>
        <p:sp>
          <p:nvSpPr>
            <p:cNvPr id="44" name="文本框 43"/>
            <p:cNvSpPr txBox="1"/>
            <p:nvPr/>
          </p:nvSpPr>
          <p:spPr>
            <a:xfrm>
              <a:off x="11287" y="7565"/>
              <a:ext cx="2680" cy="597"/>
            </a:xfrm>
            <a:prstGeom prst="roundRect">
              <a:avLst/>
            </a:prstGeom>
            <a:solidFill>
              <a:schemeClr val="bg1"/>
            </a:solidFill>
            <a:ln>
              <a:gradFill>
                <a:gsLst>
                  <a:gs pos="0">
                    <a:srgbClr val="F4CF80"/>
                  </a:gs>
                  <a:gs pos="100000">
                    <a:schemeClr val="accent4">
                      <a:lumMod val="75000"/>
                    </a:schemeClr>
                  </a:gs>
                </a:gsLst>
                <a:lin ang="5400000" scaled="1"/>
              </a:gradFill>
            </a:ln>
            <a:effectLst>
              <a:outerShdw blurRad="50800" dist="38100" dir="2700000" algn="tl" rotWithShape="0">
                <a:prstClr val="black">
                  <a:alpha val="40000"/>
                </a:prstClr>
              </a:outerShdw>
            </a:effectLst>
          </p:spPr>
          <p:txBody>
            <a:bodyPr wrap="square" rtlCol="0">
              <a:spAutoFit/>
            </a:bodyPr>
            <a:lstStyle/>
            <a:p>
              <a:pPr algn="dist"/>
              <a:r>
                <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时间：</a:t>
              </a:r>
              <a:r>
                <a:rPr lang="en-US" altLang="zh-CN"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2025</a:t>
              </a:r>
              <a:r>
                <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年</a:t>
              </a:r>
              <a:r>
                <a:rPr lang="en-US" altLang="zh-CN"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5</a:t>
              </a:r>
              <a:r>
                <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rPr>
                <a:t>月</a:t>
              </a:r>
              <a:endParaRPr lang="zh-CN" altLang="en-US" sz="1500">
                <a:gradFill>
                  <a:gsLst>
                    <a:gs pos="0">
                      <a:schemeClr val="accent4">
                        <a:lumMod val="75000"/>
                      </a:schemeClr>
                    </a:gs>
                    <a:gs pos="100000">
                      <a:srgbClr val="F1BD59"/>
                    </a:gs>
                  </a:gsLst>
                  <a:lin ang="5400000" scaled="0"/>
                </a:gradFill>
                <a:latin typeface="思源宋体 Heavy" panose="02020900000000000000" charset="-122"/>
                <a:ea typeface="思源宋体 Heavy" panose="02020900000000000000" charset="-122"/>
                <a:cs typeface="思源宋体" panose="02020700000000000000" charset="-122"/>
              </a:endParaRPr>
            </a:p>
          </p:txBody>
        </p:sp>
        <p:pic>
          <p:nvPicPr>
            <p:cNvPr id="45" name="图片 44" descr="303b343435303939363bc6f3d2b5c0edc4ee"/>
            <p:cNvPicPr>
              <a:picLocks noChangeAspect="1"/>
            </p:cNvPicPr>
            <p:nvPr/>
          </p:nvPicPr>
          <p:blipFill>
            <a:blip r:embed="rId2"/>
            <a:stretch>
              <a:fillRect/>
            </a:stretch>
          </p:blipFill>
          <p:spPr>
            <a:xfrm>
              <a:off x="8237" y="2133"/>
              <a:ext cx="1069" cy="1069"/>
            </a:xfrm>
            <a:prstGeom prst="rect">
              <a:avLst/>
            </a:prstGeom>
          </p:spPr>
        </p:pic>
        <p:pic>
          <p:nvPicPr>
            <p:cNvPr id="46" name="图片 45" descr="303b343435303939343bc6f3d2b5d7dad6bc"/>
            <p:cNvPicPr>
              <a:picLocks noChangeAspect="1"/>
            </p:cNvPicPr>
            <p:nvPr/>
          </p:nvPicPr>
          <p:blipFill>
            <a:blip r:embed="rId3"/>
            <a:stretch>
              <a:fillRect/>
            </a:stretch>
          </p:blipFill>
          <p:spPr>
            <a:xfrm>
              <a:off x="9306" y="2133"/>
              <a:ext cx="1050" cy="1050"/>
            </a:xfrm>
            <a:prstGeom prst="rect">
              <a:avLst/>
            </a:prstGeom>
          </p:spPr>
        </p:pic>
        <p:pic>
          <p:nvPicPr>
            <p:cNvPr id="47" name="图片 46" descr="303b343435313031303bb9dcc0edc4a3cabd"/>
            <p:cNvPicPr>
              <a:picLocks noChangeAspect="1"/>
            </p:cNvPicPr>
            <p:nvPr/>
          </p:nvPicPr>
          <p:blipFill>
            <a:blip r:embed="rId4"/>
            <a:stretch>
              <a:fillRect/>
            </a:stretch>
          </p:blipFill>
          <p:spPr>
            <a:xfrm>
              <a:off x="10356" y="2133"/>
              <a:ext cx="1050" cy="1050"/>
            </a:xfrm>
            <a:prstGeom prst="rect">
              <a:avLst/>
            </a:prstGeom>
          </p:spPr>
        </p:pic>
      </p:grpSp>
    </p:spTree>
    <p:custDataLst>
      <p:tags r:id="rId5"/>
    </p:custDataLst>
  </p:cSld>
  <p:clrMapOvr>
    <a:masterClrMapping/>
  </p:clrMapOvr>
  <p:transition>
    <p:check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strips(downLeft)">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p="http://schemas.openxmlformats.org/presentationml/2006/main">
  <p:tag name="KSO_WM_DIAGRAM_VIRTUALLY_FRAME" val="{&quot;height&quot;:399.95,&quot;left&quot;:107.7,&quot;top&quot;:78,&quot;width&quot;:787.15}"/>
</p:tagLst>
</file>

<file path=ppt/tags/tag4.xml><?xml version="1.0" encoding="utf-8"?>
<p:tagLst xmlns:p="http://schemas.openxmlformats.org/presentationml/2006/main">
  <p:tag name="KSO_WM_DIAGRAM_VIRTUALLY_FRAME" val="{&quot;height&quot;:399.95,&quot;left&quot;:107.7,&quot;top&quot;:78,&quot;width&quot;:787.15}"/>
</p:tagLst>
</file>

<file path=ppt/tags/tag5.xml><?xml version="1.0" encoding="utf-8"?>
<p:tagLst xmlns:p="http://schemas.openxmlformats.org/presentationml/2006/main">
  <p:tag name="KSO_WM_DIAGRAM_VIRTUALLY_FRAME" val="{&quot;height&quot;:399.95,&quot;left&quot;:107.7,&quot;top&quot;:78,&quot;width&quot;:787.15}"/>
</p:tagLst>
</file>

<file path=ppt/tags/tag6.xml><?xml version="1.0" encoding="utf-8"?>
<p:tagLst xmlns:p="http://schemas.openxmlformats.org/presentationml/2006/main">
  <p:tag name="KSO_WM_DIAGRAM_VIRTUALLY_FRAME" val="{&quot;height&quot;:399.95,&quot;left&quot;:107.7,&quot;top&quot;:78,&quot;width&quot;:787.15}"/>
</p:tagLst>
</file>

<file path=ppt/tags/tag7.xml><?xml version="1.0" encoding="utf-8"?>
<p:tagLst xmlns:p="http://schemas.openxmlformats.org/presentationml/2006/main">
  <p:tag name="KSO_WM_DIAGRAM_VIRTUALLY_FRAME" val="{&quot;height&quot;:399.95,&quot;left&quot;:107.7,&quot;top&quot;:78,&quot;width&quot;:787.15}"/>
</p:tagLst>
</file>

<file path=ppt/tags/tag8.xml><?xml version="1.0" encoding="utf-8"?>
<p:tagLst xmlns:p="http://schemas.openxmlformats.org/presentationml/2006/main">
  <p:tag name="KSO_WM_DIAGRAM_VIRTUALLY_FRAME" val="{&quot;height&quot;:399.95,&quot;left&quot;:107.7,&quot;top&quot;:78,&quot;width&quot;:787.15}"/>
</p:tagLst>
</file>

<file path=ppt/tags/tag9.xml><?xml version="1.0" encoding="utf-8"?>
<p:tagLst xmlns:p="http://schemas.openxmlformats.org/presentationml/2006/main">
  <p:tag name="KSO_WM_DIAGRAM_VIRTUALLY_FRAME" val="{&quot;height&quot;:399.95,&quot;left&quot;:107.7,&quot;top&quot;:78,&quot;width&quot;:787.15}"/>
</p:tagLst>
</file>

<file path=ppt/tags/tag10.xml><?xml version="1.0" encoding="utf-8"?>
<p:tagLst xmlns:p="http://schemas.openxmlformats.org/presentationml/2006/main">
  <p:tag name="KSO_WM_DIAGRAM_VIRTUALLY_FRAME" val="{&quot;height&quot;:399.95,&quot;left&quot;:107.7,&quot;top&quot;:78,&quot;width&quot;:787.15}"/>
</p:tagLst>
</file>

<file path=ppt/tags/tag11.xml><?xml version="1.0" encoding="utf-8"?>
<p:tagLst xmlns:p="http://schemas.openxmlformats.org/presentationml/2006/main">
  <p:tag name="KSO_WM_DIAGRAM_VIRTUALLY_FRAME" val="{&quot;height&quot;:399.95,&quot;left&quot;:107.7,&quot;top&quot;:78,&quot;width&quot;:787.15}"/>
</p:tagLst>
</file>

<file path=ppt/tags/tag12.xml><?xml version="1.0" encoding="utf-8"?>
<p:tagLst xmlns:p="http://schemas.openxmlformats.org/presentationml/2006/main">
  <p:tag name="KSO_WM_DIAGRAM_VIRTUALLY_FRAME" val="{&quot;height&quot;:399.95,&quot;left&quot;:107.7,&quot;top&quot;:78,&quot;width&quot;:787.15}"/>
</p:tagLst>
</file>

<file path=ppt/tags/tag13.xml><?xml version="1.0" encoding="utf-8"?>
<p:tagLst xmlns:p="http://schemas.openxmlformats.org/presentationml/2006/main">
  <p:tag name="KSO_WM_DIAGRAM_VIRTUALLY_FRAME" val="{&quot;height&quot;:399.95,&quot;left&quot;:107.7,&quot;top&quot;:78,&quot;width&quot;:787.15}"/>
</p:tagLst>
</file>

<file path=ppt/tags/tag14.xml><?xml version="1.0" encoding="utf-8"?>
<p:tagLst xmlns:p="http://schemas.openxmlformats.org/presentationml/2006/main">
  <p:tag name="KSO_WM_DIAGRAM_VIRTUALLY_FRAME" val="{&quot;height&quot;:399.95,&quot;left&quot;:107.7,&quot;top&quot;:78,&quot;width&quot;:787.15}"/>
</p:tagLst>
</file>

<file path=ppt/tags/tag15.xml><?xml version="1.0" encoding="utf-8"?>
<p:tagLst xmlns:p="http://schemas.openxmlformats.org/presentationml/2006/main">
  <p:tag name="KSO_WM_DIAGRAM_VIRTUALLY_FRAME" val="{&quot;height&quot;:399.95,&quot;left&quot;:107.7,&quot;top&quot;:78,&quot;width&quot;:787.15}"/>
</p:tagLst>
</file>

<file path=ppt/tags/tag16.xml><?xml version="1.0" encoding="utf-8"?>
<p:tagLst xmlns:p="http://schemas.openxmlformats.org/presentationml/2006/main">
  <p:tag name="KSO_WM_BEAUTIFY_FLAG" val="#wm#"/>
  <p:tag name="KSO_WM_TEMPLATE_CATEGORY" val="custom"/>
  <p:tag name="KSO_WM_TEMPLATE_INDEX" val="20205081"/>
</p:tagLst>
</file>

<file path=ppt/tags/tag17.xml><?xml version="1.0" encoding="utf-8"?>
<p:tagLst xmlns:p="http://schemas.openxmlformats.org/presentationml/2006/main">
  <p:tag name="KSO_WM_BEAUTIFY_FLAG" val="#wm#"/>
  <p:tag name="KSO_WM_TEMPLATE_CATEGORY" val="custom"/>
  <p:tag name="KSO_WM_TEMPLATE_INDEX" val="20205081"/>
</p:tagLst>
</file>

<file path=ppt/tags/tag18.xml><?xml version="1.0" encoding="utf-8"?>
<p:tagLst xmlns:p="http://schemas.openxmlformats.org/presentationml/2006/main">
  <p:tag name="KSO_WM_DIAGRAM_VIRTUALLY_FRAME" val="{&quot;height&quot;:343.25,&quot;left&quot;:99.9,&quot;top&quot;:138.6,&quot;width&quot;:823.5}"/>
</p:tagLst>
</file>

<file path=ppt/tags/tag19.xml><?xml version="1.0" encoding="utf-8"?>
<p:tagLst xmlns:p="http://schemas.openxmlformats.org/presentationml/2006/main">
  <p:tag name="MH" val="20190412141944"/>
  <p:tag name="MH_LIBRARY" val="GRAPHIC"/>
  <p:tag name="MH_TYPE" val="Other"/>
  <p:tag name="MH_ORDER" val="1"/>
</p:tagLst>
</file>

<file path=ppt/tags/tag20.xml><?xml version="1.0" encoding="utf-8"?>
<p:tagLst xmlns:p="http://schemas.openxmlformats.org/presentationml/2006/main">
  <p:tag name="MH" val="20190412141944"/>
  <p:tag name="MH_LIBRARY" val="GRAPHIC"/>
  <p:tag name="MH_TYPE" val="Other"/>
  <p:tag name="MH_ORDER" val="3"/>
</p:tagLst>
</file>

<file path=ppt/tags/tag21.xml><?xml version="1.0" encoding="utf-8"?>
<p:tagLst xmlns:p="http://schemas.openxmlformats.org/presentationml/2006/main">
  <p:tag name="MH" val="20190412141944"/>
  <p:tag name="MH_LIBRARY" val="GRAPHIC"/>
  <p:tag name="MH_TYPE" val="SubTitle"/>
  <p:tag name="MH_ORDER" val="1"/>
</p:tagLst>
</file>

<file path=ppt/tags/tag22.xml><?xml version="1.0" encoding="utf-8"?>
<p:tagLst xmlns:p="http://schemas.openxmlformats.org/presentationml/2006/main">
  <p:tag name="MH" val="20190412141944"/>
  <p:tag name="MH_LIBRARY" val="GRAPHIC"/>
  <p:tag name="MH_TYPE" val="Other"/>
  <p:tag name="MH_ORDER" val="4"/>
</p:tagLst>
</file>

<file path=ppt/tags/tag23.xml><?xml version="1.0" encoding="utf-8"?>
<p:tagLst xmlns:p="http://schemas.openxmlformats.org/presentationml/2006/main">
  <p:tag name="MH" val="20190412141944"/>
  <p:tag name="MH_LIBRARY" val="GRAPHIC"/>
  <p:tag name="MH_TYPE" val="Other"/>
  <p:tag name="MH_ORDER" val="5"/>
</p:tagLst>
</file>

<file path=ppt/tags/tag24.xml><?xml version="1.0" encoding="utf-8"?>
<p:tagLst xmlns:p="http://schemas.openxmlformats.org/presentationml/2006/main">
  <p:tag name="MH" val="20190412141944"/>
  <p:tag name="MH_LIBRARY" val="GRAPHIC"/>
  <p:tag name="MH_TYPE" val="SubTitle"/>
  <p:tag name="MH_ORDER" val="2"/>
</p:tagLst>
</file>

<file path=ppt/tags/tag25.xml><?xml version="1.0" encoding="utf-8"?>
<p:tagLst xmlns:p="http://schemas.openxmlformats.org/presentationml/2006/main">
  <p:tag name="MH" val="20190412141944"/>
  <p:tag name="MH_LIBRARY" val="GRAPHIC"/>
  <p:tag name="MH_TYPE" val="Other"/>
  <p:tag name="MH_ORDER" val="5"/>
</p:tagLst>
</file>

<file path=ppt/tags/tag26.xml><?xml version="1.0" encoding="utf-8"?>
<p:tagLst xmlns:p="http://schemas.openxmlformats.org/presentationml/2006/main">
  <p:tag name="KSO_WM_DIAGRAM_VIRTUALLY_FRAME" val="{&quot;height&quot;:343.25,&quot;left&quot;:99.9,&quot;top&quot;:138.6,&quot;width&quot;:823.5}"/>
</p:tagLst>
</file>

<file path=ppt/tags/tag27.xml><?xml version="1.0" encoding="utf-8"?>
<p:tagLst xmlns:p="http://schemas.openxmlformats.org/presentationml/2006/main">
  <p:tag name="KSO_WM_DIAGRAM_VIRTUALLY_FRAME" val="{&quot;height&quot;:343.25,&quot;left&quot;:99.9,&quot;top&quot;:138.6,&quot;width&quot;:823.5}"/>
</p:tagLst>
</file>

<file path=ppt/tags/tag28.xml><?xml version="1.0" encoding="utf-8"?>
<p:tagLst xmlns:p="http://schemas.openxmlformats.org/presentationml/2006/main">
  <p:tag name="KSO_WM_DIAGRAM_VIRTUALLY_FRAME" val="{&quot;height&quot;:343.25,&quot;left&quot;:99.9,&quot;top&quot;:138.6,&quot;width&quot;:823.5}"/>
</p:tagLst>
</file>

<file path=ppt/tags/tag29.xml><?xml version="1.0" encoding="utf-8"?>
<p:tagLst xmlns:p="http://schemas.openxmlformats.org/presentationml/2006/main">
  <p:tag name="KSO_WM_DIAGRAM_VIRTUALLY_FRAME" val="{&quot;height&quot;:343.25,&quot;left&quot;:99.9,&quot;top&quot;:138.6,&quot;width&quot;:823.5}"/>
</p:tagLst>
</file>

<file path=ppt/tags/tag30.xml><?xml version="1.0" encoding="utf-8"?>
<p:tagLst xmlns:p="http://schemas.openxmlformats.org/presentationml/2006/main">
  <p:tag name="KSO_WM_DIAGRAM_VIRTUALLY_FRAME" val="{&quot;height&quot;:343.25,&quot;left&quot;:99.9,&quot;top&quot;:138.6,&quot;width&quot;:823.5}"/>
</p:tagLst>
</file>

<file path=ppt/tags/tag31.xml><?xml version="1.0" encoding="utf-8"?>
<p:tagLst xmlns:p="http://schemas.openxmlformats.org/presentationml/2006/main">
  <p:tag name="KSO_WM_DIAGRAM_VIRTUALLY_FRAME" val="{&quot;height&quot;:343.25,&quot;left&quot;:99.9,&quot;top&quot;:138.6,&quot;width&quot;:823.5}"/>
</p:tagLst>
</file>

<file path=ppt/tags/tag32.xml><?xml version="1.0" encoding="utf-8"?>
<p:tagLst xmlns:p="http://schemas.openxmlformats.org/presentationml/2006/main">
  <p:tag name="KSO_WM_DIAGRAM_VIRTUALLY_FRAME" val="{&quot;height&quot;:343.25,&quot;left&quot;:99.9,&quot;top&quot;:138.6,&quot;width&quot;:823.5}"/>
</p:tagLst>
</file>

<file path=ppt/tags/tag33.xml><?xml version="1.0" encoding="utf-8"?>
<p:tagLst xmlns:p="http://schemas.openxmlformats.org/presentationml/2006/main">
  <p:tag name="KSO_WM_BEAUTIFY_FLAG" val="#wm#"/>
  <p:tag name="KSO_WM_TEMPLATE_CATEGORY" val="custom"/>
  <p:tag name="KSO_WM_TEMPLATE_INDEX" val="20205081"/>
</p:tagLst>
</file>

<file path=ppt/tags/tag34.xml><?xml version="1.0" encoding="utf-8"?>
<p:tagLst xmlns:p="http://schemas.openxmlformats.org/presentationml/2006/main">
  <p:tag name="KSO_WM_DIAGRAM_VIRTUALLY_FRAME" val="{&quot;height&quot;:617.6,&quot;left&quot;:84.8,&quot;top&quot;:135.85,&quot;width&quot;:810.75}"/>
</p:tagLst>
</file>

<file path=ppt/tags/tag35.xml><?xml version="1.0" encoding="utf-8"?>
<p:tagLst xmlns:p="http://schemas.openxmlformats.org/presentationml/2006/main">
  <p:tag name="KSO_WM_DIAGRAM_VIRTUALLY_FRAME" val="{&quot;height&quot;:617.6,&quot;left&quot;:124.25,&quot;top&quot;:135.85,&quot;width&quot;:722.1}"/>
</p:tagLst>
</file>

<file path=ppt/tags/tag36.xml><?xml version="1.0" encoding="utf-8"?>
<p:tagLst xmlns:p="http://schemas.openxmlformats.org/presentationml/2006/main">
  <p:tag name="KSO_WM_DIAGRAM_VIRTUALLY_FRAME" val="{&quot;height&quot;:617.6,&quot;left&quot;:124.25,&quot;top&quot;:135.85,&quot;width&quot;:722.1}"/>
</p:tagLst>
</file>

<file path=ppt/tags/tag37.xml><?xml version="1.0" encoding="utf-8"?>
<p:tagLst xmlns:p="http://schemas.openxmlformats.org/presentationml/2006/main">
  <p:tag name="KSO_WM_DIAGRAM_VIRTUALLY_FRAME" val="{&quot;height&quot;:617.6,&quot;left&quot;:124.25,&quot;top&quot;:135.85,&quot;width&quot;:722.1}"/>
</p:tagLst>
</file>

<file path=ppt/tags/tag38.xml><?xml version="1.0" encoding="utf-8"?>
<p:tagLst xmlns:p="http://schemas.openxmlformats.org/presentationml/2006/main">
  <p:tag name="KSO_WM_DIAGRAM_VIRTUALLY_FRAME" val="{&quot;height&quot;:617.6,&quot;left&quot;:84.8,&quot;top&quot;:135.85,&quot;width&quot;:810.75}"/>
</p:tagLst>
</file>

<file path=ppt/tags/tag39.xml><?xml version="1.0" encoding="utf-8"?>
<p:tagLst xmlns:p="http://schemas.openxmlformats.org/presentationml/2006/main">
  <p:tag name="KSO_WM_DIAGRAM_VIRTUALLY_FRAME" val="{&quot;height&quot;:617.6,&quot;left&quot;:84.8,&quot;top&quot;:135.85,&quot;width&quot;:810.75}"/>
</p:tagLst>
</file>

<file path=ppt/tags/tag40.xml><?xml version="1.0" encoding="utf-8"?>
<p:tagLst xmlns:p="http://schemas.openxmlformats.org/presentationml/2006/main">
  <p:tag name="KSO_WM_DIAGRAM_VIRTUALLY_FRAME" val="{&quot;height&quot;:617.6,&quot;left&quot;:84.8,&quot;top&quot;:135.85,&quot;width&quot;:810.75}"/>
</p:tagLst>
</file>

<file path=ppt/tags/tag41.xml><?xml version="1.0" encoding="utf-8"?>
<p:tagLst xmlns:p="http://schemas.openxmlformats.org/presentationml/2006/main">
  <p:tag name="KSO_WM_DIAGRAM_VIRTUALLY_FRAME" val="{&quot;height&quot;:617.6,&quot;left&quot;:84.8,&quot;top&quot;:135.85,&quot;width&quot;:810.75}"/>
</p:tagLst>
</file>

<file path=ppt/tags/tag42.xml><?xml version="1.0" encoding="utf-8"?>
<p:tagLst xmlns:p="http://schemas.openxmlformats.org/presentationml/2006/main">
  <p:tag name="KSO_WM_DIAGRAM_VIRTUALLY_FRAME" val="{&quot;height&quot;:617.6,&quot;left&quot;:84.8,&quot;top&quot;:135.85,&quot;width&quot;:810.75}"/>
</p:tagLst>
</file>

<file path=ppt/tags/tag43.xml><?xml version="1.0" encoding="utf-8"?>
<p:tagLst xmlns:p="http://schemas.openxmlformats.org/presentationml/2006/main">
  <p:tag name="KSO_WM_DIAGRAM_VIRTUALLY_FRAME" val="{&quot;height&quot;:617.6,&quot;left&quot;:84.8,&quot;top&quot;:135.85,&quot;width&quot;:810.75}"/>
</p:tagLst>
</file>

<file path=ppt/tags/tag44.xml><?xml version="1.0" encoding="utf-8"?>
<p:tagLst xmlns:p="http://schemas.openxmlformats.org/presentationml/2006/main">
  <p:tag name="KSO_WM_DIAGRAM_VIRTUALLY_FRAME" val="{&quot;height&quot;:617.6,&quot;left&quot;:84.8,&quot;top&quot;:135.85,&quot;width&quot;:810.75}"/>
</p:tagLst>
</file>

<file path=ppt/tags/tag45.xml><?xml version="1.0" encoding="utf-8"?>
<p:tagLst xmlns:p="http://schemas.openxmlformats.org/presentationml/2006/main">
  <p:tag name="KSO_WM_DIAGRAM_VIRTUALLY_FRAME" val="{&quot;height&quot;:617.6,&quot;left&quot;:84.8,&quot;top&quot;:135.85,&quot;width&quot;:810.75}"/>
</p:tagLst>
</file>

<file path=ppt/tags/tag46.xml><?xml version="1.0" encoding="utf-8"?>
<p:tagLst xmlns:p="http://schemas.openxmlformats.org/presentationml/2006/main">
  <p:tag name="KSO_WM_DIAGRAM_VIRTUALLY_FRAME" val="{&quot;height&quot;:617.6,&quot;left&quot;:124.25,&quot;top&quot;:135.85,&quot;width&quot;:722.1}"/>
</p:tagLst>
</file>

<file path=ppt/tags/tag47.xml><?xml version="1.0" encoding="utf-8"?>
<p:tagLst xmlns:p="http://schemas.openxmlformats.org/presentationml/2006/main">
  <p:tag name="KSO_WM_DIAGRAM_VIRTUALLY_FRAME" val="{&quot;height&quot;:617.6,&quot;left&quot;:124.25,&quot;top&quot;:135.85,&quot;width&quot;:722.1}"/>
</p:tagLst>
</file>

<file path=ppt/tags/tag48.xml><?xml version="1.0" encoding="utf-8"?>
<p:tagLst xmlns:p="http://schemas.openxmlformats.org/presentationml/2006/main">
  <p:tag name="KSO_WM_DIAGRAM_VIRTUALLY_FRAME" val="{&quot;height&quot;:617.6,&quot;left&quot;:84.8,&quot;top&quot;:135.85,&quot;width&quot;:810.75}"/>
</p:tagLst>
</file>

<file path=ppt/tags/tag49.xml><?xml version="1.0" encoding="utf-8"?>
<p:tagLst xmlns:p="http://schemas.openxmlformats.org/presentationml/2006/main">
  <p:tag name="KSO_WM_DIAGRAM_VIRTUALLY_FRAME" val="{&quot;height&quot;:617.6,&quot;left&quot;:84.8,&quot;top&quot;:135.85,&quot;width&quot;:810.75}"/>
</p:tagLst>
</file>

<file path=ppt/tags/tag50.xml><?xml version="1.0" encoding="utf-8"?>
<p:tagLst xmlns:p="http://schemas.openxmlformats.org/presentationml/2006/main">
  <p:tag name="KSO_WM_DIAGRAM_VIRTUALLY_FRAME" val="{&quot;height&quot;:617.6,&quot;left&quot;:84.8,&quot;top&quot;:135.85,&quot;width&quot;:810.75}"/>
</p:tagLst>
</file>

<file path=ppt/tags/tag51.xml><?xml version="1.0" encoding="utf-8"?>
<p:tagLst xmlns:p="http://schemas.openxmlformats.org/presentationml/2006/main">
  <p:tag name="KSO_WM_DIAGRAM_VIRTUALLY_FRAME" val="{&quot;height&quot;:617.6,&quot;left&quot;:84.8,&quot;top&quot;:135.85,&quot;width&quot;:810.75}"/>
</p:tagLst>
</file>

<file path=ppt/tags/tag52.xml><?xml version="1.0" encoding="utf-8"?>
<p:tagLst xmlns:p="http://schemas.openxmlformats.org/presentationml/2006/main">
  <p:tag name="KSO_WM_DIAGRAM_VIRTUALLY_FRAME" val="{&quot;height&quot;:617.6,&quot;left&quot;:84.8,&quot;top&quot;:135.85,&quot;width&quot;:810.75}"/>
</p:tagLst>
</file>

<file path=ppt/tags/tag53.xml><?xml version="1.0" encoding="utf-8"?>
<p:tagLst xmlns:p="http://schemas.openxmlformats.org/presentationml/2006/main">
  <p:tag name="KSO_WM_DIAGRAM_VIRTUALLY_FRAME" val="{&quot;height&quot;:617.6,&quot;left&quot;:84.8,&quot;top&quot;:135.85,&quot;width&quot;:810.75}"/>
</p:tagLst>
</file>

<file path=ppt/tags/tag54.xml><?xml version="1.0" encoding="utf-8"?>
<p:tagLst xmlns:p="http://schemas.openxmlformats.org/presentationml/2006/main">
  <p:tag name="KSO_WM_DIAGRAM_VIRTUALLY_FRAME" val="{&quot;height&quot;:617.6,&quot;left&quot;:124.25,&quot;top&quot;:135.85,&quot;width&quot;:722.1}"/>
</p:tagLst>
</file>

<file path=ppt/tags/tag55.xml><?xml version="1.0" encoding="utf-8"?>
<p:tagLst xmlns:p="http://schemas.openxmlformats.org/presentationml/2006/main">
  <p:tag name="KSO_WM_BEAUTIFY_FLAG" val="#wm#"/>
  <p:tag name="KSO_WM_TEMPLATE_CATEGORY" val="custom"/>
  <p:tag name="KSO_WM_TEMPLATE_INDEX" val="20205081"/>
</p:tagLst>
</file>

<file path=ppt/tags/tag56.xml><?xml version="1.0" encoding="utf-8"?>
<p:tagLst xmlns:p="http://schemas.openxmlformats.org/presentationml/2006/main">
  <p:tag name="KSO_WM_DIAGRAM_VIRTUALLY_FRAME" val="{&quot;height&quot;:410.45,&quot;left&quot;:-43.95,&quot;top&quot;:30.45,&quot;width&quot;:934.7}"/>
</p:tagLst>
</file>

<file path=ppt/tags/tag57.xml><?xml version="1.0" encoding="utf-8"?>
<p:tagLst xmlns:p="http://schemas.openxmlformats.org/presentationml/2006/main">
  <p:tag name="KSO_WM_DIAGRAM_VIRTUALLY_FRAME" val="{&quot;height&quot;:410.45,&quot;left&quot;:-43.95,&quot;top&quot;:30.45,&quot;width&quot;:934.7}"/>
</p:tagLst>
</file>

<file path=ppt/tags/tag58.xml><?xml version="1.0" encoding="utf-8"?>
<p:tagLst xmlns:p="http://schemas.openxmlformats.org/presentationml/2006/main">
  <p:tag name="KSO_WM_DIAGRAM_VIRTUALLY_FRAME" val="{&quot;height&quot;:410.45,&quot;left&quot;:-43.95,&quot;top&quot;:30.45,&quot;width&quot;:934.7}"/>
</p:tagLst>
</file>

<file path=ppt/tags/tag59.xml><?xml version="1.0" encoding="utf-8"?>
<p:tagLst xmlns:p="http://schemas.openxmlformats.org/presentationml/2006/main">
  <p:tag name="KSO_WM_DIAGRAM_VIRTUALLY_FRAME" val="{&quot;height&quot;:410.45,&quot;left&quot;:-43.95,&quot;top&quot;:30.45,&quot;width&quot;:934.7}"/>
</p:tagLst>
</file>

<file path=ppt/tags/tag60.xml><?xml version="1.0" encoding="utf-8"?>
<p:tagLst xmlns:p="http://schemas.openxmlformats.org/presentationml/2006/main">
  <p:tag name="KSO_WM_DIAGRAM_VIRTUALLY_FRAME" val="{&quot;height&quot;:410.45,&quot;left&quot;:-43.95,&quot;top&quot;:30.45,&quot;width&quot;:934.7}"/>
</p:tagLst>
</file>

<file path=ppt/tags/tag61.xml><?xml version="1.0" encoding="utf-8"?>
<p:tagLst xmlns:p="http://schemas.openxmlformats.org/presentationml/2006/main">
  <p:tag name="KSO_WM_DIAGRAM_VIRTUALLY_FRAME" val="{&quot;height&quot;:410.45,&quot;left&quot;:-43.95,&quot;top&quot;:30.45,&quot;width&quot;:934.7}"/>
</p:tagLst>
</file>

<file path=ppt/tags/tag62.xml><?xml version="1.0" encoding="utf-8"?>
<p:tagLst xmlns:p="http://schemas.openxmlformats.org/presentationml/2006/main">
  <p:tag name="KSO_WM_DIAGRAM_VIRTUALLY_FRAME" val="{&quot;height&quot;:410.45,&quot;left&quot;:-43.95,&quot;top&quot;:30.45,&quot;width&quot;:934.7}"/>
</p:tagLst>
</file>

<file path=ppt/tags/tag63.xml><?xml version="1.0" encoding="utf-8"?>
<p:tagLst xmlns:p="http://schemas.openxmlformats.org/presentationml/2006/main">
  <p:tag name="KSO_WM_DIAGRAM_VIRTUALLY_FRAME" val="{&quot;height&quot;:410.45,&quot;left&quot;:-43.95,&quot;top&quot;:30.45,&quot;width&quot;:934.7}"/>
</p:tagLst>
</file>

<file path=ppt/tags/tag64.xml><?xml version="1.0" encoding="utf-8"?>
<p:tagLst xmlns:p="http://schemas.openxmlformats.org/presentationml/2006/main">
  <p:tag name="KSO_WM_DIAGRAM_VIRTUALLY_FRAME" val="{&quot;height&quot;:410.45,&quot;left&quot;:-43.95,&quot;top&quot;:30.45,&quot;width&quot;:934.7}"/>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DIAGRAM_VIRTUALLY_FRAME" val="{&quot;height&quot;:339.3,&quot;left&quot;:123.75,&quot;top&quot;:177.6,&quot;width&quot;:758.05}"/>
</p:tagLst>
</file>

<file path=ppt/tags/tag67.xml><?xml version="1.0" encoding="utf-8"?>
<p:tagLst xmlns:p="http://schemas.openxmlformats.org/presentationml/2006/main">
  <p:tag name="KSO_WM_DIAGRAM_VIRTUALLY_FRAME" val="{&quot;height&quot;:339.3,&quot;left&quot;:123.75,&quot;top&quot;:177.6,&quot;width&quot;:758.05}"/>
</p:tagLst>
</file>

<file path=ppt/tags/tag68.xml><?xml version="1.0" encoding="utf-8"?>
<p:tagLst xmlns:p="http://schemas.openxmlformats.org/presentationml/2006/main">
  <p:tag name="KSO_WM_DIAGRAM_VIRTUALLY_FRAME" val="{&quot;height&quot;:339.3,&quot;left&quot;:123.75,&quot;top&quot;:177.6,&quot;width&quot;:758.05}"/>
</p:tagLst>
</file>

<file path=ppt/tags/tag69.xml><?xml version="1.0" encoding="utf-8"?>
<p:tagLst xmlns:p="http://schemas.openxmlformats.org/presentationml/2006/main">
  <p:tag name="KSO_WM_DIAGRAM_VIRTUALLY_FRAME" val="{&quot;height&quot;:339.3,&quot;left&quot;:123.75,&quot;top&quot;:177.6,&quot;width&quot;:758.05}"/>
</p:tagLst>
</file>

<file path=ppt/tags/tag70.xml><?xml version="1.0" encoding="utf-8"?>
<p:tagLst xmlns:p="http://schemas.openxmlformats.org/presentationml/2006/main">
  <p:tag name="KSO_WM_DIAGRAM_VIRTUALLY_FRAME" val="{&quot;height&quot;:339.3,&quot;left&quot;:123.75,&quot;top&quot;:177.6,&quot;width&quot;:758.05}"/>
</p:tagLst>
</file>

<file path=ppt/tags/tag71.xml><?xml version="1.0" encoding="utf-8"?>
<p:tagLst xmlns:p="http://schemas.openxmlformats.org/presentationml/2006/main">
  <p:tag name="KSO_WM_DIAGRAM_VIRTUALLY_FRAME" val="{&quot;height&quot;:339.3,&quot;left&quot;:123.75,&quot;top&quot;:177.6,&quot;width&quot;:758.05}"/>
</p:tagLst>
</file>

<file path=ppt/tags/tag72.xml><?xml version="1.0" encoding="utf-8"?>
<p:tagLst xmlns:p="http://schemas.openxmlformats.org/presentationml/2006/main">
  <p:tag name="KSO_WM_DIAGRAM_VIRTUALLY_FRAME" val="{&quot;height&quot;:339.3,&quot;left&quot;:123.75,&quot;top&quot;:177.6,&quot;width&quot;:758.05}"/>
</p:tagLst>
</file>

<file path=ppt/tags/tag73.xml><?xml version="1.0" encoding="utf-8"?>
<p:tagLst xmlns:p="http://schemas.openxmlformats.org/presentationml/2006/main">
  <p:tag name="KSO_WM_DIAGRAM_VIRTUALLY_FRAME" val="{&quot;height&quot;:339.3,&quot;left&quot;:123.75,&quot;top&quot;:177.6,&quot;width&quot;:758.05}"/>
</p:tagLst>
</file>

<file path=ppt/tags/tag74.xml><?xml version="1.0" encoding="utf-8"?>
<p:tagLst xmlns:p="http://schemas.openxmlformats.org/presentationml/2006/main">
  <p:tag name="KSO_WM_DIAGRAM_VIRTUALLY_FRAME" val="{&quot;height&quot;:339.3,&quot;left&quot;:123.75,&quot;top&quot;:177.6,&quot;width&quot;:758.05}"/>
</p:tagLst>
</file>

<file path=ppt/tags/tag75.xml><?xml version="1.0" encoding="utf-8"?>
<p:tagLst xmlns:p="http://schemas.openxmlformats.org/presentationml/2006/main">
  <p:tag name="KSO_WM_DIAGRAM_VIRTUALLY_FRAME" val="{&quot;height&quot;:339.3,&quot;left&quot;:123.75,&quot;top&quot;:177.6,&quot;width&quot;:758.05}"/>
</p:tagLst>
</file>

<file path=ppt/tags/tag76.xml><?xml version="1.0" encoding="utf-8"?>
<p:tagLst xmlns:p="http://schemas.openxmlformats.org/presentationml/2006/main">
  <p:tag name="KSO_WM_DIAGRAM_VIRTUALLY_FRAME" val="{&quot;height&quot;:339.3,&quot;left&quot;:123.75,&quot;top&quot;:177.6,&quot;width&quot;:758.05}"/>
</p:tagLst>
</file>

<file path=ppt/tags/tag77.xml><?xml version="1.0" encoding="utf-8"?>
<p:tagLst xmlns:p="http://schemas.openxmlformats.org/presentationml/2006/main">
  <p:tag name="KSO_WM_DIAGRAM_VIRTUALLY_FRAME" val="{&quot;height&quot;:339.3,&quot;left&quot;:123.75,&quot;top&quot;:177.6,&quot;width&quot;:758.05}"/>
</p:tagLst>
</file>

<file path=ppt/tags/tag78.xml><?xml version="1.0" encoding="utf-8"?>
<p:tagLst xmlns:p="http://schemas.openxmlformats.org/presentationml/2006/main">
  <p:tag name="KSO_WM_DIAGRAM_VIRTUALLY_FRAME" val="{&quot;height&quot;:339.3,&quot;left&quot;:123.75,&quot;top&quot;:177.6,&quot;width&quot;:758.05}"/>
</p:tagLst>
</file>

<file path=ppt/tags/tag79.xml><?xml version="1.0" encoding="utf-8"?>
<p:tagLst xmlns:p="http://schemas.openxmlformats.org/presentationml/2006/main">
  <p:tag name="KSO_WM_DIAGRAM_VIRTUALLY_FRAME" val="{&quot;height&quot;:339.3,&quot;left&quot;:123.75,&quot;top&quot;:177.6,&quot;width&quot;:758.05}"/>
</p:tagLst>
</file>

<file path=ppt/tags/tag80.xml><?xml version="1.0" encoding="utf-8"?>
<p:tagLst xmlns:p="http://schemas.openxmlformats.org/presentationml/2006/main">
  <p:tag name="KSO_WM_DIAGRAM_VIRTUALLY_FRAME" val="{&quot;height&quot;:339.3,&quot;left&quot;:123.75,&quot;top&quot;:177.6,&quot;width&quot;:758.05}"/>
</p:tagLst>
</file>

<file path=ppt/tags/tag81.xml><?xml version="1.0" encoding="utf-8"?>
<p:tagLst xmlns:p="http://schemas.openxmlformats.org/presentationml/2006/main">
  <p:tag name="KSO_WM_DIAGRAM_VIRTUALLY_FRAME" val="{&quot;height&quot;:339.3,&quot;left&quot;:123.75,&quot;top&quot;:177.6,&quot;width&quot;:758.05}"/>
</p:tagLst>
</file>

<file path=ppt/tags/tag82.xml><?xml version="1.0" encoding="utf-8"?>
<p:tagLst xmlns:p="http://schemas.openxmlformats.org/presentationml/2006/main">
  <p:tag name="KSO_WM_DIAGRAM_VIRTUALLY_FRAME" val="{&quot;height&quot;:339.3,&quot;left&quot;:123.75,&quot;top&quot;:177.6,&quot;width&quot;:758.05}"/>
</p:tagLst>
</file>

<file path=ppt/tags/tag83.xml><?xml version="1.0" encoding="utf-8"?>
<p:tagLst xmlns:p="http://schemas.openxmlformats.org/presentationml/2006/main">
  <p:tag name="KSO_WM_DIAGRAM_VIRTUALLY_FRAME" val="{&quot;height&quot;:339.3,&quot;left&quot;:123.75,&quot;top&quot;:177.6,&quot;width&quot;:758.05}"/>
</p:tagLst>
</file>

<file path=ppt/tags/tag84.xml><?xml version="1.0" encoding="utf-8"?>
<p:tagLst xmlns:p="http://schemas.openxmlformats.org/presentationml/2006/main">
  <p:tag name="KSO_WM_DIAGRAM_VIRTUALLY_FRAME" val="{&quot;height&quot;:339.3,&quot;left&quot;:123.75,&quot;top&quot;:177.6,&quot;width&quot;:758.05}"/>
</p:tagLst>
</file>

<file path=ppt/tags/tag85.xml><?xml version="1.0" encoding="utf-8"?>
<p:tagLst xmlns:p="http://schemas.openxmlformats.org/presentationml/2006/main">
  <p:tag name="KSO_WM_DIAGRAM_VIRTUALLY_FRAME" val="{&quot;height&quot;:339.3,&quot;left&quot;:123.75,&quot;top&quot;:177.6,&quot;width&quot;:758.05}"/>
</p:tagLst>
</file>

<file path=ppt/tags/tag86.xml><?xml version="1.0" encoding="utf-8"?>
<p:tagLst xmlns:p="http://schemas.openxmlformats.org/presentationml/2006/main">
  <p:tag name="KSO_WM_DIAGRAM_VIRTUALLY_FRAME" val="{&quot;height&quot;:339.3,&quot;left&quot;:123.75,&quot;top&quot;:177.6,&quot;width&quot;:758.05}"/>
</p:tagLst>
</file>

<file path=ppt/tags/tag87.xml><?xml version="1.0" encoding="utf-8"?>
<p:tagLst xmlns:p="http://schemas.openxmlformats.org/presentationml/2006/main">
  <p:tag name="KSO_WM_DIAGRAM_VIRTUALLY_FRAME" val="{&quot;height&quot;:339.3,&quot;left&quot;:123.75,&quot;top&quot;:177.6,&quot;width&quot;:758.05}"/>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DIAGRAM_VIRTUALLY_FRAME" val="{&quot;height&quot;:333.2,&quot;left&quot;:105.85,&quot;top&quot;:132.5,&quot;width&quot;:760.6}"/>
</p:tagLst>
</file>

<file path=ppt/tags/tag90.xml><?xml version="1.0" encoding="utf-8"?>
<p:tagLst xmlns:p="http://schemas.openxmlformats.org/presentationml/2006/main">
  <p:tag name="KSO_WM_DIAGRAM_VIRTUALLY_FRAME" val="{&quot;height&quot;:342.9,&quot;left&quot;:105.85,&quot;top&quot;:132.5,&quot;width&quot;:760.6}"/>
</p:tagLst>
</file>

<file path=ppt/tags/tag91.xml><?xml version="1.0" encoding="utf-8"?>
<p:tagLst xmlns:p="http://schemas.openxmlformats.org/presentationml/2006/main">
  <p:tag name="KSO_WM_DIAGRAM_VIRTUALLY_FRAME" val="{&quot;height&quot;:342.9,&quot;left&quot;:105.85,&quot;top&quot;:132.5,&quot;width&quot;:760.6}"/>
</p:tagLst>
</file>

<file path=ppt/tags/tag92.xml><?xml version="1.0" encoding="utf-8"?>
<p:tagLst xmlns:p="http://schemas.openxmlformats.org/presentationml/2006/main">
  <p:tag name="KSO_WM_DIAGRAM_VIRTUALLY_FRAME" val="{&quot;height&quot;:342.9,&quot;left&quot;:105.85,&quot;top&quot;:132.5,&quot;width&quot;:760.6}"/>
</p:tagLst>
</file>

<file path=ppt/tags/tag93.xml><?xml version="1.0" encoding="utf-8"?>
<p:tagLst xmlns:p="http://schemas.openxmlformats.org/presentationml/2006/main">
  <p:tag name="KSO_WM_DIAGRAM_VIRTUALLY_FRAME" val="{&quot;height&quot;:342.9,&quot;left&quot;:105.85,&quot;top&quot;:132.5,&quot;width&quot;:760.6}"/>
</p:tagLst>
</file>

<file path=ppt/tags/tag94.xml><?xml version="1.0" encoding="utf-8"?>
<p:tagLst xmlns:p="http://schemas.openxmlformats.org/presentationml/2006/main">
  <p:tag name="KSO_WM_DIAGRAM_VIRTUALLY_FRAME" val="{&quot;height&quot;:342.9,&quot;left&quot;:105.85,&quot;top&quot;:132.5,&quot;width&quot;:760.6}"/>
</p:tagLst>
</file>

<file path=ppt/tags/tag95.xml><?xml version="1.0" encoding="utf-8"?>
<p:tagLst xmlns:p="http://schemas.openxmlformats.org/presentationml/2006/main">
  <p:tag name="KSO_WM_DIAGRAM_VIRTUALLY_FRAME" val="{&quot;height&quot;:342.9,&quot;left&quot;:105.85,&quot;top&quot;:132.5,&quot;width&quot;:760.6}"/>
</p:tagLst>
</file>

<file path=ppt/tags/tag96.xml><?xml version="1.0" encoding="utf-8"?>
<p:tagLst xmlns:p="http://schemas.openxmlformats.org/presentationml/2006/main">
  <p:tag name="KSO_WM_DIAGRAM_VIRTUALLY_FRAME" val="{&quot;height&quot;:342.9,&quot;left&quot;:105.85,&quot;top&quot;:132.5,&quot;width&quot;:760.6}"/>
</p:tagLst>
</file>

<file path=ppt/tags/tag97.xml><?xml version="1.0" encoding="utf-8"?>
<p:tagLst xmlns:p="http://schemas.openxmlformats.org/presentationml/2006/main">
  <p:tag name="KSO_WM_DIAGRAM_VIRTUALLY_FRAME" val="{&quot;height&quot;:342.9,&quot;left&quot;:105.85,&quot;top&quot;:132.5,&quot;width&quot;:760.6}"/>
</p:tagLst>
</file>

<file path=ppt/tags/tag98.xml><?xml version="1.0" encoding="utf-8"?>
<p:tagLst xmlns:p="http://schemas.openxmlformats.org/presentationml/2006/main">
  <p:tag name="KSO_WM_DIAGRAM_VIRTUALLY_FRAME" val="{&quot;height&quot;:342.9,&quot;left&quot;:105.85,&quot;top&quot;:132.5,&quot;width&quot;:760.6}"/>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DIAGRAM_VIRTUALLY_FRAME" val="{&quot;height&quot;:427.05,&quot;left&quot;:29,&quot;top&quot;:109.05,&quot;width&quot;:852.1}"/>
</p:tagLst>
</file>

<file path=ppt/tags/tag103.xml><?xml version="1.0" encoding="utf-8"?>
<p:tagLst xmlns:p="http://schemas.openxmlformats.org/presentationml/2006/main">
  <p:tag name="KSO_WM_DIAGRAM_VIRTUALLY_FRAME" val="{&quot;height&quot;:427.05,&quot;left&quot;:29,&quot;top&quot;:109.05,&quot;width&quot;:852.1}"/>
</p:tagLst>
</file>

<file path=ppt/tags/tag104.xml><?xml version="1.0" encoding="utf-8"?>
<p:tagLst xmlns:p="http://schemas.openxmlformats.org/presentationml/2006/main">
  <p:tag name="KSO_WM_DIAGRAM_VIRTUALLY_FRAME" val="{&quot;height&quot;:427.05,&quot;left&quot;:29,&quot;top&quot;:109.05,&quot;width&quot;:852.1}"/>
</p:tagLst>
</file>

<file path=ppt/tags/tag105.xml><?xml version="1.0" encoding="utf-8"?>
<p:tagLst xmlns:p="http://schemas.openxmlformats.org/presentationml/2006/main">
  <p:tag name="KSO_WM_DIAGRAM_VIRTUALLY_FRAME" val="{&quot;height&quot;:427.05,&quot;left&quot;:29,&quot;top&quot;:109.05,&quot;width&quot;:852.1}"/>
</p:tagLst>
</file>

<file path=ppt/tags/tag106.xml><?xml version="1.0" encoding="utf-8"?>
<p:tagLst xmlns:p="http://schemas.openxmlformats.org/presentationml/2006/main">
  <p:tag name="KSO_WM_DIAGRAM_VIRTUALLY_FRAME" val="{&quot;height&quot;:427.05,&quot;left&quot;:29,&quot;top&quot;:109.05,&quot;width&quot;:852.1}"/>
</p:tagLst>
</file>

<file path=ppt/tags/tag107.xml><?xml version="1.0" encoding="utf-8"?>
<p:tagLst xmlns:p="http://schemas.openxmlformats.org/presentationml/2006/main">
  <p:tag name="KSO_WM_DIAGRAM_VIRTUALLY_FRAME" val="{&quot;height&quot;:427.05,&quot;left&quot;:29,&quot;top&quot;:109.05,&quot;width&quot;:852.1}"/>
</p:tagLst>
</file>

<file path=ppt/tags/tag108.xml><?xml version="1.0" encoding="utf-8"?>
<p:tagLst xmlns:p="http://schemas.openxmlformats.org/presentationml/2006/main">
  <p:tag name="KSO_WM_DIAGRAM_VIRTUALLY_FRAME" val="{&quot;height&quot;:427.05,&quot;left&quot;:29,&quot;top&quot;:109.05,&quot;width&quot;:852.1}"/>
</p:tagLst>
</file>

<file path=ppt/tags/tag109.xml><?xml version="1.0" encoding="utf-8"?>
<p:tagLst xmlns:p="http://schemas.openxmlformats.org/presentationml/2006/main">
  <p:tag name="KSO_WM_DIAGRAM_VIRTUALLY_FRAME" val="{&quot;height&quot;:427.05,&quot;left&quot;:29,&quot;top&quot;:109.05,&quot;width&quot;:852.1}"/>
</p:tagLst>
</file>

<file path=ppt/tags/tag110.xml><?xml version="1.0" encoding="utf-8"?>
<p:tagLst xmlns:p="http://schemas.openxmlformats.org/presentationml/2006/main">
  <p:tag name="KSO_WM_DIAGRAM_VIRTUALLY_FRAME" val="{&quot;height&quot;:427.05,&quot;left&quot;:29,&quot;top&quot;:109.05,&quot;width&quot;:852.1}"/>
</p:tagLst>
</file>

<file path=ppt/tags/tag111.xml><?xml version="1.0" encoding="utf-8"?>
<p:tagLst xmlns:p="http://schemas.openxmlformats.org/presentationml/2006/main">
  <p:tag name="KSO_WM_DIAGRAM_VIRTUALLY_FRAME" val="{&quot;height&quot;:427.05,&quot;left&quot;:29,&quot;top&quot;:109.05,&quot;width&quot;:852.1}"/>
</p:tagLst>
</file>

<file path=ppt/tags/tag112.xml><?xml version="1.0" encoding="utf-8"?>
<p:tagLst xmlns:p="http://schemas.openxmlformats.org/presentationml/2006/main">
  <p:tag name="KSO_WM_DIAGRAM_VIRTUALLY_FRAME" val="{&quot;height&quot;:427.05,&quot;left&quot;:29,&quot;top&quot;:109.05,&quot;width&quot;:852.1}"/>
</p:tagLst>
</file>

<file path=ppt/tags/tag113.xml><?xml version="1.0" encoding="utf-8"?>
<p:tagLst xmlns:p="http://schemas.openxmlformats.org/presentationml/2006/main">
  <p:tag name="KSO_WM_DIAGRAM_VIRTUALLY_FRAME" val="{&quot;height&quot;:427.05,&quot;left&quot;:29,&quot;top&quot;:109.05,&quot;width&quot;:852.1}"/>
</p:tagLst>
</file>

<file path=ppt/tags/tag114.xml><?xml version="1.0" encoding="utf-8"?>
<p:tagLst xmlns:p="http://schemas.openxmlformats.org/presentationml/2006/main">
  <p:tag name="KSO_WM_DIAGRAM_VIRTUALLY_FRAME" val="{&quot;height&quot;:427.05,&quot;left&quot;:29,&quot;top&quot;:109.05,&quot;width&quot;:852.1}"/>
</p:tagLst>
</file>

<file path=ppt/tags/tag115.xml><?xml version="1.0" encoding="utf-8"?>
<p:tagLst xmlns:p="http://schemas.openxmlformats.org/presentationml/2006/main">
  <p:tag name="KSO_WM_DIAGRAM_VIRTUALLY_FRAME" val="{&quot;height&quot;:427.05,&quot;left&quot;:29,&quot;top&quot;:109.05,&quot;width&quot;:852.1}"/>
</p:tagLst>
</file>

<file path=ppt/tags/tag116.xml><?xml version="1.0" encoding="utf-8"?>
<p:tagLst xmlns:p="http://schemas.openxmlformats.org/presentationml/2006/main">
  <p:tag name="KSO_WM_DIAGRAM_VIRTUALLY_FRAME" val="{&quot;height&quot;:427.05,&quot;left&quot;:29,&quot;top&quot;:109.05,&quot;width&quot;:852.1}"/>
</p:tagLst>
</file>

<file path=ppt/tags/tag117.xml><?xml version="1.0" encoding="utf-8"?>
<p:tagLst xmlns:p="http://schemas.openxmlformats.org/presentationml/2006/main">
  <p:tag name="KSO_WM_DIAGRAM_VIRTUALLY_FRAME" val="{&quot;height&quot;:427.05,&quot;left&quot;:29,&quot;top&quot;:109.05,&quot;width&quot;:852.1}"/>
</p:tagLst>
</file>

<file path=ppt/tags/tag118.xml><?xml version="1.0" encoding="utf-8"?>
<p:tagLst xmlns:p="http://schemas.openxmlformats.org/presentationml/2006/main">
  <p:tag name="KSO_WM_DIAGRAM_VIRTUALLY_FRAME" val="{&quot;height&quot;:427.05,&quot;left&quot;:29,&quot;top&quot;:109.05,&quot;width&quot;:852.1}"/>
</p:tagLst>
</file>

<file path=ppt/tags/tag119.xml><?xml version="1.0" encoding="utf-8"?>
<p:tagLst xmlns:p="http://schemas.openxmlformats.org/presentationml/2006/main">
  <p:tag name="KSO_WM_DIAGRAM_VIRTUALLY_FRAME" val="{&quot;height&quot;:427.05,&quot;left&quot;:29,&quot;top&quot;:109.05,&quot;width&quot;:852.1}"/>
</p:tagLst>
</file>

<file path=ppt/tags/tag120.xml><?xml version="1.0" encoding="utf-8"?>
<p:tagLst xmlns:p="http://schemas.openxmlformats.org/presentationml/2006/main">
  <p:tag name="KSO_WM_DIAGRAM_VIRTUALLY_FRAME" val="{&quot;height&quot;:427.05,&quot;left&quot;:29,&quot;top&quot;:109.05,&quot;width&quot;:852.1}"/>
</p:tagLst>
</file>

<file path=ppt/tags/tag121.xml><?xml version="1.0" encoding="utf-8"?>
<p:tagLst xmlns:p="http://schemas.openxmlformats.org/presentationml/2006/main">
  <p:tag name="KSO_WM_DIAGRAM_VIRTUALLY_FRAME" val="{&quot;height&quot;:427.05,&quot;left&quot;:29,&quot;top&quot;:109.05,&quot;width&quot;:852.1}"/>
</p:tagLst>
</file>

<file path=ppt/tags/tag122.xml><?xml version="1.0" encoding="utf-8"?>
<p:tagLst xmlns:p="http://schemas.openxmlformats.org/presentationml/2006/main">
  <p:tag name="KSO_WM_DIAGRAM_VIRTUALLY_FRAME" val="{&quot;height&quot;:427.05,&quot;left&quot;:29,&quot;top&quot;:109.05,&quot;width&quot;:852.1}"/>
</p:tagLst>
</file>

<file path=ppt/tags/tag123.xml><?xml version="1.0" encoding="utf-8"?>
<p:tagLst xmlns:p="http://schemas.openxmlformats.org/presentationml/2006/main">
  <p:tag name="KSO_WM_DIAGRAM_VIRTUALLY_FRAME" val="{&quot;height&quot;:427.05,&quot;left&quot;:29,&quot;top&quot;:109.05,&quot;width&quot;:852.1}"/>
</p:tagLst>
</file>

<file path=ppt/tags/tag124.xml><?xml version="1.0" encoding="utf-8"?>
<p:tagLst xmlns:p="http://schemas.openxmlformats.org/presentationml/2006/main">
  <p:tag name="KSO_WM_DIAGRAM_VIRTUALLY_FRAME" val="{&quot;height&quot;:427.05,&quot;left&quot;:29,&quot;top&quot;:109.05,&quot;width&quot;:852.1}"/>
</p:tagLst>
</file>

<file path=ppt/tags/tag125.xml><?xml version="1.0" encoding="utf-8"?>
<p:tagLst xmlns:p="http://schemas.openxmlformats.org/presentationml/2006/main">
  <p:tag name="KSO_WM_DIAGRAM_VIRTUALLY_FRAME" val="{&quot;height&quot;:427.05,&quot;left&quot;:29,&quot;top&quot;:109.05,&quot;width&quot;:852.1}"/>
</p:tagLst>
</file>

<file path=ppt/tags/tag126.xml><?xml version="1.0" encoding="utf-8"?>
<p:tagLst xmlns:p="http://schemas.openxmlformats.org/presentationml/2006/main">
  <p:tag name="KSO_WM_DIAGRAM_VIRTUALLY_FRAME" val="{&quot;height&quot;:427.05,&quot;left&quot;:29,&quot;top&quot;:109.05,&quot;width&quot;:852.1}"/>
</p:tagLst>
</file>

<file path=ppt/tags/tag127.xml><?xml version="1.0" encoding="utf-8"?>
<p:tagLst xmlns:p="http://schemas.openxmlformats.org/presentationml/2006/main">
  <p:tag name="KSO_WM_BEAUTIFY_FLAG" val="#wm#"/>
  <p:tag name="KSO_WM_TEMPLATE_CATEGORY" val="custom"/>
  <p:tag name="KSO_WM_TEMPLATE_INDEX" val="20205081"/>
</p:tagLst>
</file>

<file path=ppt/tags/tag128.xml><?xml version="1.0" encoding="utf-8"?>
<p:tagLst xmlns:p="http://schemas.openxmlformats.org/presentationml/2006/main">
  <p:tag name="KSO_WM_BEAUTIFY_FLAG" val="#wm#"/>
  <p:tag name="KSO_WM_TEMPLATE_CATEGORY" val="custom"/>
  <p:tag name="KSO_WM_TEMPLATE_INDEX" val="20205081"/>
</p:tagLst>
</file>

<file path=ppt/tags/tag129.xml><?xml version="1.0" encoding="utf-8"?>
<p:tagLst xmlns:p="http://schemas.openxmlformats.org/presentationml/2006/main">
  <p:tag name="KSO_WM_DIAGRAM_VIRTUALLY_FRAME" val="{&quot;height&quot;:311.65,&quot;left&quot;:70.5,&quot;top&quot;:160.55,&quot;width&quot;:794.4}"/>
</p:tagLst>
</file>

<file path=ppt/tags/tag130.xml><?xml version="1.0" encoding="utf-8"?>
<p:tagLst xmlns:p="http://schemas.openxmlformats.org/presentationml/2006/main">
  <p:tag name="KSO_WM_DIAGRAM_VIRTUALLY_FRAME" val="{&quot;height&quot;:311.65,&quot;left&quot;:70.5,&quot;top&quot;:160.55,&quot;width&quot;:794.4}"/>
</p:tagLst>
</file>

<file path=ppt/tags/tag131.xml><?xml version="1.0" encoding="utf-8"?>
<p:tagLst xmlns:p="http://schemas.openxmlformats.org/presentationml/2006/main">
  <p:tag name="KSO_WM_DIAGRAM_VIRTUALLY_FRAME" val="{&quot;height&quot;:311.65,&quot;left&quot;:70.5,&quot;top&quot;:160.55,&quot;width&quot;:794.4}"/>
</p:tagLst>
</file>

<file path=ppt/tags/tag132.xml><?xml version="1.0" encoding="utf-8"?>
<p:tagLst xmlns:p="http://schemas.openxmlformats.org/presentationml/2006/main">
  <p:tag name="KSO_WM_DIAGRAM_VIRTUALLY_FRAME" val="{&quot;height&quot;:311.65,&quot;left&quot;:70.5,&quot;top&quot;:160.55,&quot;width&quot;:794.4}"/>
</p:tagLst>
</file>

<file path=ppt/tags/tag133.xml><?xml version="1.0" encoding="utf-8"?>
<p:tagLst xmlns:p="http://schemas.openxmlformats.org/presentationml/2006/main">
  <p:tag name="KSO_WM_DIAGRAM_VIRTUALLY_FRAME" val="{&quot;height&quot;:311.65,&quot;left&quot;:70.5,&quot;top&quot;:160.55,&quot;width&quot;:794.4}"/>
</p:tagLst>
</file>

<file path=ppt/tags/tag134.xml><?xml version="1.0" encoding="utf-8"?>
<p:tagLst xmlns:p="http://schemas.openxmlformats.org/presentationml/2006/main">
  <p:tag name="KSO_WM_DIAGRAM_VIRTUALLY_FRAME" val="{&quot;height&quot;:311.65,&quot;left&quot;:70.5,&quot;top&quot;:160.55,&quot;width&quot;:794.4}"/>
</p:tagLst>
</file>

<file path=ppt/tags/tag135.xml><?xml version="1.0" encoding="utf-8"?>
<p:tagLst xmlns:p="http://schemas.openxmlformats.org/presentationml/2006/main">
  <p:tag name="KSO_WM_DIAGRAM_VIRTUALLY_FRAME" val="{&quot;height&quot;:311.65,&quot;left&quot;:70.5,&quot;top&quot;:160.55,&quot;width&quot;:794.4}"/>
</p:tagLst>
</file>

<file path=ppt/tags/tag136.xml><?xml version="1.0" encoding="utf-8"?>
<p:tagLst xmlns:p="http://schemas.openxmlformats.org/presentationml/2006/main">
  <p:tag name="KSO_WM_DIAGRAM_VIRTUALLY_FRAME" val="{&quot;height&quot;:311.65,&quot;left&quot;:70.5,&quot;top&quot;:160.55,&quot;width&quot;:794.4}"/>
</p:tagLst>
</file>

<file path=ppt/tags/tag137.xml><?xml version="1.0" encoding="utf-8"?>
<p:tagLst xmlns:p="http://schemas.openxmlformats.org/presentationml/2006/main">
  <p:tag name="KSO_WM_DIAGRAM_VIRTUALLY_FRAME" val="{&quot;height&quot;:311.65,&quot;left&quot;:70.5,&quot;top&quot;:160.55,&quot;width&quot;:794.4}"/>
</p:tagLst>
</file>

<file path=ppt/tags/tag138.xml><?xml version="1.0" encoding="utf-8"?>
<p:tagLst xmlns:p="http://schemas.openxmlformats.org/presentationml/2006/main">
  <p:tag name="KSO_WM_DIAGRAM_VIRTUALLY_FRAME" val="{&quot;height&quot;:311.65,&quot;left&quot;:70.5,&quot;top&quot;:160.55,&quot;width&quot;:794.4}"/>
</p:tagLst>
</file>

<file path=ppt/tags/tag139.xml><?xml version="1.0" encoding="utf-8"?>
<p:tagLst xmlns:p="http://schemas.openxmlformats.org/presentationml/2006/main">
  <p:tag name="KSO_WM_DIAGRAM_VIRTUALLY_FRAME" val="{&quot;height&quot;:311.65,&quot;left&quot;:70.5,&quot;top&quot;:160.55,&quot;width&quot;:794.4}"/>
</p:tagLst>
</file>

<file path=ppt/tags/tag140.xml><?xml version="1.0" encoding="utf-8"?>
<p:tagLst xmlns:p="http://schemas.openxmlformats.org/presentationml/2006/main">
  <p:tag name="KSO_WM_BEAUTIFY_FLAG" val="#wm#"/>
  <p:tag name="KSO_WM_TEMPLATE_CATEGORY" val="custom"/>
  <p:tag name="KSO_WM_TEMPLATE_INDEX" val="20205081"/>
</p:tagLst>
</file>

<file path=ppt/tags/tag141.xml><?xml version="1.0" encoding="utf-8"?>
<p:tagLst xmlns:p="http://schemas.openxmlformats.org/presentationml/2006/main">
  <p:tag name="KSO_WM_BEAUTIFY_FLAG" val="#wm#"/>
  <p:tag name="KSO_WM_TEMPLATE_CATEGORY" val="custom"/>
  <p:tag name="KSO_WM_TEMPLATE_INDEX" val="20205081"/>
</p:tagLst>
</file>

<file path=ppt/tags/tag142.xml><?xml version="1.0" encoding="utf-8"?>
<p:tagLst xmlns:p="http://schemas.openxmlformats.org/presentationml/2006/main">
  <p:tag name="KSO_WM_DIAGRAM_VIRTUALLY_FRAME" val="{&quot;height&quot;:454.8,&quot;left&quot;:79.35,&quot;top&quot;:19.45,&quot;width&quot;:801.6}"/>
</p:tagLst>
</file>

<file path=ppt/tags/tag143.xml><?xml version="1.0" encoding="utf-8"?>
<p:tagLst xmlns:p="http://schemas.openxmlformats.org/presentationml/2006/main">
  <p:tag name="KSO_WM_DIAGRAM_VIRTUALLY_FRAME" val="{&quot;height&quot;:454.8,&quot;left&quot;:79.35,&quot;top&quot;:19.45,&quot;width&quot;:801.6}"/>
</p:tagLst>
</file>

<file path=ppt/tags/tag144.xml><?xml version="1.0" encoding="utf-8"?>
<p:tagLst xmlns:p="http://schemas.openxmlformats.org/presentationml/2006/main">
  <p:tag name="KSO_WM_DIAGRAM_VIRTUALLY_FRAME" val="{&quot;height&quot;:454.8,&quot;left&quot;:79.35,&quot;top&quot;:19.45,&quot;width&quot;:801.6}"/>
</p:tagLst>
</file>

<file path=ppt/tags/tag145.xml><?xml version="1.0" encoding="utf-8"?>
<p:tagLst xmlns:p="http://schemas.openxmlformats.org/presentationml/2006/main">
  <p:tag name="KSO_WM_DIAGRAM_VIRTUALLY_FRAME" val="{&quot;height&quot;:454.8,&quot;left&quot;:79.35,&quot;top&quot;:19.45,&quot;width&quot;:801.6}"/>
</p:tagLst>
</file>

<file path=ppt/tags/tag146.xml><?xml version="1.0" encoding="utf-8"?>
<p:tagLst xmlns:p="http://schemas.openxmlformats.org/presentationml/2006/main">
  <p:tag name="KSO_WM_DIAGRAM_VIRTUALLY_FRAME" val="{&quot;height&quot;:454.8,&quot;left&quot;:79.35,&quot;top&quot;:19.45,&quot;width&quot;:801.6}"/>
</p:tagLst>
</file>

<file path=ppt/tags/tag147.xml><?xml version="1.0" encoding="utf-8"?>
<p:tagLst xmlns:p="http://schemas.openxmlformats.org/presentationml/2006/main">
  <p:tag name="KSO_WM_DIAGRAM_VIRTUALLY_FRAME" val="{&quot;height&quot;:454.8,&quot;left&quot;:79.35,&quot;top&quot;:19.45,&quot;width&quot;:801.6}"/>
</p:tagLst>
</file>

<file path=ppt/tags/tag148.xml><?xml version="1.0" encoding="utf-8"?>
<p:tagLst xmlns:p="http://schemas.openxmlformats.org/presentationml/2006/main">
  <p:tag name="KSO_WM_DIAGRAM_VIRTUALLY_FRAME" val="{&quot;height&quot;:454.8,&quot;left&quot;:79.35,&quot;top&quot;:19.45,&quot;width&quot;:801.6}"/>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DIAGRAM_VIRTUALLY_FRAME" val="{&quot;height&quot;:324.3,&quot;left&quot;:95.3,&quot;top&quot;:161.55,&quot;width&quot;:878.1}"/>
</p:tagLst>
</file>

<file path=ppt/tags/tag152.xml><?xml version="1.0" encoding="utf-8"?>
<p:tagLst xmlns:p="http://schemas.openxmlformats.org/presentationml/2006/main">
  <p:tag name="KSO_WM_DIAGRAM_VIRTUALLY_FRAME" val="{&quot;height&quot;:324.3,&quot;left&quot;:86.3,&quot;top&quot;:161.55,&quot;width&quot;:887.1}"/>
</p:tagLst>
</file>

<file path=ppt/tags/tag153.xml><?xml version="1.0" encoding="utf-8"?>
<p:tagLst xmlns:p="http://schemas.openxmlformats.org/presentationml/2006/main">
  <p:tag name="KSO_WM_DIAGRAM_VIRTUALLY_FRAME" val="{&quot;height&quot;:324.3,&quot;left&quot;:86.3,&quot;top&quot;:161.55,&quot;width&quot;:887.1}"/>
</p:tagLst>
</file>

<file path=ppt/tags/tag154.xml><?xml version="1.0" encoding="utf-8"?>
<p:tagLst xmlns:p="http://schemas.openxmlformats.org/presentationml/2006/main">
  <p:tag name="KSO_WM_DIAGRAM_VIRTUALLY_FRAME" val="{&quot;height&quot;:324.3,&quot;left&quot;:86.3,&quot;top&quot;:161.55,&quot;width&quot;:887.1}"/>
</p:tagLst>
</file>

<file path=ppt/tags/tag155.xml><?xml version="1.0" encoding="utf-8"?>
<p:tagLst xmlns:p="http://schemas.openxmlformats.org/presentationml/2006/main">
  <p:tag name="KSO_WM_DIAGRAM_VIRTUALLY_FRAME" val="{&quot;height&quot;:324.3,&quot;left&quot;:86.3,&quot;top&quot;:161.55,&quot;width&quot;:887.1}"/>
</p:tagLst>
</file>

<file path=ppt/tags/tag156.xml><?xml version="1.0" encoding="utf-8"?>
<p:tagLst xmlns:p="http://schemas.openxmlformats.org/presentationml/2006/main">
  <p:tag name="KSO_WM_DIAGRAM_VIRTUALLY_FRAME" val="{&quot;height&quot;:324.3,&quot;left&quot;:86.3,&quot;top&quot;:161.55,&quot;width&quot;:887.1}"/>
</p:tagLst>
</file>

<file path=ppt/tags/tag157.xml><?xml version="1.0" encoding="utf-8"?>
<p:tagLst xmlns:p="http://schemas.openxmlformats.org/presentationml/2006/main">
  <p:tag name="KSO_WM_DIAGRAM_VIRTUALLY_FRAME" val="{&quot;height&quot;:324.3,&quot;left&quot;:86.3,&quot;top&quot;:161.55,&quot;width&quot;:887.1}"/>
</p:tagLst>
</file>

<file path=ppt/tags/tag158.xml><?xml version="1.0" encoding="utf-8"?>
<p:tagLst xmlns:p="http://schemas.openxmlformats.org/presentationml/2006/main">
  <p:tag name="KSO_WM_DIAGRAM_VIRTUALLY_FRAME" val="{&quot;height&quot;:324.3,&quot;left&quot;:86.3,&quot;top&quot;:161.55,&quot;width&quot;:887.1}"/>
</p:tagLst>
</file>

<file path=ppt/tags/tag159.xml><?xml version="1.0" encoding="utf-8"?>
<p:tagLst xmlns:p="http://schemas.openxmlformats.org/presentationml/2006/main">
  <p:tag name="KSO_WM_DIAGRAM_VIRTUALLY_FRAME" val="{&quot;height&quot;:324.3,&quot;left&quot;:86.3,&quot;top&quot;:161.55,&quot;width&quot;:887.1}"/>
</p:tagLst>
</file>

<file path=ppt/tags/tag160.xml><?xml version="1.0" encoding="utf-8"?>
<p:tagLst xmlns:p="http://schemas.openxmlformats.org/presentationml/2006/main">
  <p:tag name="KSO_WM_DIAGRAM_VIRTUALLY_FRAME" val="{&quot;height&quot;:324.3,&quot;left&quot;:86.3,&quot;top&quot;:161.55,&quot;width&quot;:887.1}"/>
</p:tagLst>
</file>

<file path=ppt/tags/tag161.xml><?xml version="1.0" encoding="utf-8"?>
<p:tagLst xmlns:p="http://schemas.openxmlformats.org/presentationml/2006/main">
  <p:tag name="KSO_WM_DIAGRAM_VIRTUALLY_FRAME" val="{&quot;height&quot;:324.3,&quot;left&quot;:86.3,&quot;top&quot;:161.55,&quot;width&quot;:887.1}"/>
</p:tagLst>
</file>

<file path=ppt/tags/tag162.xml><?xml version="1.0" encoding="utf-8"?>
<p:tagLst xmlns:p="http://schemas.openxmlformats.org/presentationml/2006/main">
  <p:tag name="KSO_WM_DIAGRAM_VIRTUALLY_FRAME" val="{&quot;height&quot;:324.3,&quot;left&quot;:86.3,&quot;top&quot;:161.55,&quot;width&quot;:887.1}"/>
</p:tagLst>
</file>

<file path=ppt/tags/tag163.xml><?xml version="1.0" encoding="utf-8"?>
<p:tagLst xmlns:p="http://schemas.openxmlformats.org/presentationml/2006/main">
  <p:tag name="KSO_WM_DIAGRAM_VIRTUALLY_FRAME" val="{&quot;height&quot;:324.3,&quot;left&quot;:86.3,&quot;top&quot;:161.55,&quot;width&quot;:887.1}"/>
</p:tagLst>
</file>

<file path=ppt/tags/tag164.xml><?xml version="1.0" encoding="utf-8"?>
<p:tagLst xmlns:p="http://schemas.openxmlformats.org/presentationml/2006/main">
  <p:tag name="KSO_WM_DIAGRAM_VIRTUALLY_FRAME" val="{&quot;height&quot;:324.3,&quot;left&quot;:86.3,&quot;top&quot;:161.55,&quot;width&quot;:887.1}"/>
</p:tagLst>
</file>

<file path=ppt/tags/tag165.xml><?xml version="1.0" encoding="utf-8"?>
<p:tagLst xmlns:p="http://schemas.openxmlformats.org/presentationml/2006/main">
  <p:tag name="KSO_WM_DIAGRAM_VIRTUALLY_FRAME" val="{&quot;height&quot;:324.3,&quot;left&quot;:86.3,&quot;top&quot;:161.55,&quot;width&quot;:887.1}"/>
</p:tagLst>
</file>

<file path=ppt/tags/tag166.xml><?xml version="1.0" encoding="utf-8"?>
<p:tagLst xmlns:p="http://schemas.openxmlformats.org/presentationml/2006/main">
  <p:tag name="KSO_WM_DIAGRAM_VIRTUALLY_FRAME" val="{&quot;height&quot;:324.3,&quot;left&quot;:86.3,&quot;top&quot;:161.55,&quot;width&quot;:887.1}"/>
</p:tagLst>
</file>

<file path=ppt/tags/tag167.xml><?xml version="1.0" encoding="utf-8"?>
<p:tagLst xmlns:p="http://schemas.openxmlformats.org/presentationml/2006/main">
  <p:tag name="KSO_WM_DIAGRAM_VIRTUALLY_FRAME" val="{&quot;height&quot;:324.3,&quot;left&quot;:86.3,&quot;top&quot;:161.55,&quot;width&quot;:887.1}"/>
</p:tagLst>
</file>

<file path=ppt/tags/tag168.xml><?xml version="1.0" encoding="utf-8"?>
<p:tagLst xmlns:p="http://schemas.openxmlformats.org/presentationml/2006/main">
  <p:tag name="KSO_WM_DIAGRAM_VIRTUALLY_FRAME" val="{&quot;height&quot;:324.3,&quot;left&quot;:86.3,&quot;top&quot;:161.55,&quot;width&quot;:887.1}"/>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KSO_WM_DIAGRAM_VIRTUALLY_FRAME" val="{&quot;height&quot;:352.45,&quot;left&quot;:77.15,&quot;top&quot;:119.5,&quot;width&quot;:866.3}"/>
</p:tagLst>
</file>

<file path=ppt/tags/tag171.xml><?xml version="1.0" encoding="utf-8"?>
<p:tagLst xmlns:p="http://schemas.openxmlformats.org/presentationml/2006/main">
  <p:tag name="KSO_WM_DIAGRAM_VIRTUALLY_FRAME" val="{&quot;height&quot;:352.45,&quot;left&quot;:77.15,&quot;top&quot;:119.5,&quot;width&quot;:866.3}"/>
</p:tagLst>
</file>

<file path=ppt/tags/tag172.xml><?xml version="1.0" encoding="utf-8"?>
<p:tagLst xmlns:p="http://schemas.openxmlformats.org/presentationml/2006/main">
  <p:tag name="KSO_WM_DIAGRAM_VIRTUALLY_FRAME" val="{&quot;height&quot;:352.45,&quot;left&quot;:77.15,&quot;top&quot;:119.5,&quot;width&quot;:866.3}"/>
</p:tagLst>
</file>

<file path=ppt/tags/tag173.xml><?xml version="1.0" encoding="utf-8"?>
<p:tagLst xmlns:p="http://schemas.openxmlformats.org/presentationml/2006/main">
  <p:tag name="KSO_WM_DIAGRAM_VIRTUALLY_FRAME" val="{&quot;height&quot;:352.45,&quot;left&quot;:77.15,&quot;top&quot;:119.5,&quot;width&quot;:866.3}"/>
</p:tagLst>
</file>

<file path=ppt/tags/tag174.xml><?xml version="1.0" encoding="utf-8"?>
<p:tagLst xmlns:p="http://schemas.openxmlformats.org/presentationml/2006/main">
  <p:tag name="KSO_WM_DIAGRAM_VIRTUALLY_FRAME" val="{&quot;height&quot;:352.45,&quot;left&quot;:77.15,&quot;top&quot;:119.5,&quot;width&quot;:866.3}"/>
</p:tagLst>
</file>

<file path=ppt/tags/tag175.xml><?xml version="1.0" encoding="utf-8"?>
<p:tagLst xmlns:p="http://schemas.openxmlformats.org/presentationml/2006/main">
  <p:tag name="KSO_WM_DIAGRAM_VIRTUALLY_FRAME" val="{&quot;height&quot;:352.45,&quot;left&quot;:77.15,&quot;top&quot;:119.5,&quot;width&quot;:866.3}"/>
</p:tagLst>
</file>

<file path=ppt/tags/tag176.xml><?xml version="1.0" encoding="utf-8"?>
<p:tagLst xmlns:p="http://schemas.openxmlformats.org/presentationml/2006/main">
  <p:tag name="KSO_WM_DIAGRAM_VIRTUALLY_FRAME" val="{&quot;height&quot;:352.45,&quot;left&quot;:77.15,&quot;top&quot;:119.5,&quot;width&quot;:866.3}"/>
</p:tagLst>
</file>

<file path=ppt/tags/tag177.xml><?xml version="1.0" encoding="utf-8"?>
<p:tagLst xmlns:p="http://schemas.openxmlformats.org/presentationml/2006/main">
  <p:tag name="KSO_WM_DIAGRAM_VIRTUALLY_FRAME" val="{&quot;height&quot;:352.45,&quot;left&quot;:77.15,&quot;top&quot;:119.5,&quot;width&quot;:866.3}"/>
</p:tagLst>
</file>

<file path=ppt/tags/tag178.xml><?xml version="1.0" encoding="utf-8"?>
<p:tagLst xmlns:p="http://schemas.openxmlformats.org/presentationml/2006/main">
  <p:tag name="KSO_WM_DIAGRAM_VIRTUALLY_FRAME" val="{&quot;height&quot;:352.45,&quot;left&quot;:77.15,&quot;top&quot;:119.5,&quot;width&quot;:866.3}"/>
</p:tagLst>
</file>

<file path=ppt/tags/tag179.xml><?xml version="1.0" encoding="utf-8"?>
<p:tagLst xmlns:p="http://schemas.openxmlformats.org/presentationml/2006/main">
  <p:tag name="KSO_WM_DIAGRAM_VIRTUALLY_FRAME" val="{&quot;height&quot;:352.45,&quot;left&quot;:77.15,&quot;top&quot;:119.5,&quot;width&quot;:866.3}"/>
</p:tagLst>
</file>

<file path=ppt/tags/tag180.xml><?xml version="1.0" encoding="utf-8"?>
<p:tagLst xmlns:p="http://schemas.openxmlformats.org/presentationml/2006/main">
  <p:tag name="KSO_WM_DIAGRAM_VIRTUALLY_FRAME" val="{&quot;height&quot;:352.45,&quot;left&quot;:77.15,&quot;top&quot;:119.5,&quot;width&quot;:866.3}"/>
</p:tagLst>
</file>

<file path=ppt/tags/tag181.xml><?xml version="1.0" encoding="utf-8"?>
<p:tagLst xmlns:p="http://schemas.openxmlformats.org/presentationml/2006/main">
  <p:tag name="KSO_WM_BEAUTIFY_FLAG" val="#wm#"/>
  <p:tag name="KSO_WM_TEMPLATE_CATEGORY" val="custom"/>
  <p:tag name="KSO_WM_TEMPLATE_INDEX" val="20205081"/>
</p:tagLst>
</file>

<file path=ppt/tags/tag182.xml><?xml version="1.0" encoding="utf-8"?>
<p:tagLst xmlns:p="http://schemas.openxmlformats.org/presentationml/2006/main">
  <p:tag name="KSO_WM_BEAUTIFY_FLAG" val="#wm#"/>
  <p:tag name="KSO_WM_TEMPLATE_CATEGORY" val="custom"/>
  <p:tag name="KSO_WM_TEMPLATE_INDEX" val="20205081"/>
</p:tagLst>
</file>

<file path=ppt/tags/tag183.xml><?xml version="1.0" encoding="utf-8"?>
<p:tagLst xmlns:p="http://schemas.openxmlformats.org/presentationml/2006/main">
  <p:tag name="KSO_WM_DIAGRAM_VIRTUALLY_FRAME" val="{&quot;height&quot;:352.05,&quot;left&quot;:85.9,&quot;top&quot;:145.55,&quot;width&quot;:823.6}"/>
</p:tagLst>
</file>

<file path=ppt/tags/tag184.xml><?xml version="1.0" encoding="utf-8"?>
<p:tagLst xmlns:p="http://schemas.openxmlformats.org/presentationml/2006/main">
  <p:tag name="KSO_WM_DIAGRAM_VIRTUALLY_FRAME" val="{&quot;height&quot;:352.05,&quot;left&quot;:85.9,&quot;top&quot;:145.55,&quot;width&quot;:792.1}"/>
</p:tagLst>
</file>

<file path=ppt/tags/tag185.xml><?xml version="1.0" encoding="utf-8"?>
<p:tagLst xmlns:p="http://schemas.openxmlformats.org/presentationml/2006/main">
  <p:tag name="KSO_WM_DIAGRAM_VIRTUALLY_FRAME" val="{&quot;height&quot;:352.05,&quot;left&quot;:85.9,&quot;top&quot;:145.55,&quot;width&quot;:823.6}"/>
</p:tagLst>
</file>

<file path=ppt/tags/tag186.xml><?xml version="1.0" encoding="utf-8"?>
<p:tagLst xmlns:p="http://schemas.openxmlformats.org/presentationml/2006/main">
  <p:tag name="KSO_WM_DIAGRAM_VIRTUALLY_FRAME" val="{&quot;height&quot;:352.05,&quot;left&quot;:85.9,&quot;top&quot;:145.55,&quot;width&quot;:823.6}"/>
</p:tagLst>
</file>

<file path=ppt/tags/tag187.xml><?xml version="1.0" encoding="utf-8"?>
<p:tagLst xmlns:p="http://schemas.openxmlformats.org/presentationml/2006/main">
  <p:tag name="KSO_WM_DIAGRAM_VIRTUALLY_FRAME" val="{&quot;height&quot;:352.05,&quot;left&quot;:85.9,&quot;top&quot;:145.55,&quot;width&quot;:823.6}"/>
</p:tagLst>
</file>

<file path=ppt/tags/tag188.xml><?xml version="1.0" encoding="utf-8"?>
<p:tagLst xmlns:p="http://schemas.openxmlformats.org/presentationml/2006/main">
  <p:tag name="KSO_WM_DIAGRAM_VIRTUALLY_FRAME" val="{&quot;height&quot;:352.05,&quot;left&quot;:85.9,&quot;top&quot;:145.55,&quot;width&quot;:823.6}"/>
</p:tagLst>
</file>

<file path=ppt/tags/tag189.xml><?xml version="1.0" encoding="utf-8"?>
<p:tagLst xmlns:p="http://schemas.openxmlformats.org/presentationml/2006/main">
  <p:tag name="KSO_WM_DIAGRAM_VIRTUALLY_FRAME" val="{&quot;height&quot;:352.05,&quot;left&quot;:85.9,&quot;top&quot;:145.55,&quot;width&quot;:823.6}"/>
</p:tagLst>
</file>

<file path=ppt/tags/tag190.xml><?xml version="1.0" encoding="utf-8"?>
<p:tagLst xmlns:p="http://schemas.openxmlformats.org/presentationml/2006/main">
  <p:tag name="KSO_WM_DIAGRAM_VIRTUALLY_FRAME" val="{&quot;height&quot;:352.05,&quot;left&quot;:85.9,&quot;top&quot;:145.55,&quot;width&quot;:823.6}"/>
</p:tagLst>
</file>

<file path=ppt/tags/tag191.xml><?xml version="1.0" encoding="utf-8"?>
<p:tagLst xmlns:p="http://schemas.openxmlformats.org/presentationml/2006/main">
  <p:tag name="KSO_WM_DIAGRAM_VIRTUALLY_FRAME" val="{&quot;height&quot;:352.05,&quot;left&quot;:85.9,&quot;top&quot;:145.55,&quot;width&quot;:823.6}"/>
</p:tagLst>
</file>

<file path=ppt/tags/tag192.xml><?xml version="1.0" encoding="utf-8"?>
<p:tagLst xmlns:p="http://schemas.openxmlformats.org/presentationml/2006/main">
  <p:tag name="KSO_WM_DIAGRAM_VIRTUALLY_FRAME" val="{&quot;height&quot;:352.05,&quot;left&quot;:85.9,&quot;top&quot;:145.55,&quot;width&quot;:823.6}"/>
</p:tagLst>
</file>

<file path=ppt/tags/tag193.xml><?xml version="1.0" encoding="utf-8"?>
<p:tagLst xmlns:p="http://schemas.openxmlformats.org/presentationml/2006/main">
  <p:tag name="KSO_WM_DIAGRAM_VIRTUALLY_FRAME" val="{&quot;height&quot;:352.05,&quot;left&quot;:85.9,&quot;top&quot;:145.55,&quot;width&quot;:823.6}"/>
</p:tagLst>
</file>

<file path=ppt/tags/tag194.xml><?xml version="1.0" encoding="utf-8"?>
<p:tagLst xmlns:p="http://schemas.openxmlformats.org/presentationml/2006/main">
  <p:tag name="KSO_WM_DIAGRAM_VIRTUALLY_FRAME" val="{&quot;height&quot;:352.05,&quot;left&quot;:85.9,&quot;top&quot;:145.55,&quot;width&quot;:792.1}"/>
</p:tagLst>
</file>

<file path=ppt/tags/tag195.xml><?xml version="1.0" encoding="utf-8"?>
<p:tagLst xmlns:p="http://schemas.openxmlformats.org/presentationml/2006/main">
  <p:tag name="KSO_WM_DIAGRAM_VIRTUALLY_FRAME" val="{&quot;height&quot;:352.05,&quot;left&quot;:85.9,&quot;top&quot;:145.55,&quot;width&quot;:792.1}"/>
</p:tagLst>
</file>

<file path=ppt/tags/tag196.xml><?xml version="1.0" encoding="utf-8"?>
<p:tagLst xmlns:p="http://schemas.openxmlformats.org/presentationml/2006/main">
  <p:tag name="KSO_WM_DIAGRAM_VIRTUALLY_FRAME" val="{&quot;height&quot;:352.05,&quot;left&quot;:85.9,&quot;top&quot;:145.55,&quot;width&quot;:792.1}"/>
</p:tagLst>
</file>

<file path=ppt/tags/tag197.xml><?xml version="1.0" encoding="utf-8"?>
<p:tagLst xmlns:p="http://schemas.openxmlformats.org/presentationml/2006/main">
  <p:tag name="KSO_WM_DIAGRAM_VIRTUALLY_FRAME" val="{&quot;height&quot;:352.05,&quot;left&quot;:85.9,&quot;top&quot;:145.55,&quot;width&quot;:792.1}"/>
</p:tagLst>
</file>

<file path=ppt/tags/tag198.xml><?xml version="1.0" encoding="utf-8"?>
<p:tagLst xmlns:p="http://schemas.openxmlformats.org/presentationml/2006/main">
  <p:tag name="KSO_WM_DIAGRAM_VIRTUALLY_FRAME" val="{&quot;height&quot;:352.05,&quot;left&quot;:85.9,&quot;top&quot;:145.55,&quot;width&quot;:792.1}"/>
</p:tagLst>
</file>

<file path=ppt/tags/tag199.xml><?xml version="1.0" encoding="utf-8"?>
<p:tagLst xmlns:p="http://schemas.openxmlformats.org/presentationml/2006/main">
  <p:tag name="KSO_WM_DIAGRAM_VIRTUALLY_FRAME" val="{&quot;height&quot;:352.05,&quot;left&quot;:85.9,&quot;top&quot;:145.55,&quot;width&quot;:792.1}"/>
</p:tagLst>
</file>

<file path=ppt/tags/tag200.xml><?xml version="1.0" encoding="utf-8"?>
<p:tagLst xmlns:p="http://schemas.openxmlformats.org/presentationml/2006/main">
  <p:tag name="KSO_WM_DIAGRAM_VIRTUALLY_FRAME" val="{&quot;height&quot;:352.05,&quot;left&quot;:85.9,&quot;top&quot;:145.55,&quot;width&quot;:792.1}"/>
</p:tagLst>
</file>

<file path=ppt/tags/tag201.xml><?xml version="1.0" encoding="utf-8"?>
<p:tagLst xmlns:p="http://schemas.openxmlformats.org/presentationml/2006/main">
  <p:tag name="KSO_WM_DIAGRAM_VIRTUALLY_FRAME" val="{&quot;height&quot;:352.05,&quot;left&quot;:85.9,&quot;top&quot;:145.55,&quot;width&quot;:823.6}"/>
</p:tagLst>
</file>

<file path=ppt/tags/tag202.xml><?xml version="1.0" encoding="utf-8"?>
<p:tagLst xmlns:p="http://schemas.openxmlformats.org/presentationml/2006/main">
  <p:tag name="KSO_WM_DIAGRAM_VIRTUALLY_FRAME" val="{&quot;height&quot;:352.05,&quot;left&quot;:85.9,&quot;top&quot;:145.55,&quot;width&quot;:792.1}"/>
</p:tagLst>
</file>

<file path=ppt/tags/tag203.xml><?xml version="1.0" encoding="utf-8"?>
<p:tagLst xmlns:p="http://schemas.openxmlformats.org/presentationml/2006/main">
  <p:tag name="KSO_WM_DIAGRAM_VIRTUALLY_FRAME" val="{&quot;height&quot;:352.05,&quot;left&quot;:85.9,&quot;top&quot;:145.55,&quot;width&quot;:792.1}"/>
</p:tagLst>
</file>

<file path=ppt/tags/tag204.xml><?xml version="1.0" encoding="utf-8"?>
<p:tagLst xmlns:p="http://schemas.openxmlformats.org/presentationml/2006/main">
  <p:tag name="KSO_WM_BEAUTIFY_FLAG" val="#wm#"/>
  <p:tag name="KSO_WM_TEMPLATE_CATEGORY" val="custom"/>
  <p:tag name="KSO_WM_TEMPLATE_INDEX" val="20205081"/>
</p:tagLst>
</file>

<file path=ppt/tags/tag205.xml><?xml version="1.0" encoding="utf-8"?>
<p:tagLst xmlns:p="http://schemas.openxmlformats.org/presentationml/2006/main">
  <p:tag name="KSO_WM_BEAUTIFY_FLAG" val="#wm#"/>
  <p:tag name="KSO_WM_TEMPLATE_CATEGORY" val="custom"/>
  <p:tag name="KSO_WM_TEMPLATE_INDEX" val="20205081"/>
</p:tagLst>
</file>

<file path=ppt/tags/tag206.xml><?xml version="1.0" encoding="utf-8"?>
<p:tagLst xmlns:p="http://schemas.openxmlformats.org/presentationml/2006/main">
  <p:tag name="commondata" val="eyJoZGlkIjoiYjNkNDYxMmIwNmM5NTY2OTdkODYxNGM2OGY2YmI2OGY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思源宋体"/>
        <a:ea typeface="思源宋体"/>
        <a:cs typeface=""/>
      </a:majorFont>
      <a:minorFont>
        <a:latin typeface="思源宋体"/>
        <a:ea typeface="思源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
        <a:cs typeface=""/>
        <a:font script="Jpan" typeface="ＭＳ Ｐゴシック"/>
        <a:font script="Hang" typeface="맑은 고딕"/>
        <a:font script="Hans" typeface="思源宋体"/>
        <a:font script="Hant" typeface="新細明體"/>
        <a:font script="Arab" typeface="思源宋体"/>
        <a:font script="Hebr" typeface="思源宋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宋体"/>
        <a:ea typeface=""/>
        <a:cs typeface=""/>
        <a:font script="Jpan" typeface="ＭＳ Ｐゴシック"/>
        <a:font script="Hang" typeface="맑은 고딕"/>
        <a:font script="Hans" typeface="思源宋体"/>
        <a:font script="Hant" typeface="新細明體"/>
        <a:font script="Arab" typeface="思源宋体"/>
        <a:font script="Hebr" typeface="思源宋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宋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7177</Words>
  <Application>WPS 演示</Application>
  <PresentationFormat>宽屏</PresentationFormat>
  <Paragraphs>466</Paragraphs>
  <Slides>28</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6</vt:i4>
      </vt:variant>
      <vt:variant>
        <vt:lpstr>幻灯片标题</vt:lpstr>
      </vt:variant>
      <vt:variant>
        <vt:i4>28</vt:i4>
      </vt:variant>
    </vt:vector>
  </HeadingPairs>
  <TitlesOfParts>
    <vt:vector size="48" baseType="lpstr">
      <vt:lpstr>Arial</vt:lpstr>
      <vt:lpstr>宋体</vt:lpstr>
      <vt:lpstr>Wingdings</vt:lpstr>
      <vt:lpstr>微软雅黑</vt:lpstr>
      <vt:lpstr>Wingdings</vt:lpstr>
      <vt:lpstr>思源宋体</vt:lpstr>
      <vt:lpstr>思源宋体 Heavy</vt:lpstr>
      <vt:lpstr>Times New Roman</vt:lpstr>
      <vt:lpstr>PingFang-SC-Regular</vt:lpstr>
      <vt:lpstr>DeepSeek-CJK-patch</vt:lpstr>
      <vt:lpstr>ESRI AMFM Electric</vt:lpstr>
      <vt:lpstr>Arial Unicode MS</vt:lpstr>
      <vt:lpstr>思源宋体</vt:lpstr>
      <vt:lpstr>Office 主题​​</vt:lpstr>
      <vt:lpstr>Equation.KSEE3</vt:lpstr>
      <vt:lpstr>Equation.KSEE3</vt:lpstr>
      <vt:lpstr>Equation.KSEE3</vt:lpstr>
      <vt:lpstr>Equation.KSEE3</vt:lpstr>
      <vt:lpstr>Equation.KSEE3</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duan</cp:lastModifiedBy>
  <cp:revision>183</cp:revision>
  <dcterms:created xsi:type="dcterms:W3CDTF">2019-06-19T02:08:00Z</dcterms:created>
  <dcterms:modified xsi:type="dcterms:W3CDTF">2025-04-22T02:16:22Z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1CB05D1532174E9CBFC60E8F58391C8F_13</vt:lpwstr>
  </property>
</Properties>
</file>